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imo Bold" charset="1" panose="020B0704020202020204"/>
      <p:regular r:id="rId23"/>
    </p:embeddedFont>
    <p:embeddedFont>
      <p:font typeface="Arimo" charset="1" panose="020B0604020202020204"/>
      <p:regular r:id="rId24"/>
    </p:embeddedFont>
    <p:embeddedFont>
      <p:font typeface="Arimo Bold Italics" charset="1" panose="020B0704020202090204"/>
      <p:regular r:id="rId26"/>
    </p:embeddedFont>
    <p:embeddedFont>
      <p:font typeface="Arimo Italics" charset="1" panose="020B060402020209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the Olympic Games, years of preparation come down to a single moment. Under pressure. At the limit of physical and mental capacity. With everything at stake. Surgeons live this every day. Except there is no podium. No offseason. No performance system behind them. Just the table, the patient, and everything they have.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not unsolvable problems. They are mostly unaddressed ones.</a:t>
            </a:r>
          </a:p>
          <a:p>
            <a:r>
              <a:rPr lang="en-US"/>
              <a:t/>
            </a:r>
          </a:p>
          <a:p>
            <a:r>
              <a:rPr lang="en-US"/>
              <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exists in every high-performance domain. Except the OR.</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European Society of Thoracic Surgery already calls their well-being programme Fit2Perform. The framing is arriving. Athletes do not do programmes. They build systems.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stood on Olympic start lines for fourteen years. The answer was never to push harder through it. It was to build systems around it. The most prepared athlete in the room is never the one who trained hardest. It is the one who trained most deliberately and recovered most completely. You deserve the same infrastructure. So do your patients."</a:t>
            </a:r>
          </a:p>
          <a:p>
            <a:r>
              <a:rPr lang="en-US"/>
              <a:t/>
            </a:r>
          </a:p>
          <a:p>
            <a:r>
              <a:rPr lang="en-US"/>
              <a:t>— Rachel Neylan</a:t>
            </a:r>
          </a:p>
          <a:p>
            <a:r>
              <a:rPr lang="en-US"/>
              <a:t/>
            </a:r>
          </a:p>
          <a:p>
            <a:r>
              <a:rPr lang="en-US"/>
              <a:t/>
            </a:r>
          </a:p>
          <a:p>
            <a:r>
              <a:rPr lang="en-US"/>
              <a:t/>
            </a:r>
          </a:p>
          <a:p>
            <a:r>
              <a:rPr lang="en-US"/>
              <a:t>It exists in every high-performance domain — time to say it belongs in surgery.</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those already experiencing the shift - are saying it</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2.png" Type="http://schemas.openxmlformats.org/officeDocument/2006/relationships/image"/><Relationship Id="rId16" Target="../media/image23.svg" Type="http://schemas.openxmlformats.org/officeDocument/2006/relationships/image"/><Relationship Id="rId17" Target="../media/image24.png" Type="http://schemas.openxmlformats.org/officeDocument/2006/relationships/image"/><Relationship Id="rId18" Target="../media/image25.svg" Type="http://schemas.openxmlformats.org/officeDocument/2006/relationships/image"/><Relationship Id="rId19" Target="../media/image26.png" Type="http://schemas.openxmlformats.org/officeDocument/2006/relationships/image"/><Relationship Id="rId2" Target="../notesSlides/notesSlide8.xml" Type="http://schemas.openxmlformats.org/officeDocument/2006/relationships/notesSlide"/><Relationship Id="rId20" Target="../media/image27.svg" Type="http://schemas.openxmlformats.org/officeDocument/2006/relationships/image"/><Relationship Id="rId3" Target="../media/image1.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3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http://www.rachelneylan.com" TargetMode="External" Type="http://schemas.openxmlformats.org/officeDocument/2006/relationships/hyperlink"/><Relationship Id="rId5" Target="mailto:rachel@rachelneylan.com" TargetMode="External" Type="http://schemas.openxmlformats.org/officeDocument/2006/relationships/hyperlink"/><Relationship Id="rId6" Target="../media/image4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18288000" cy="10287000"/>
            <a:chOff x="0" y="0"/>
            <a:chExt cx="24384000" cy="13716000"/>
          </a:xfrm>
        </p:grpSpPr>
        <p:sp>
          <p:nvSpPr>
            <p:cNvPr name="Freeform 7" id="7"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992238" y="1544536"/>
            <a:ext cx="12404522" cy="1636214"/>
          </a:xfrm>
          <a:prstGeom prst="rect">
            <a:avLst/>
          </a:prstGeom>
        </p:spPr>
        <p:txBody>
          <a:bodyPr anchor="t" rtlCol="false" tIns="0" lIns="0" bIns="0" rIns="0">
            <a:spAutoFit/>
          </a:bodyPr>
          <a:lstStyle/>
          <a:p>
            <a:pPr algn="l">
              <a:lnSpc>
                <a:spcPts val="12187"/>
              </a:lnSpc>
            </a:pPr>
            <a:r>
              <a:rPr lang="en-US" sz="9750" b="true">
                <a:solidFill>
                  <a:srgbClr val="FFFFFF"/>
                </a:solidFill>
                <a:latin typeface="Arimo Bold"/>
                <a:ea typeface="Arimo Bold"/>
                <a:cs typeface="Arimo Bold"/>
                <a:sym typeface="Arimo Bold"/>
              </a:rPr>
              <a:t>The Uncoached </a:t>
            </a:r>
          </a:p>
        </p:txBody>
      </p:sp>
      <p:sp>
        <p:nvSpPr>
          <p:cNvPr name="TextBox 9" id="9"/>
          <p:cNvSpPr txBox="true"/>
          <p:nvPr/>
        </p:nvSpPr>
        <p:spPr>
          <a:xfrm rot="0">
            <a:off x="992238" y="3467100"/>
            <a:ext cx="12404522" cy="1636214"/>
          </a:xfrm>
          <a:prstGeom prst="rect">
            <a:avLst/>
          </a:prstGeom>
        </p:spPr>
        <p:txBody>
          <a:bodyPr anchor="t" rtlCol="false" tIns="0" lIns="0" bIns="0" rIns="0">
            <a:spAutoFit/>
          </a:bodyPr>
          <a:lstStyle/>
          <a:p>
            <a:pPr algn="l">
              <a:lnSpc>
                <a:spcPts val="12187"/>
              </a:lnSpc>
            </a:pPr>
            <a:r>
              <a:rPr lang="en-US" sz="9750" b="true">
                <a:solidFill>
                  <a:srgbClr val="FFFFFF"/>
                </a:solidFill>
                <a:latin typeface="Arimo Bold"/>
                <a:ea typeface="Arimo Bold"/>
                <a:cs typeface="Arimo Bold"/>
                <a:sym typeface="Arimo Bold"/>
              </a:rPr>
              <a:t>Athlete</a:t>
            </a:r>
          </a:p>
        </p:txBody>
      </p:sp>
      <p:sp>
        <p:nvSpPr>
          <p:cNvPr name="TextBox 10" id="10"/>
          <p:cNvSpPr txBox="true"/>
          <p:nvPr/>
        </p:nvSpPr>
        <p:spPr>
          <a:xfrm rot="0">
            <a:off x="992238" y="5437289"/>
            <a:ext cx="6902948" cy="658263"/>
          </a:xfrm>
          <a:prstGeom prst="rect">
            <a:avLst/>
          </a:prstGeom>
        </p:spPr>
        <p:txBody>
          <a:bodyPr anchor="t" rtlCol="false" tIns="0" lIns="0" bIns="0" rIns="0">
            <a:spAutoFit/>
          </a:bodyPr>
          <a:lstStyle/>
          <a:p>
            <a:pPr algn="l">
              <a:lnSpc>
                <a:spcPts val="4875"/>
              </a:lnSpc>
            </a:pPr>
            <a:r>
              <a:rPr lang="en-US" sz="3875" b="true">
                <a:solidFill>
                  <a:srgbClr val="FFFFFF"/>
                </a:solidFill>
                <a:latin typeface="Arimo Bold"/>
                <a:ea typeface="Arimo Bold"/>
                <a:cs typeface="Arimo Bold"/>
                <a:sym typeface="Arimo Bold"/>
              </a:rPr>
              <a:t>Performance Readiness and </a:t>
            </a:r>
          </a:p>
        </p:txBody>
      </p:sp>
      <p:sp>
        <p:nvSpPr>
          <p:cNvPr name="TextBox 11" id="11"/>
          <p:cNvSpPr txBox="true"/>
          <p:nvPr/>
        </p:nvSpPr>
        <p:spPr>
          <a:xfrm rot="0">
            <a:off x="992238" y="6156569"/>
            <a:ext cx="5618712" cy="658263"/>
          </a:xfrm>
          <a:prstGeom prst="rect">
            <a:avLst/>
          </a:prstGeom>
        </p:spPr>
        <p:txBody>
          <a:bodyPr anchor="t" rtlCol="false" tIns="0" lIns="0" bIns="0" rIns="0">
            <a:spAutoFit/>
          </a:bodyPr>
          <a:lstStyle/>
          <a:p>
            <a:pPr algn="l">
              <a:lnSpc>
                <a:spcPts val="4875"/>
              </a:lnSpc>
            </a:pPr>
            <a:r>
              <a:rPr lang="en-US" sz="3875" b="true">
                <a:solidFill>
                  <a:srgbClr val="FFFFFF"/>
                </a:solidFill>
                <a:latin typeface="Arimo Bold"/>
                <a:ea typeface="Arimo Bold"/>
                <a:cs typeface="Arimo Bold"/>
                <a:sym typeface="Arimo Bold"/>
              </a:rPr>
              <a:t>The Surgical Profession</a:t>
            </a:r>
          </a:p>
        </p:txBody>
      </p:sp>
      <p:sp>
        <p:nvSpPr>
          <p:cNvPr name="TextBox 12" id="12"/>
          <p:cNvSpPr txBox="true"/>
          <p:nvPr/>
        </p:nvSpPr>
        <p:spPr>
          <a:xfrm rot="0">
            <a:off x="992238" y="7767638"/>
            <a:ext cx="16303523" cy="889102"/>
          </a:xfrm>
          <a:prstGeom prst="rect">
            <a:avLst/>
          </a:prstGeom>
        </p:spPr>
        <p:txBody>
          <a:bodyPr anchor="t" rtlCol="false" tIns="0" lIns="0" bIns="0" rIns="0">
            <a:spAutoFit/>
          </a:bodyPr>
          <a:lstStyle/>
          <a:p>
            <a:pPr algn="l">
              <a:lnSpc>
                <a:spcPts val="3125"/>
              </a:lnSpc>
            </a:pPr>
            <a:r>
              <a:rPr lang="en-US" sz="1937" b="true">
                <a:solidFill>
                  <a:srgbClr val="FFFFFF"/>
                </a:solidFill>
                <a:latin typeface="Arimo Bold"/>
                <a:ea typeface="Arimo Bold"/>
                <a:cs typeface="Arimo Bold"/>
                <a:sym typeface="Arimo Bold"/>
              </a:rPr>
              <a:t>Rachel Neylan OLY · MSc · BAppSc</a:t>
            </a:r>
            <a:r>
              <a:rPr lang="en-US" sz="1937">
                <a:solidFill>
                  <a:srgbClr val="FFFFFF"/>
                </a:solidFill>
                <a:latin typeface="Arimo"/>
                <a:ea typeface="Arimo"/>
                <a:cs typeface="Arimo"/>
                <a:sym typeface="Arimo"/>
              </a:rPr>
              <a:t>Human Performance Consultant · Olympian · Physiotherapist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8222304" y="3632892"/>
            <a:ext cx="9073458" cy="2335711"/>
          </a:xfrm>
          <a:prstGeom prst="rect">
            <a:avLst/>
          </a:prstGeom>
        </p:spPr>
        <p:txBody>
          <a:bodyPr anchor="t" rtlCol="false" tIns="0" lIns="0" bIns="0" rIns="0">
            <a:spAutoFit/>
          </a:bodyPr>
          <a:lstStyle/>
          <a:p>
            <a:pPr algn="l">
              <a:lnSpc>
                <a:spcPts val="2999"/>
              </a:lnSpc>
            </a:pPr>
            <a:r>
              <a:rPr lang="en-US" b="true" sz="2437" i="true">
                <a:solidFill>
                  <a:srgbClr val="373B48"/>
                </a:solidFill>
                <a:latin typeface="Arimo Bold Italics"/>
                <a:ea typeface="Arimo Bold Italics"/>
                <a:cs typeface="Arimo Bold Italics"/>
                <a:sym typeface="Arimo Bold Italics"/>
              </a:rPr>
              <a:t>"At the Olympic Games, years of preparation come down to a single moment. Under pressure, at the limit of physical and mental capacity, with everything at stake. Surgeons live this every day. Except there is no podium. No offseason. No performance system behind them. Just the table, the patient, and everything they have."</a:t>
            </a:r>
          </a:p>
        </p:txBody>
      </p:sp>
      <p:sp>
        <p:nvSpPr>
          <p:cNvPr name="TextBox 9" id="9"/>
          <p:cNvSpPr txBox="true"/>
          <p:nvPr/>
        </p:nvSpPr>
        <p:spPr>
          <a:xfrm rot="0">
            <a:off x="8222304" y="6245428"/>
            <a:ext cx="9073458" cy="492176"/>
          </a:xfrm>
          <a:prstGeom prst="rect">
            <a:avLst/>
          </a:prstGeom>
        </p:spPr>
        <p:txBody>
          <a:bodyPr anchor="t" rtlCol="false" tIns="0" lIns="0" bIns="0" rIns="0">
            <a:spAutoFit/>
          </a:bodyPr>
          <a:lstStyle/>
          <a:p>
            <a:pPr algn="l">
              <a:lnSpc>
                <a:spcPts val="3125"/>
              </a:lnSpc>
            </a:pPr>
            <a:r>
              <a:rPr lang="en-US" sz="1937">
                <a:solidFill>
                  <a:srgbClr val="52586B"/>
                </a:solidFill>
                <a:latin typeface="Arimo"/>
                <a:ea typeface="Arimo"/>
                <a:cs typeface="Arimo"/>
                <a:sym typeface="Arimo"/>
              </a:rPr>
              <a:t>— Rachel Neylan</a:t>
            </a:r>
          </a:p>
        </p:txBody>
      </p:sp>
      <p:grpSp>
        <p:nvGrpSpPr>
          <p:cNvPr name="Group 10" id="10"/>
          <p:cNvGrpSpPr/>
          <p:nvPr/>
        </p:nvGrpSpPr>
        <p:grpSpPr>
          <a:xfrm rot="0">
            <a:off x="7850238" y="3270352"/>
            <a:ext cx="28575" cy="3746297"/>
            <a:chOff x="0" y="0"/>
            <a:chExt cx="38100" cy="4995062"/>
          </a:xfrm>
        </p:grpSpPr>
        <p:sp>
          <p:nvSpPr>
            <p:cNvPr name="Freeform 11" id="11"/>
            <p:cNvSpPr/>
            <p:nvPr/>
          </p:nvSpPr>
          <p:spPr>
            <a:xfrm flipH="false" flipV="false" rot="0">
              <a:off x="0" y="0"/>
              <a:ext cx="38100" cy="4995037"/>
            </a:xfrm>
            <a:custGeom>
              <a:avLst/>
              <a:gdLst/>
              <a:ahLst/>
              <a:cxnLst/>
              <a:rect r="r" b="b" t="t" l="l"/>
              <a:pathLst>
                <a:path h="4995037" w="38100">
                  <a:moveTo>
                    <a:pt x="0" y="0"/>
                  </a:moveTo>
                  <a:lnTo>
                    <a:pt x="38100" y="0"/>
                  </a:lnTo>
                  <a:lnTo>
                    <a:pt x="38100" y="4995037"/>
                  </a:lnTo>
                  <a:lnTo>
                    <a:pt x="0" y="4995037"/>
                  </a:lnTo>
                  <a:close/>
                </a:path>
              </a:pathLst>
            </a:custGeom>
            <a:solidFill>
              <a:srgbClr val="373B48"/>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992238" y="661092"/>
            <a:ext cx="9445523" cy="1545431"/>
          </a:xfrm>
          <a:prstGeom prst="rect">
            <a:avLst/>
          </a:prstGeom>
        </p:spPr>
        <p:txBody>
          <a:bodyPr anchor="t" rtlCol="false" tIns="0" lIns="0" bIns="0" rIns="0">
            <a:spAutoFit/>
          </a:bodyPr>
          <a:lstStyle/>
          <a:p>
            <a:pPr algn="l">
              <a:lnSpc>
                <a:spcPts val="5874"/>
              </a:lnSpc>
            </a:pPr>
            <a:r>
              <a:rPr lang="en-US" sz="4687" b="true">
                <a:solidFill>
                  <a:srgbClr val="373B48"/>
                </a:solidFill>
                <a:latin typeface="Arimo Bold"/>
                <a:ea typeface="Arimo Bold"/>
                <a:cs typeface="Arimo Bold"/>
                <a:sym typeface="Arimo Bold"/>
              </a:rPr>
              <a:t>Rachel Neylan- Performance Consultant &amp; Coach</a:t>
            </a:r>
          </a:p>
        </p:txBody>
      </p:sp>
      <p:grpSp>
        <p:nvGrpSpPr>
          <p:cNvPr name="Group 9" id="9"/>
          <p:cNvGrpSpPr/>
          <p:nvPr/>
        </p:nvGrpSpPr>
        <p:grpSpPr>
          <a:xfrm rot="0">
            <a:off x="2665657" y="2388841"/>
            <a:ext cx="6098677" cy="5720505"/>
            <a:chOff x="0" y="0"/>
            <a:chExt cx="8131569" cy="7627341"/>
          </a:xfrm>
        </p:grpSpPr>
        <p:sp>
          <p:nvSpPr>
            <p:cNvPr name="Freeform 10" id="10" descr="preencoded.png"/>
            <p:cNvSpPr/>
            <p:nvPr/>
          </p:nvSpPr>
          <p:spPr>
            <a:xfrm flipH="false" flipV="false" rot="0">
              <a:off x="0" y="0"/>
              <a:ext cx="8131556" cy="7627366"/>
            </a:xfrm>
            <a:custGeom>
              <a:avLst/>
              <a:gdLst/>
              <a:ahLst/>
              <a:cxnLst/>
              <a:rect r="r" b="b" t="t" l="l"/>
              <a:pathLst>
                <a:path h="7627366" w="8131556">
                  <a:moveTo>
                    <a:pt x="0" y="0"/>
                  </a:moveTo>
                  <a:lnTo>
                    <a:pt x="8131556" y="0"/>
                  </a:lnTo>
                  <a:lnTo>
                    <a:pt x="8131556" y="7627366"/>
                  </a:lnTo>
                  <a:lnTo>
                    <a:pt x="0" y="7627366"/>
                  </a:lnTo>
                  <a:lnTo>
                    <a:pt x="0" y="0"/>
                  </a:lnTo>
                  <a:close/>
                </a:path>
              </a:pathLst>
            </a:custGeom>
            <a:blipFill>
              <a:blip r:embed="rId5"/>
              <a:stretch>
                <a:fillRect l="0" t="-57" r="0" b="-56"/>
              </a:stretch>
            </a:blipFill>
          </p:spPr>
        </p:sp>
      </p:grpSp>
      <p:sp>
        <p:nvSpPr>
          <p:cNvPr name="TextBox 11" id="11"/>
          <p:cNvSpPr txBox="true"/>
          <p:nvPr/>
        </p:nvSpPr>
        <p:spPr>
          <a:xfrm rot="0">
            <a:off x="4755613" y="3332226"/>
            <a:ext cx="1918783" cy="238220"/>
          </a:xfrm>
          <a:prstGeom prst="rect">
            <a:avLst/>
          </a:prstGeom>
        </p:spPr>
        <p:txBody>
          <a:bodyPr anchor="t" rtlCol="false" tIns="0" lIns="0" bIns="0" rIns="0">
            <a:spAutoFit/>
          </a:bodyPr>
          <a:lstStyle/>
          <a:p>
            <a:pPr algn="ctr">
              <a:lnSpc>
                <a:spcPts val="1750"/>
              </a:lnSpc>
            </a:pPr>
            <a:r>
              <a:rPr lang="en-US" sz="1437" b="true">
                <a:solidFill>
                  <a:srgbClr val="FFFFFF"/>
                </a:solidFill>
                <a:latin typeface="Arimo Bold"/>
                <a:ea typeface="Arimo Bold"/>
                <a:cs typeface="Arimo Bold"/>
                <a:sym typeface="Arimo Bold"/>
              </a:rPr>
              <a:t>Coaching Psychology</a:t>
            </a:r>
          </a:p>
        </p:txBody>
      </p:sp>
      <p:sp>
        <p:nvSpPr>
          <p:cNvPr name="TextBox 12" id="12"/>
          <p:cNvSpPr txBox="true"/>
          <p:nvPr/>
        </p:nvSpPr>
        <p:spPr>
          <a:xfrm rot="0">
            <a:off x="2854747" y="6419650"/>
            <a:ext cx="2061334" cy="466925"/>
          </a:xfrm>
          <a:prstGeom prst="rect">
            <a:avLst/>
          </a:prstGeom>
        </p:spPr>
        <p:txBody>
          <a:bodyPr anchor="t" rtlCol="false" tIns="0" lIns="0" bIns="0" rIns="0">
            <a:spAutoFit/>
          </a:bodyPr>
          <a:lstStyle/>
          <a:p>
            <a:pPr algn="ctr">
              <a:lnSpc>
                <a:spcPts val="1750"/>
              </a:lnSpc>
            </a:pPr>
            <a:r>
              <a:rPr lang="en-US" sz="1437" b="true">
                <a:solidFill>
                  <a:srgbClr val="FFFFFF"/>
                </a:solidFill>
                <a:latin typeface="Arimo Bold"/>
                <a:ea typeface="Arimo Bold"/>
                <a:cs typeface="Arimo Bold"/>
                <a:sym typeface="Arimo Bold"/>
              </a:rPr>
              <a:t>Musculoskeletal Health / Physiotherapy</a:t>
            </a:r>
          </a:p>
        </p:txBody>
      </p:sp>
      <p:sp>
        <p:nvSpPr>
          <p:cNvPr name="TextBox 13" id="13"/>
          <p:cNvSpPr txBox="true"/>
          <p:nvPr/>
        </p:nvSpPr>
        <p:spPr>
          <a:xfrm rot="0">
            <a:off x="6513919" y="6305302"/>
            <a:ext cx="2061334" cy="695620"/>
          </a:xfrm>
          <a:prstGeom prst="rect">
            <a:avLst/>
          </a:prstGeom>
        </p:spPr>
        <p:txBody>
          <a:bodyPr anchor="t" rtlCol="false" tIns="0" lIns="0" bIns="0" rIns="0">
            <a:spAutoFit/>
          </a:bodyPr>
          <a:lstStyle/>
          <a:p>
            <a:pPr algn="ctr">
              <a:lnSpc>
                <a:spcPts val="1750"/>
              </a:lnSpc>
            </a:pPr>
            <a:r>
              <a:rPr lang="en-US" sz="1437" b="true">
                <a:solidFill>
                  <a:srgbClr val="FFFFFF"/>
                </a:solidFill>
                <a:latin typeface="Arimo Bold"/>
                <a:ea typeface="Arimo Bold"/>
                <a:cs typeface="Arimo Bold"/>
                <a:sym typeface="Arimo Bold"/>
              </a:rPr>
              <a:t>Elite Sport/ High Perfomance Science &amp; Strategy</a:t>
            </a:r>
          </a:p>
        </p:txBody>
      </p:sp>
      <p:sp>
        <p:nvSpPr>
          <p:cNvPr name="TextBox 14" id="14"/>
          <p:cNvSpPr txBox="true"/>
          <p:nvPr/>
        </p:nvSpPr>
        <p:spPr>
          <a:xfrm rot="0">
            <a:off x="3998233" y="4666297"/>
            <a:ext cx="1222772" cy="466925"/>
          </a:xfrm>
          <a:prstGeom prst="rect">
            <a:avLst/>
          </a:prstGeom>
        </p:spPr>
        <p:txBody>
          <a:bodyPr anchor="t" rtlCol="false" tIns="0" lIns="0" bIns="0" rIns="0">
            <a:spAutoFit/>
          </a:bodyPr>
          <a:lstStyle/>
          <a:p>
            <a:pPr algn="ctr">
              <a:lnSpc>
                <a:spcPts val="1750"/>
              </a:lnSpc>
            </a:pPr>
            <a:r>
              <a:rPr lang="en-US" sz="1437" b="true">
                <a:solidFill>
                  <a:srgbClr val="FFFFFF"/>
                </a:solidFill>
                <a:latin typeface="Arimo Bold"/>
                <a:ea typeface="Arimo Bold"/>
                <a:cs typeface="Arimo Bold"/>
                <a:sym typeface="Arimo Bold"/>
              </a:rPr>
              <a:t>Applied Science</a:t>
            </a:r>
          </a:p>
        </p:txBody>
      </p:sp>
      <p:sp>
        <p:nvSpPr>
          <p:cNvPr name="TextBox 15" id="15"/>
          <p:cNvSpPr txBox="true"/>
          <p:nvPr/>
        </p:nvSpPr>
        <p:spPr>
          <a:xfrm rot="0">
            <a:off x="6208986" y="4666297"/>
            <a:ext cx="1222772" cy="466925"/>
          </a:xfrm>
          <a:prstGeom prst="rect">
            <a:avLst/>
          </a:prstGeom>
        </p:spPr>
        <p:txBody>
          <a:bodyPr anchor="t" rtlCol="false" tIns="0" lIns="0" bIns="0" rIns="0">
            <a:spAutoFit/>
          </a:bodyPr>
          <a:lstStyle/>
          <a:p>
            <a:pPr algn="ctr">
              <a:lnSpc>
                <a:spcPts val="1750"/>
              </a:lnSpc>
            </a:pPr>
            <a:r>
              <a:rPr lang="en-US" sz="1437" b="true">
                <a:solidFill>
                  <a:srgbClr val="FFFFFF"/>
                </a:solidFill>
                <a:latin typeface="Arimo Bold"/>
                <a:ea typeface="Arimo Bold"/>
                <a:cs typeface="Arimo Bold"/>
                <a:sym typeface="Arimo Bold"/>
              </a:rPr>
              <a:t>Performance Behaviour</a:t>
            </a:r>
          </a:p>
        </p:txBody>
      </p:sp>
      <p:sp>
        <p:nvSpPr>
          <p:cNvPr name="TextBox 16" id="16"/>
          <p:cNvSpPr txBox="true"/>
          <p:nvPr/>
        </p:nvSpPr>
        <p:spPr>
          <a:xfrm rot="0">
            <a:off x="5294195" y="5558219"/>
            <a:ext cx="841610" cy="924316"/>
          </a:xfrm>
          <a:prstGeom prst="rect">
            <a:avLst/>
          </a:prstGeom>
        </p:spPr>
        <p:txBody>
          <a:bodyPr anchor="t" rtlCol="false" tIns="0" lIns="0" bIns="0" rIns="0">
            <a:spAutoFit/>
          </a:bodyPr>
          <a:lstStyle/>
          <a:p>
            <a:pPr algn="ctr">
              <a:lnSpc>
                <a:spcPts val="1750"/>
              </a:lnSpc>
            </a:pPr>
            <a:r>
              <a:rPr lang="en-US" sz="1437" b="true">
                <a:solidFill>
                  <a:srgbClr val="FFFFFF"/>
                </a:solidFill>
                <a:latin typeface="Arimo Bold"/>
                <a:ea typeface="Arimo Bold"/>
                <a:cs typeface="Arimo Bold"/>
                <a:sym typeface="Arimo Bold"/>
              </a:rPr>
              <a:t>Human Performance Strategy</a:t>
            </a:r>
          </a:p>
        </p:txBody>
      </p:sp>
      <p:sp>
        <p:nvSpPr>
          <p:cNvPr name="TextBox 17" id="17"/>
          <p:cNvSpPr txBox="true"/>
          <p:nvPr/>
        </p:nvSpPr>
        <p:spPr>
          <a:xfrm rot="0">
            <a:off x="1340196" y="8338842"/>
            <a:ext cx="2170805" cy="299885"/>
          </a:xfrm>
          <a:prstGeom prst="rect">
            <a:avLst/>
          </a:prstGeom>
        </p:spPr>
        <p:txBody>
          <a:bodyPr anchor="t" rtlCol="false" tIns="0" lIns="0" bIns="0" rIns="0">
            <a:spAutoFit/>
          </a:bodyPr>
          <a:lstStyle/>
          <a:p>
            <a:pPr algn="ctr">
              <a:lnSpc>
                <a:spcPts val="2124"/>
              </a:lnSpc>
            </a:pPr>
            <a:r>
              <a:rPr lang="en-US" sz="1687" b="true">
                <a:solidFill>
                  <a:srgbClr val="000000"/>
                </a:solidFill>
                <a:latin typeface="Arimo Bold"/>
                <a:ea typeface="Arimo Bold"/>
                <a:cs typeface="Arimo Bold"/>
                <a:sym typeface="Arimo Bold"/>
              </a:rPr>
              <a:t>Physiotherapy</a:t>
            </a:r>
          </a:p>
        </p:txBody>
      </p:sp>
      <p:sp>
        <p:nvSpPr>
          <p:cNvPr name="TextBox 18" id="18"/>
          <p:cNvSpPr txBox="true"/>
          <p:nvPr/>
        </p:nvSpPr>
        <p:spPr>
          <a:xfrm rot="0">
            <a:off x="992238" y="8712546"/>
            <a:ext cx="2866730" cy="756199"/>
          </a:xfrm>
          <a:prstGeom prst="rect">
            <a:avLst/>
          </a:prstGeom>
        </p:spPr>
        <p:txBody>
          <a:bodyPr anchor="t" rtlCol="false" tIns="0" lIns="0" bIns="0" rIns="0">
            <a:spAutoFit/>
          </a:bodyPr>
          <a:lstStyle/>
          <a:p>
            <a:pPr algn="ctr">
              <a:lnSpc>
                <a:spcPts val="1812"/>
              </a:lnSpc>
            </a:pPr>
            <a:r>
              <a:rPr lang="en-US" sz="1312">
                <a:solidFill>
                  <a:srgbClr val="000000"/>
                </a:solidFill>
                <a:latin typeface="Arimo"/>
                <a:ea typeface="Arimo"/>
                <a:cs typeface="Arimo"/>
                <a:sym typeface="Arimo"/>
              </a:rPr>
              <a:t>BAppSc Applied Musculoskeletal science, Optimising human movement</a:t>
            </a:r>
          </a:p>
        </p:txBody>
      </p:sp>
      <p:sp>
        <p:nvSpPr>
          <p:cNvPr name="TextBox 19" id="19"/>
          <p:cNvSpPr txBox="true"/>
          <p:nvPr/>
        </p:nvSpPr>
        <p:spPr>
          <a:xfrm rot="0">
            <a:off x="4451594" y="8338842"/>
            <a:ext cx="2546452" cy="299885"/>
          </a:xfrm>
          <a:prstGeom prst="rect">
            <a:avLst/>
          </a:prstGeom>
        </p:spPr>
        <p:txBody>
          <a:bodyPr anchor="t" rtlCol="false" tIns="0" lIns="0" bIns="0" rIns="0">
            <a:spAutoFit/>
          </a:bodyPr>
          <a:lstStyle/>
          <a:p>
            <a:pPr algn="ctr">
              <a:lnSpc>
                <a:spcPts val="2124"/>
              </a:lnSpc>
            </a:pPr>
            <a:r>
              <a:rPr lang="en-US" sz="1687" b="true">
                <a:solidFill>
                  <a:srgbClr val="000000"/>
                </a:solidFill>
                <a:latin typeface="Arimo Bold"/>
                <a:ea typeface="Arimo Bold"/>
                <a:cs typeface="Arimo Bold"/>
                <a:sym typeface="Arimo Bold"/>
              </a:rPr>
              <a:t>High Performance Sport</a:t>
            </a:r>
          </a:p>
        </p:txBody>
      </p:sp>
      <p:sp>
        <p:nvSpPr>
          <p:cNvPr name="TextBox 20" id="20"/>
          <p:cNvSpPr txBox="true"/>
          <p:nvPr/>
        </p:nvSpPr>
        <p:spPr>
          <a:xfrm rot="0">
            <a:off x="4292051" y="8712546"/>
            <a:ext cx="2865682" cy="756199"/>
          </a:xfrm>
          <a:prstGeom prst="rect">
            <a:avLst/>
          </a:prstGeom>
        </p:spPr>
        <p:txBody>
          <a:bodyPr anchor="t" rtlCol="false" tIns="0" lIns="0" bIns="0" rIns="0">
            <a:spAutoFit/>
          </a:bodyPr>
          <a:lstStyle/>
          <a:p>
            <a:pPr algn="ctr">
              <a:lnSpc>
                <a:spcPts val="1812"/>
              </a:lnSpc>
            </a:pPr>
            <a:r>
              <a:rPr lang="en-US" sz="1312">
                <a:solidFill>
                  <a:srgbClr val="000000"/>
                </a:solidFill>
                <a:latin typeface="Arimo"/>
                <a:ea typeface="Arimo"/>
                <a:cs typeface="Arimo"/>
                <a:sym typeface="Arimo"/>
              </a:rPr>
              <a:t>Olympian, World Champ Medalist, Sustained high performance over 13 year pro cycling career</a:t>
            </a:r>
          </a:p>
        </p:txBody>
      </p:sp>
      <p:sp>
        <p:nvSpPr>
          <p:cNvPr name="TextBox 21" id="21"/>
          <p:cNvSpPr txBox="true"/>
          <p:nvPr/>
        </p:nvSpPr>
        <p:spPr>
          <a:xfrm rot="0">
            <a:off x="7885805" y="8338842"/>
            <a:ext cx="2275580" cy="299885"/>
          </a:xfrm>
          <a:prstGeom prst="rect">
            <a:avLst/>
          </a:prstGeom>
        </p:spPr>
        <p:txBody>
          <a:bodyPr anchor="t" rtlCol="false" tIns="0" lIns="0" bIns="0" rIns="0">
            <a:spAutoFit/>
          </a:bodyPr>
          <a:lstStyle/>
          <a:p>
            <a:pPr algn="ctr">
              <a:lnSpc>
                <a:spcPts val="2124"/>
              </a:lnSpc>
            </a:pPr>
            <a:r>
              <a:rPr lang="en-US" sz="1687" b="true">
                <a:solidFill>
                  <a:srgbClr val="000000"/>
                </a:solidFill>
                <a:latin typeface="Arimo Bold"/>
                <a:ea typeface="Arimo Bold"/>
                <a:cs typeface="Arimo Bold"/>
                <a:sym typeface="Arimo Bold"/>
              </a:rPr>
              <a:t>Coaching Psychology</a:t>
            </a:r>
          </a:p>
        </p:txBody>
      </p:sp>
      <p:sp>
        <p:nvSpPr>
          <p:cNvPr name="TextBox 22" id="22"/>
          <p:cNvSpPr txBox="true"/>
          <p:nvPr/>
        </p:nvSpPr>
        <p:spPr>
          <a:xfrm rot="0">
            <a:off x="7590834" y="8712546"/>
            <a:ext cx="2865682" cy="756199"/>
          </a:xfrm>
          <a:prstGeom prst="rect">
            <a:avLst/>
          </a:prstGeom>
        </p:spPr>
        <p:txBody>
          <a:bodyPr anchor="t" rtlCol="false" tIns="0" lIns="0" bIns="0" rIns="0">
            <a:spAutoFit/>
          </a:bodyPr>
          <a:lstStyle/>
          <a:p>
            <a:pPr algn="ctr">
              <a:lnSpc>
                <a:spcPts val="1812"/>
              </a:lnSpc>
            </a:pPr>
            <a:r>
              <a:rPr lang="en-US" sz="1312">
                <a:solidFill>
                  <a:srgbClr val="000000"/>
                </a:solidFill>
                <a:latin typeface="Arimo"/>
                <a:ea typeface="Arimo"/>
                <a:cs typeface="Arimo"/>
                <a:sym typeface="Arimo"/>
              </a:rPr>
              <a:t>MSc in Coaching Psychology, Translating science + expertise into lasting behavioural change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1500188"/>
            <a:ext cx="9445523" cy="2196703"/>
          </a:xfrm>
          <a:prstGeom prst="rect">
            <a:avLst/>
          </a:prstGeom>
        </p:spPr>
        <p:txBody>
          <a:bodyPr anchor="t" rtlCol="false" tIns="0" lIns="0" bIns="0" rIns="0">
            <a:spAutoFit/>
          </a:bodyPr>
          <a:lstStyle/>
          <a:p>
            <a:pPr algn="l">
              <a:lnSpc>
                <a:spcPts val="8375"/>
              </a:lnSpc>
            </a:pPr>
            <a:r>
              <a:rPr lang="en-US" sz="6687" b="true">
                <a:solidFill>
                  <a:srgbClr val="373B48"/>
                </a:solidFill>
                <a:latin typeface="Arimo Bold"/>
                <a:ea typeface="Arimo Bold"/>
                <a:cs typeface="Arimo Bold"/>
                <a:sym typeface="Arimo Bold"/>
              </a:rPr>
              <a:t>We have upgraded the tools. Not the surgeon.</a:t>
            </a:r>
          </a:p>
        </p:txBody>
      </p:sp>
      <p:grpSp>
        <p:nvGrpSpPr>
          <p:cNvPr name="Group 9" id="9"/>
          <p:cNvGrpSpPr/>
          <p:nvPr/>
        </p:nvGrpSpPr>
        <p:grpSpPr>
          <a:xfrm rot="0">
            <a:off x="7845476" y="4740173"/>
            <a:ext cx="9455048" cy="912171"/>
            <a:chOff x="0" y="0"/>
            <a:chExt cx="12606731" cy="1216228"/>
          </a:xfrm>
        </p:grpSpPr>
        <p:sp>
          <p:nvSpPr>
            <p:cNvPr name="Freeform 10" id="10"/>
            <p:cNvSpPr/>
            <p:nvPr/>
          </p:nvSpPr>
          <p:spPr>
            <a:xfrm flipH="false" flipV="false" rot="0">
              <a:off x="6350" y="6350"/>
              <a:ext cx="12593955" cy="1203579"/>
            </a:xfrm>
            <a:custGeom>
              <a:avLst/>
              <a:gdLst/>
              <a:ahLst/>
              <a:cxnLst/>
              <a:rect r="r" b="b" t="t" l="l"/>
              <a:pathLst>
                <a:path h="1203579" w="12593955">
                  <a:moveTo>
                    <a:pt x="0" y="138938"/>
                  </a:moveTo>
                  <a:cubicBezTo>
                    <a:pt x="0" y="62230"/>
                    <a:pt x="62738" y="0"/>
                    <a:pt x="140208" y="0"/>
                  </a:cubicBezTo>
                  <a:lnTo>
                    <a:pt x="12453747" y="0"/>
                  </a:lnTo>
                  <a:cubicBezTo>
                    <a:pt x="12531217" y="0"/>
                    <a:pt x="12593955" y="62230"/>
                    <a:pt x="12593955" y="138938"/>
                  </a:cubicBezTo>
                  <a:lnTo>
                    <a:pt x="12593955" y="1064641"/>
                  </a:lnTo>
                  <a:cubicBezTo>
                    <a:pt x="12593955" y="1141349"/>
                    <a:pt x="12531217" y="1203579"/>
                    <a:pt x="12453747" y="1203579"/>
                  </a:cubicBezTo>
                  <a:lnTo>
                    <a:pt x="140208" y="1203579"/>
                  </a:lnTo>
                  <a:cubicBezTo>
                    <a:pt x="62738" y="1203579"/>
                    <a:pt x="0" y="1141349"/>
                    <a:pt x="0" y="1064641"/>
                  </a:cubicBezTo>
                  <a:close/>
                </a:path>
              </a:pathLst>
            </a:custGeom>
            <a:solidFill>
              <a:srgbClr val="E2E4E9"/>
            </a:solidFill>
          </p:spPr>
        </p:sp>
        <p:sp>
          <p:nvSpPr>
            <p:cNvPr name="Freeform 11" id="11"/>
            <p:cNvSpPr/>
            <p:nvPr/>
          </p:nvSpPr>
          <p:spPr>
            <a:xfrm flipH="false" flipV="false" rot="0">
              <a:off x="0" y="0"/>
              <a:ext cx="12606655" cy="1216279"/>
            </a:xfrm>
            <a:custGeom>
              <a:avLst/>
              <a:gdLst/>
              <a:ahLst/>
              <a:cxnLst/>
              <a:rect r="r" b="b" t="t" l="l"/>
              <a:pathLst>
                <a:path h="1216279" w="12606655">
                  <a:moveTo>
                    <a:pt x="0" y="145288"/>
                  </a:moveTo>
                  <a:cubicBezTo>
                    <a:pt x="0" y="65024"/>
                    <a:pt x="65659" y="0"/>
                    <a:pt x="146558" y="0"/>
                  </a:cubicBezTo>
                  <a:lnTo>
                    <a:pt x="12460097" y="0"/>
                  </a:lnTo>
                  <a:lnTo>
                    <a:pt x="12460097" y="6350"/>
                  </a:lnTo>
                  <a:lnTo>
                    <a:pt x="12460097" y="0"/>
                  </a:lnTo>
                  <a:cubicBezTo>
                    <a:pt x="12540996" y="0"/>
                    <a:pt x="12606655" y="65024"/>
                    <a:pt x="12606655" y="145288"/>
                  </a:cubicBezTo>
                  <a:lnTo>
                    <a:pt x="12600305" y="145288"/>
                  </a:lnTo>
                  <a:lnTo>
                    <a:pt x="12606655" y="145288"/>
                  </a:lnTo>
                  <a:lnTo>
                    <a:pt x="12606655" y="1070991"/>
                  </a:lnTo>
                  <a:lnTo>
                    <a:pt x="12600305" y="1070991"/>
                  </a:lnTo>
                  <a:lnTo>
                    <a:pt x="12606655" y="1070991"/>
                  </a:lnTo>
                  <a:cubicBezTo>
                    <a:pt x="12606655" y="1151255"/>
                    <a:pt x="12540996" y="1216279"/>
                    <a:pt x="12460097" y="1216279"/>
                  </a:cubicBezTo>
                  <a:lnTo>
                    <a:pt x="12460097" y="1209929"/>
                  </a:lnTo>
                  <a:lnTo>
                    <a:pt x="12460097" y="1216279"/>
                  </a:lnTo>
                  <a:lnTo>
                    <a:pt x="146558" y="1216279"/>
                  </a:lnTo>
                  <a:lnTo>
                    <a:pt x="146558" y="1209929"/>
                  </a:lnTo>
                  <a:lnTo>
                    <a:pt x="146558" y="1216279"/>
                  </a:lnTo>
                  <a:cubicBezTo>
                    <a:pt x="65659" y="1216279"/>
                    <a:pt x="0" y="1151255"/>
                    <a:pt x="0" y="1070991"/>
                  </a:cubicBezTo>
                  <a:lnTo>
                    <a:pt x="0" y="145288"/>
                  </a:lnTo>
                  <a:lnTo>
                    <a:pt x="6350" y="145288"/>
                  </a:lnTo>
                  <a:lnTo>
                    <a:pt x="0" y="145288"/>
                  </a:lnTo>
                  <a:moveTo>
                    <a:pt x="12700" y="145288"/>
                  </a:moveTo>
                  <a:lnTo>
                    <a:pt x="12700" y="1070991"/>
                  </a:lnTo>
                  <a:lnTo>
                    <a:pt x="6350" y="1070991"/>
                  </a:lnTo>
                  <a:lnTo>
                    <a:pt x="12700" y="1070991"/>
                  </a:lnTo>
                  <a:cubicBezTo>
                    <a:pt x="12700" y="1144143"/>
                    <a:pt x="72644" y="1203579"/>
                    <a:pt x="146558" y="1203579"/>
                  </a:cubicBezTo>
                  <a:lnTo>
                    <a:pt x="12460097" y="1203579"/>
                  </a:lnTo>
                  <a:cubicBezTo>
                    <a:pt x="12534138" y="1203579"/>
                    <a:pt x="12593955" y="1144143"/>
                    <a:pt x="12593955" y="1070991"/>
                  </a:cubicBezTo>
                  <a:lnTo>
                    <a:pt x="12593955" y="145288"/>
                  </a:lnTo>
                  <a:cubicBezTo>
                    <a:pt x="12594082" y="72136"/>
                    <a:pt x="12534138" y="12700"/>
                    <a:pt x="12460097" y="12700"/>
                  </a:cubicBezTo>
                  <a:lnTo>
                    <a:pt x="146558" y="12700"/>
                  </a:lnTo>
                  <a:lnTo>
                    <a:pt x="146558" y="6350"/>
                  </a:lnTo>
                  <a:lnTo>
                    <a:pt x="146558" y="12700"/>
                  </a:lnTo>
                  <a:cubicBezTo>
                    <a:pt x="72644" y="12700"/>
                    <a:pt x="12700" y="72136"/>
                    <a:pt x="12700" y="145288"/>
                  </a:cubicBezTo>
                  <a:close/>
                </a:path>
              </a:pathLst>
            </a:custGeom>
            <a:solidFill>
              <a:srgbClr val="C8CACF"/>
            </a:solidFill>
          </p:spPr>
        </p:sp>
      </p:grpSp>
      <p:grpSp>
        <p:nvGrpSpPr>
          <p:cNvPr name="Group 12" id="12"/>
          <p:cNvGrpSpPr/>
          <p:nvPr/>
        </p:nvGrpSpPr>
        <p:grpSpPr>
          <a:xfrm rot="0">
            <a:off x="7859763" y="4754461"/>
            <a:ext cx="3142059" cy="883596"/>
            <a:chOff x="0" y="0"/>
            <a:chExt cx="4189412" cy="1178128"/>
          </a:xfrm>
        </p:grpSpPr>
        <p:sp>
          <p:nvSpPr>
            <p:cNvPr name="Freeform 13" id="13"/>
            <p:cNvSpPr/>
            <p:nvPr/>
          </p:nvSpPr>
          <p:spPr>
            <a:xfrm flipH="false" flipV="false" rot="0">
              <a:off x="0" y="0"/>
              <a:ext cx="4189476" cy="1178179"/>
            </a:xfrm>
            <a:custGeom>
              <a:avLst/>
              <a:gdLst/>
              <a:ahLst/>
              <a:cxnLst/>
              <a:rect r="r" b="b" t="t" l="l"/>
              <a:pathLst>
                <a:path h="1178179" w="4189476">
                  <a:moveTo>
                    <a:pt x="0" y="138938"/>
                  </a:moveTo>
                  <a:cubicBezTo>
                    <a:pt x="0" y="62230"/>
                    <a:pt x="62230" y="0"/>
                    <a:pt x="138938" y="0"/>
                  </a:cubicBezTo>
                  <a:lnTo>
                    <a:pt x="4050538" y="0"/>
                  </a:lnTo>
                  <a:cubicBezTo>
                    <a:pt x="4127246" y="0"/>
                    <a:pt x="4189476" y="62230"/>
                    <a:pt x="4189476" y="138938"/>
                  </a:cubicBezTo>
                  <a:lnTo>
                    <a:pt x="4189476" y="1039241"/>
                  </a:lnTo>
                  <a:cubicBezTo>
                    <a:pt x="4189476" y="1115949"/>
                    <a:pt x="4127246" y="1178179"/>
                    <a:pt x="4050538" y="1178179"/>
                  </a:cubicBezTo>
                  <a:lnTo>
                    <a:pt x="138938" y="1178179"/>
                  </a:lnTo>
                  <a:cubicBezTo>
                    <a:pt x="62230" y="1178179"/>
                    <a:pt x="0" y="1115949"/>
                    <a:pt x="0" y="1039241"/>
                  </a:cubicBezTo>
                  <a:close/>
                </a:path>
              </a:pathLst>
            </a:custGeom>
            <a:solidFill>
              <a:srgbClr val="E2E4E9"/>
            </a:solidFill>
          </p:spPr>
        </p:sp>
      </p:grpSp>
      <p:sp>
        <p:nvSpPr>
          <p:cNvPr name="TextBox 14" id="14"/>
          <p:cNvSpPr txBox="true"/>
          <p:nvPr/>
        </p:nvSpPr>
        <p:spPr>
          <a:xfrm rot="0">
            <a:off x="8107709" y="4992891"/>
            <a:ext cx="2646159"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Robotics</a:t>
            </a:r>
          </a:p>
        </p:txBody>
      </p:sp>
      <p:grpSp>
        <p:nvGrpSpPr>
          <p:cNvPr name="Group 15" id="15"/>
          <p:cNvGrpSpPr/>
          <p:nvPr/>
        </p:nvGrpSpPr>
        <p:grpSpPr>
          <a:xfrm rot="0">
            <a:off x="11001823" y="4754461"/>
            <a:ext cx="3142212" cy="883596"/>
            <a:chOff x="0" y="0"/>
            <a:chExt cx="4189616" cy="1178128"/>
          </a:xfrm>
        </p:grpSpPr>
        <p:sp>
          <p:nvSpPr>
            <p:cNvPr name="Freeform 16" id="16"/>
            <p:cNvSpPr/>
            <p:nvPr/>
          </p:nvSpPr>
          <p:spPr>
            <a:xfrm flipH="false" flipV="false" rot="0">
              <a:off x="0" y="0"/>
              <a:ext cx="4189603" cy="1178179"/>
            </a:xfrm>
            <a:custGeom>
              <a:avLst/>
              <a:gdLst/>
              <a:ahLst/>
              <a:cxnLst/>
              <a:rect r="r" b="b" t="t" l="l"/>
              <a:pathLst>
                <a:path h="1178179" w="4189603">
                  <a:moveTo>
                    <a:pt x="0" y="0"/>
                  </a:moveTo>
                  <a:lnTo>
                    <a:pt x="4189603" y="0"/>
                  </a:lnTo>
                  <a:lnTo>
                    <a:pt x="4189603" y="1178179"/>
                  </a:lnTo>
                  <a:lnTo>
                    <a:pt x="0" y="1178179"/>
                  </a:lnTo>
                  <a:close/>
                </a:path>
              </a:pathLst>
            </a:custGeom>
            <a:solidFill>
              <a:srgbClr val="E2E4E9"/>
            </a:solidFill>
          </p:spPr>
        </p:sp>
      </p:grpSp>
      <p:grpSp>
        <p:nvGrpSpPr>
          <p:cNvPr name="Group 17" id="17"/>
          <p:cNvGrpSpPr/>
          <p:nvPr/>
        </p:nvGrpSpPr>
        <p:grpSpPr>
          <a:xfrm rot="0">
            <a:off x="11001823" y="4754461"/>
            <a:ext cx="28575" cy="883596"/>
            <a:chOff x="0" y="0"/>
            <a:chExt cx="38100" cy="1178128"/>
          </a:xfrm>
        </p:grpSpPr>
        <p:sp>
          <p:nvSpPr>
            <p:cNvPr name="Freeform 18" id="18"/>
            <p:cNvSpPr/>
            <p:nvPr/>
          </p:nvSpPr>
          <p:spPr>
            <a:xfrm flipH="false" flipV="false" rot="0">
              <a:off x="0" y="0"/>
              <a:ext cx="38100" cy="1178179"/>
            </a:xfrm>
            <a:custGeom>
              <a:avLst/>
              <a:gdLst/>
              <a:ahLst/>
              <a:cxnLst/>
              <a:rect r="r" b="b" t="t" l="l"/>
              <a:pathLst>
                <a:path h="1178179" w="38100">
                  <a:moveTo>
                    <a:pt x="0" y="19050"/>
                  </a:moveTo>
                  <a:cubicBezTo>
                    <a:pt x="0" y="8509"/>
                    <a:pt x="8509" y="0"/>
                    <a:pt x="19050" y="0"/>
                  </a:cubicBezTo>
                  <a:cubicBezTo>
                    <a:pt x="29591" y="0"/>
                    <a:pt x="38100" y="8509"/>
                    <a:pt x="38100" y="19050"/>
                  </a:cubicBezTo>
                  <a:lnTo>
                    <a:pt x="38100" y="1159129"/>
                  </a:lnTo>
                  <a:cubicBezTo>
                    <a:pt x="38100" y="1169670"/>
                    <a:pt x="29591" y="1178179"/>
                    <a:pt x="19050" y="1178179"/>
                  </a:cubicBezTo>
                  <a:cubicBezTo>
                    <a:pt x="8509" y="1178179"/>
                    <a:pt x="0" y="1169543"/>
                    <a:pt x="0" y="1159129"/>
                  </a:cubicBezTo>
                  <a:close/>
                </a:path>
              </a:pathLst>
            </a:custGeom>
            <a:solidFill>
              <a:srgbClr val="C8CACF"/>
            </a:solidFill>
          </p:spPr>
        </p:sp>
      </p:grpSp>
      <p:sp>
        <p:nvSpPr>
          <p:cNvPr name="TextBox 19" id="19"/>
          <p:cNvSpPr txBox="true"/>
          <p:nvPr/>
        </p:nvSpPr>
        <p:spPr>
          <a:xfrm rot="0">
            <a:off x="11249768" y="4992891"/>
            <a:ext cx="2646312"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Navigation</a:t>
            </a:r>
          </a:p>
        </p:txBody>
      </p:sp>
      <p:grpSp>
        <p:nvGrpSpPr>
          <p:cNvPr name="Group 20" id="20"/>
          <p:cNvGrpSpPr/>
          <p:nvPr/>
        </p:nvGrpSpPr>
        <p:grpSpPr>
          <a:xfrm rot="0">
            <a:off x="14144034" y="4754461"/>
            <a:ext cx="3142212" cy="883596"/>
            <a:chOff x="0" y="0"/>
            <a:chExt cx="4189616" cy="1178128"/>
          </a:xfrm>
        </p:grpSpPr>
        <p:sp>
          <p:nvSpPr>
            <p:cNvPr name="Freeform 21" id="21"/>
            <p:cNvSpPr/>
            <p:nvPr/>
          </p:nvSpPr>
          <p:spPr>
            <a:xfrm flipH="false" flipV="false" rot="0">
              <a:off x="0" y="0"/>
              <a:ext cx="4189603" cy="1178179"/>
            </a:xfrm>
            <a:custGeom>
              <a:avLst/>
              <a:gdLst/>
              <a:ahLst/>
              <a:cxnLst/>
              <a:rect r="r" b="b" t="t" l="l"/>
              <a:pathLst>
                <a:path h="1178179" w="4189603">
                  <a:moveTo>
                    <a:pt x="0" y="0"/>
                  </a:moveTo>
                  <a:lnTo>
                    <a:pt x="4189603" y="0"/>
                  </a:lnTo>
                  <a:lnTo>
                    <a:pt x="4189603" y="1178179"/>
                  </a:lnTo>
                  <a:lnTo>
                    <a:pt x="0" y="1178179"/>
                  </a:lnTo>
                  <a:close/>
                </a:path>
              </a:pathLst>
            </a:custGeom>
            <a:solidFill>
              <a:srgbClr val="E2E4E9"/>
            </a:solidFill>
          </p:spPr>
        </p:sp>
      </p:grpSp>
      <p:grpSp>
        <p:nvGrpSpPr>
          <p:cNvPr name="Group 22" id="22"/>
          <p:cNvGrpSpPr/>
          <p:nvPr/>
        </p:nvGrpSpPr>
        <p:grpSpPr>
          <a:xfrm rot="0">
            <a:off x="14144034" y="4754461"/>
            <a:ext cx="28575" cy="883596"/>
            <a:chOff x="0" y="0"/>
            <a:chExt cx="38100" cy="1178128"/>
          </a:xfrm>
        </p:grpSpPr>
        <p:sp>
          <p:nvSpPr>
            <p:cNvPr name="Freeform 23" id="23"/>
            <p:cNvSpPr/>
            <p:nvPr/>
          </p:nvSpPr>
          <p:spPr>
            <a:xfrm flipH="false" flipV="false" rot="0">
              <a:off x="0" y="0"/>
              <a:ext cx="38100" cy="1178179"/>
            </a:xfrm>
            <a:custGeom>
              <a:avLst/>
              <a:gdLst/>
              <a:ahLst/>
              <a:cxnLst/>
              <a:rect r="r" b="b" t="t" l="l"/>
              <a:pathLst>
                <a:path h="1178179" w="38100">
                  <a:moveTo>
                    <a:pt x="0" y="19050"/>
                  </a:moveTo>
                  <a:cubicBezTo>
                    <a:pt x="0" y="8509"/>
                    <a:pt x="8509" y="0"/>
                    <a:pt x="19050" y="0"/>
                  </a:cubicBezTo>
                  <a:cubicBezTo>
                    <a:pt x="29591" y="0"/>
                    <a:pt x="38100" y="8509"/>
                    <a:pt x="38100" y="19050"/>
                  </a:cubicBezTo>
                  <a:lnTo>
                    <a:pt x="38100" y="1159129"/>
                  </a:lnTo>
                  <a:cubicBezTo>
                    <a:pt x="38100" y="1169670"/>
                    <a:pt x="29591" y="1178179"/>
                    <a:pt x="19050" y="1178179"/>
                  </a:cubicBezTo>
                  <a:cubicBezTo>
                    <a:pt x="8509" y="1178179"/>
                    <a:pt x="0" y="1169543"/>
                    <a:pt x="0" y="1159129"/>
                  </a:cubicBezTo>
                  <a:close/>
                </a:path>
              </a:pathLst>
            </a:custGeom>
            <a:solidFill>
              <a:srgbClr val="C8CACF"/>
            </a:solidFill>
          </p:spPr>
        </p:sp>
      </p:grpSp>
      <p:sp>
        <p:nvSpPr>
          <p:cNvPr name="TextBox 24" id="24"/>
          <p:cNvSpPr txBox="true"/>
          <p:nvPr/>
        </p:nvSpPr>
        <p:spPr>
          <a:xfrm rot="0">
            <a:off x="14391980" y="4992891"/>
            <a:ext cx="2646312"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Devices</a:t>
            </a:r>
          </a:p>
        </p:txBody>
      </p:sp>
      <p:sp>
        <p:nvSpPr>
          <p:cNvPr name="TextBox 25" id="25"/>
          <p:cNvSpPr txBox="true"/>
          <p:nvPr/>
        </p:nvSpPr>
        <p:spPr>
          <a:xfrm rot="0">
            <a:off x="7850238" y="5831386"/>
            <a:ext cx="9445523" cy="889102"/>
          </a:xfrm>
          <a:prstGeom prst="rect">
            <a:avLst/>
          </a:prstGeom>
        </p:spPr>
        <p:txBody>
          <a:bodyPr anchor="t" rtlCol="false" tIns="0" lIns="0" bIns="0" rIns="0">
            <a:spAutoFit/>
          </a:bodyPr>
          <a:lstStyle/>
          <a:p>
            <a:pPr algn="l">
              <a:lnSpc>
                <a:spcPts val="3125"/>
              </a:lnSpc>
            </a:pPr>
            <a:r>
              <a:rPr lang="en-US" sz="1937">
                <a:solidFill>
                  <a:srgbClr val="52586B"/>
                </a:solidFill>
                <a:latin typeface="Arimo"/>
                <a:ea typeface="Arimo"/>
                <a:cs typeface="Arimo"/>
                <a:sym typeface="Arimo"/>
              </a:rPr>
              <a:t>Surgery has invested enormously in the instruments in the surgeon's hands. Almost nothing in the surgeon as a human performer.</a:t>
            </a:r>
          </a:p>
        </p:txBody>
      </p:sp>
      <p:grpSp>
        <p:nvGrpSpPr>
          <p:cNvPr name="Group 26" id="26"/>
          <p:cNvGrpSpPr/>
          <p:nvPr/>
        </p:nvGrpSpPr>
        <p:grpSpPr>
          <a:xfrm rot="0">
            <a:off x="7850238" y="6999532"/>
            <a:ext cx="9445523" cy="1053998"/>
            <a:chOff x="0" y="0"/>
            <a:chExt cx="12594031" cy="1405331"/>
          </a:xfrm>
        </p:grpSpPr>
        <p:sp>
          <p:nvSpPr>
            <p:cNvPr name="Freeform 27" id="27"/>
            <p:cNvSpPr/>
            <p:nvPr/>
          </p:nvSpPr>
          <p:spPr>
            <a:xfrm flipH="false" flipV="false" rot="0">
              <a:off x="0" y="0"/>
              <a:ext cx="12594082" cy="1405382"/>
            </a:xfrm>
            <a:custGeom>
              <a:avLst/>
              <a:gdLst/>
              <a:ahLst/>
              <a:cxnLst/>
              <a:rect r="r" b="b" t="t" l="l"/>
              <a:pathLst>
                <a:path h="1405382" w="12594082">
                  <a:moveTo>
                    <a:pt x="0" y="138938"/>
                  </a:moveTo>
                  <a:cubicBezTo>
                    <a:pt x="0" y="62230"/>
                    <a:pt x="62230" y="0"/>
                    <a:pt x="138938" y="0"/>
                  </a:cubicBezTo>
                  <a:lnTo>
                    <a:pt x="12455144" y="0"/>
                  </a:lnTo>
                  <a:cubicBezTo>
                    <a:pt x="12531851" y="0"/>
                    <a:pt x="12594082" y="62230"/>
                    <a:pt x="12594082" y="138938"/>
                  </a:cubicBezTo>
                  <a:lnTo>
                    <a:pt x="12594082" y="1266444"/>
                  </a:lnTo>
                  <a:cubicBezTo>
                    <a:pt x="12594082" y="1343152"/>
                    <a:pt x="12531851" y="1405382"/>
                    <a:pt x="12455144" y="1405382"/>
                  </a:cubicBezTo>
                  <a:lnTo>
                    <a:pt x="138938" y="1405382"/>
                  </a:lnTo>
                  <a:cubicBezTo>
                    <a:pt x="62230" y="1405382"/>
                    <a:pt x="0" y="1343152"/>
                    <a:pt x="0" y="1266444"/>
                  </a:cubicBezTo>
                  <a:close/>
                </a:path>
              </a:pathLst>
            </a:custGeom>
            <a:solidFill>
              <a:srgbClr val="FFD1A7"/>
            </a:solidFill>
          </p:spPr>
        </p:sp>
      </p:grpSp>
      <p:sp>
        <p:nvSpPr>
          <p:cNvPr name="TextBox 28" id="28"/>
          <p:cNvSpPr txBox="true"/>
          <p:nvPr/>
        </p:nvSpPr>
        <p:spPr>
          <a:xfrm rot="0">
            <a:off x="8098184" y="7214149"/>
            <a:ext cx="8949633" cy="492176"/>
          </a:xfrm>
          <a:prstGeom prst="rect">
            <a:avLst/>
          </a:prstGeom>
        </p:spPr>
        <p:txBody>
          <a:bodyPr anchor="t" rtlCol="false" tIns="0" lIns="0" bIns="0" rIns="0">
            <a:spAutoFit/>
          </a:bodyPr>
          <a:lstStyle/>
          <a:p>
            <a:pPr algn="l">
              <a:lnSpc>
                <a:spcPts val="3125"/>
              </a:lnSpc>
            </a:pPr>
            <a:r>
              <a:rPr lang="en-US" sz="1937">
                <a:solidFill>
                  <a:srgbClr val="000000"/>
                </a:solidFill>
                <a:latin typeface="Arimo"/>
                <a:ea typeface="Arimo"/>
                <a:cs typeface="Arimo"/>
                <a:sym typeface="Arimo"/>
              </a:rPr>
              <a:t>The gap is system, culture, infrastructure, </a:t>
            </a:r>
            <a:r>
              <a:rPr lang="en-US" sz="1937" b="true">
                <a:solidFill>
                  <a:srgbClr val="373B48"/>
                </a:solidFill>
                <a:latin typeface="Arimo Bold"/>
                <a:ea typeface="Arimo Bold"/>
                <a:cs typeface="Arimo Bold"/>
                <a:sym typeface="Arimo Bold"/>
              </a:rPr>
              <a:t>and that can change now.</a:t>
            </a:r>
          </a:p>
        </p:txBody>
      </p:sp>
      <p:sp>
        <p:nvSpPr>
          <p:cNvPr name="TextBox 29" id="29"/>
          <p:cNvSpPr txBox="true"/>
          <p:nvPr/>
        </p:nvSpPr>
        <p:spPr>
          <a:xfrm rot="0">
            <a:off x="7850238" y="8237334"/>
            <a:ext cx="9445523" cy="492176"/>
          </a:xfrm>
          <a:prstGeom prst="rect">
            <a:avLst/>
          </a:prstGeom>
        </p:spPr>
        <p:txBody>
          <a:bodyPr anchor="t" rtlCol="false" tIns="0" lIns="0" bIns="0" rIns="0">
            <a:spAutoFit/>
          </a:bodyPr>
          <a:lstStyle/>
          <a:p>
            <a:pPr algn="l">
              <a:lnSpc>
                <a:spcPts val="3125"/>
              </a:lnSpc>
            </a:pPr>
            <a:r>
              <a:rPr lang="en-US" sz="1937" i="true">
                <a:solidFill>
                  <a:srgbClr val="52586B"/>
                </a:solidFill>
                <a:latin typeface="Arimo Italics"/>
                <a:ea typeface="Arimo Italics"/>
                <a:cs typeface="Arimo Italics"/>
                <a:sym typeface="Arimo Italics"/>
              </a:rPr>
              <a:t>Han et al. (2019) · Whelehan et al. (2021)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992238" y="1474146"/>
            <a:ext cx="8559108" cy="1126922"/>
          </a:xfrm>
          <a:prstGeom prst="rect">
            <a:avLst/>
          </a:prstGeom>
        </p:spPr>
        <p:txBody>
          <a:bodyPr anchor="t" rtlCol="false" tIns="0" lIns="0" bIns="0" rIns="0">
            <a:spAutoFit/>
          </a:bodyPr>
          <a:lstStyle/>
          <a:p>
            <a:pPr algn="l">
              <a:lnSpc>
                <a:spcPts val="8375"/>
              </a:lnSpc>
            </a:pPr>
            <a:r>
              <a:rPr lang="en-US" sz="6687" b="true">
                <a:solidFill>
                  <a:srgbClr val="373B48"/>
                </a:solidFill>
                <a:latin typeface="Arimo Bold"/>
                <a:ea typeface="Arimo Bold"/>
                <a:cs typeface="Arimo Bold"/>
                <a:sym typeface="Arimo Bold"/>
              </a:rPr>
              <a:t>The Paradigm Shift</a:t>
            </a:r>
          </a:p>
        </p:txBody>
      </p:sp>
      <p:grpSp>
        <p:nvGrpSpPr>
          <p:cNvPr name="Group 9" id="9"/>
          <p:cNvGrpSpPr/>
          <p:nvPr/>
        </p:nvGrpSpPr>
        <p:grpSpPr>
          <a:xfrm rot="0">
            <a:off x="813645" y="3649113"/>
            <a:ext cx="4777378" cy="4269429"/>
            <a:chOff x="0" y="0"/>
            <a:chExt cx="6369837" cy="5692572"/>
          </a:xfrm>
        </p:grpSpPr>
        <p:sp>
          <p:nvSpPr>
            <p:cNvPr name="Freeform 10" id="10"/>
            <p:cNvSpPr/>
            <p:nvPr/>
          </p:nvSpPr>
          <p:spPr>
            <a:xfrm flipH="false" flipV="false" rot="0">
              <a:off x="0" y="0"/>
              <a:ext cx="6369812" cy="5692521"/>
            </a:xfrm>
            <a:custGeom>
              <a:avLst/>
              <a:gdLst/>
              <a:ahLst/>
              <a:cxnLst/>
              <a:rect r="r" b="b" t="t" l="l"/>
              <a:pathLst>
                <a:path h="5692521" w="6369812">
                  <a:moveTo>
                    <a:pt x="0" y="238125"/>
                  </a:moveTo>
                  <a:cubicBezTo>
                    <a:pt x="0" y="106680"/>
                    <a:pt x="106680" y="0"/>
                    <a:pt x="238125" y="0"/>
                  </a:cubicBezTo>
                  <a:lnTo>
                    <a:pt x="6131687" y="0"/>
                  </a:lnTo>
                  <a:cubicBezTo>
                    <a:pt x="6263259" y="0"/>
                    <a:pt x="6369812" y="106680"/>
                    <a:pt x="6369812" y="238125"/>
                  </a:cubicBezTo>
                  <a:lnTo>
                    <a:pt x="6369812" y="5454396"/>
                  </a:lnTo>
                  <a:cubicBezTo>
                    <a:pt x="6369812" y="5585968"/>
                    <a:pt x="6263132" y="5692521"/>
                    <a:pt x="6131687" y="5692521"/>
                  </a:cubicBezTo>
                  <a:lnTo>
                    <a:pt x="238125" y="5692521"/>
                  </a:lnTo>
                  <a:cubicBezTo>
                    <a:pt x="106680" y="5692521"/>
                    <a:pt x="0" y="5585968"/>
                    <a:pt x="0" y="5454396"/>
                  </a:cubicBezTo>
                  <a:close/>
                </a:path>
              </a:pathLst>
            </a:custGeom>
            <a:solidFill>
              <a:srgbClr val="FFD1A7">
                <a:alpha val="90196"/>
              </a:srgbClr>
            </a:solidFill>
          </p:spPr>
        </p:sp>
      </p:grpSp>
      <p:sp>
        <p:nvSpPr>
          <p:cNvPr name="TextBox 11" id="11"/>
          <p:cNvSpPr txBox="true"/>
          <p:nvPr/>
        </p:nvSpPr>
        <p:spPr>
          <a:xfrm rot="0">
            <a:off x="1061590" y="3887543"/>
            <a:ext cx="3101130" cy="397221"/>
          </a:xfrm>
          <a:prstGeom prst="rect">
            <a:avLst/>
          </a:prstGeom>
        </p:spPr>
        <p:txBody>
          <a:bodyPr anchor="t" rtlCol="false" tIns="0" lIns="0" bIns="0" rIns="0">
            <a:spAutoFit/>
          </a:bodyPr>
          <a:lstStyle/>
          <a:p>
            <a:pPr algn="l">
              <a:lnSpc>
                <a:spcPts val="2999"/>
              </a:lnSpc>
            </a:pPr>
            <a:r>
              <a:rPr lang="en-US" sz="2437" b="true">
                <a:solidFill>
                  <a:srgbClr val="373B48"/>
                </a:solidFill>
                <a:latin typeface="Arimo Bold"/>
                <a:ea typeface="Arimo Bold"/>
                <a:cs typeface="Arimo Bold"/>
                <a:sym typeface="Arimo Bold"/>
              </a:rPr>
              <a:t>FROM</a:t>
            </a:r>
          </a:p>
        </p:txBody>
      </p:sp>
      <p:sp>
        <p:nvSpPr>
          <p:cNvPr name="TextBox 12" id="12"/>
          <p:cNvSpPr txBox="true"/>
          <p:nvPr/>
        </p:nvSpPr>
        <p:spPr>
          <a:xfrm rot="0">
            <a:off x="1061590" y="4437459"/>
            <a:ext cx="4281488" cy="3394319"/>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000000"/>
                </a:solidFill>
                <a:latin typeface="Arimo"/>
                <a:ea typeface="Arimo"/>
                <a:cs typeface="Arimo"/>
                <a:sym typeface="Arimo"/>
              </a:rPr>
              <a:t>Endurance as identity</a:t>
            </a:r>
          </a:p>
          <a:p>
            <a:pPr algn="l" marL="292199" indent="-146100" lvl="1">
              <a:lnSpc>
                <a:spcPts val="3125"/>
              </a:lnSpc>
              <a:buFont typeface="Arial"/>
              <a:buChar char="•"/>
            </a:pPr>
            <a:r>
              <a:rPr lang="en-US" sz="1937">
                <a:solidFill>
                  <a:srgbClr val="000000"/>
                </a:solidFill>
                <a:latin typeface="Arimo"/>
                <a:ea typeface="Arimo"/>
                <a:cs typeface="Arimo"/>
                <a:sym typeface="Arimo"/>
              </a:rPr>
              <a:t>Self-sacrifice as professionalism</a:t>
            </a:r>
          </a:p>
          <a:p>
            <a:pPr algn="l" marL="292199" indent="-146100" lvl="1">
              <a:lnSpc>
                <a:spcPts val="3125"/>
              </a:lnSpc>
              <a:buFont typeface="Arial"/>
              <a:buChar char="•"/>
            </a:pPr>
            <a:r>
              <a:rPr lang="en-US" sz="1937">
                <a:solidFill>
                  <a:srgbClr val="000000"/>
                </a:solidFill>
                <a:latin typeface="Arimo"/>
                <a:ea typeface="Arimo"/>
                <a:cs typeface="Arimo"/>
                <a:sym typeface="Arimo"/>
              </a:rPr>
              <a:t>Fatigue as a badge of honour</a:t>
            </a:r>
          </a:p>
          <a:p>
            <a:pPr algn="l" marL="292199" indent="-146100" lvl="1">
              <a:lnSpc>
                <a:spcPts val="3125"/>
              </a:lnSpc>
              <a:buFont typeface="Arial"/>
              <a:buChar char="•"/>
            </a:pPr>
            <a:r>
              <a:rPr lang="en-US" sz="1937">
                <a:solidFill>
                  <a:srgbClr val="000000"/>
                </a:solidFill>
                <a:latin typeface="Arimo"/>
                <a:ea typeface="Arimo"/>
                <a:cs typeface="Arimo"/>
                <a:sym typeface="Arimo"/>
              </a:rPr>
              <a:t>Results as a byproduct of volume</a:t>
            </a:r>
          </a:p>
          <a:p>
            <a:pPr algn="l" marL="292199" indent="-146100" lvl="1">
              <a:lnSpc>
                <a:spcPts val="3125"/>
              </a:lnSpc>
              <a:buFont typeface="Arial"/>
              <a:buChar char="•"/>
            </a:pPr>
            <a:r>
              <a:rPr lang="en-US" sz="1937">
                <a:solidFill>
                  <a:srgbClr val="000000"/>
                </a:solidFill>
                <a:latin typeface="Arimo"/>
                <a:ea typeface="Arimo"/>
                <a:cs typeface="Arimo"/>
                <a:sym typeface="Arimo"/>
              </a:rPr>
              <a:t>Self-care as indulgence</a:t>
            </a:r>
          </a:p>
          <a:p>
            <a:pPr algn="l" marL="292199" indent="-146100" lvl="1">
              <a:lnSpc>
                <a:spcPts val="3125"/>
              </a:lnSpc>
              <a:buFont typeface="Arial"/>
              <a:buChar char="•"/>
            </a:pPr>
            <a:r>
              <a:rPr lang="en-US" sz="1937">
                <a:solidFill>
                  <a:srgbClr val="000000"/>
                </a:solidFill>
                <a:latin typeface="Arimo"/>
                <a:ea typeface="Arimo"/>
                <a:cs typeface="Arimo"/>
                <a:sym typeface="Arimo"/>
              </a:rPr>
              <a:t>Struggling in silence as strength</a:t>
            </a:r>
          </a:p>
          <a:p>
            <a:pPr algn="l" marL="292199" indent="-146100" lvl="1">
              <a:lnSpc>
                <a:spcPts val="3125"/>
              </a:lnSpc>
              <a:buFont typeface="Arial"/>
              <a:buChar char="•"/>
            </a:pPr>
            <a:r>
              <a:rPr lang="en-US" sz="1937">
                <a:solidFill>
                  <a:srgbClr val="000000"/>
                </a:solidFill>
                <a:latin typeface="Arimo"/>
                <a:ea typeface="Arimo"/>
                <a:cs typeface="Arimo"/>
                <a:sym typeface="Arimo"/>
              </a:rPr>
              <a:t>Recovery as weakness</a:t>
            </a:r>
          </a:p>
        </p:txBody>
      </p:sp>
      <p:grpSp>
        <p:nvGrpSpPr>
          <p:cNvPr name="Group 13" id="13"/>
          <p:cNvGrpSpPr/>
          <p:nvPr/>
        </p:nvGrpSpPr>
        <p:grpSpPr>
          <a:xfrm rot="0">
            <a:off x="5848502" y="3649113"/>
            <a:ext cx="4777378" cy="4269429"/>
            <a:chOff x="0" y="0"/>
            <a:chExt cx="6369837" cy="5692572"/>
          </a:xfrm>
        </p:grpSpPr>
        <p:sp>
          <p:nvSpPr>
            <p:cNvPr name="Freeform 14" id="14"/>
            <p:cNvSpPr/>
            <p:nvPr/>
          </p:nvSpPr>
          <p:spPr>
            <a:xfrm flipH="false" flipV="false" rot="0">
              <a:off x="0" y="0"/>
              <a:ext cx="6369812" cy="5692521"/>
            </a:xfrm>
            <a:custGeom>
              <a:avLst/>
              <a:gdLst/>
              <a:ahLst/>
              <a:cxnLst/>
              <a:rect r="r" b="b" t="t" l="l"/>
              <a:pathLst>
                <a:path h="5692521" w="6369812">
                  <a:moveTo>
                    <a:pt x="0" y="238125"/>
                  </a:moveTo>
                  <a:cubicBezTo>
                    <a:pt x="0" y="106680"/>
                    <a:pt x="106680" y="0"/>
                    <a:pt x="238125" y="0"/>
                  </a:cubicBezTo>
                  <a:lnTo>
                    <a:pt x="6131687" y="0"/>
                  </a:lnTo>
                  <a:cubicBezTo>
                    <a:pt x="6263259" y="0"/>
                    <a:pt x="6369812" y="106680"/>
                    <a:pt x="6369812" y="238125"/>
                  </a:cubicBezTo>
                  <a:lnTo>
                    <a:pt x="6369812" y="5454396"/>
                  </a:lnTo>
                  <a:cubicBezTo>
                    <a:pt x="6369812" y="5585968"/>
                    <a:pt x="6263132" y="5692521"/>
                    <a:pt x="6131687" y="5692521"/>
                  </a:cubicBezTo>
                  <a:lnTo>
                    <a:pt x="238125" y="5692521"/>
                  </a:lnTo>
                  <a:cubicBezTo>
                    <a:pt x="106680" y="5692521"/>
                    <a:pt x="0" y="5585968"/>
                    <a:pt x="0" y="5454396"/>
                  </a:cubicBezTo>
                  <a:close/>
                </a:path>
              </a:pathLst>
            </a:custGeom>
            <a:solidFill>
              <a:srgbClr val="FFFFFF">
                <a:alpha val="90196"/>
              </a:srgbClr>
            </a:solidFill>
          </p:spPr>
        </p:sp>
      </p:grpSp>
      <p:sp>
        <p:nvSpPr>
          <p:cNvPr name="TextBox 15" id="15"/>
          <p:cNvSpPr txBox="true"/>
          <p:nvPr/>
        </p:nvSpPr>
        <p:spPr>
          <a:xfrm rot="0">
            <a:off x="6096448" y="3887543"/>
            <a:ext cx="3101130" cy="397221"/>
          </a:xfrm>
          <a:prstGeom prst="rect">
            <a:avLst/>
          </a:prstGeom>
        </p:spPr>
        <p:txBody>
          <a:bodyPr anchor="t" rtlCol="false" tIns="0" lIns="0" bIns="0" rIns="0">
            <a:spAutoFit/>
          </a:bodyPr>
          <a:lstStyle/>
          <a:p>
            <a:pPr algn="l">
              <a:lnSpc>
                <a:spcPts val="2999"/>
              </a:lnSpc>
            </a:pPr>
            <a:r>
              <a:rPr lang="en-US" sz="2437" b="true">
                <a:solidFill>
                  <a:srgbClr val="373B48"/>
                </a:solidFill>
                <a:latin typeface="Arimo Bold"/>
                <a:ea typeface="Arimo Bold"/>
                <a:cs typeface="Arimo Bold"/>
                <a:sym typeface="Arimo Bold"/>
              </a:rPr>
              <a:t>TO</a:t>
            </a:r>
          </a:p>
        </p:txBody>
      </p:sp>
      <p:sp>
        <p:nvSpPr>
          <p:cNvPr name="TextBox 16" id="16"/>
          <p:cNvSpPr txBox="true"/>
          <p:nvPr/>
        </p:nvSpPr>
        <p:spPr>
          <a:xfrm rot="0">
            <a:off x="6096448" y="4437459"/>
            <a:ext cx="4281488" cy="3394319"/>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52586B"/>
                </a:solidFill>
                <a:latin typeface="Arimo"/>
                <a:ea typeface="Arimo"/>
                <a:cs typeface="Arimo"/>
                <a:sym typeface="Arimo"/>
              </a:rPr>
              <a:t>Readiness as a standard</a:t>
            </a:r>
          </a:p>
          <a:p>
            <a:pPr algn="l" marL="292199" indent="-146100" lvl="1">
              <a:lnSpc>
                <a:spcPts val="3125"/>
              </a:lnSpc>
              <a:buFont typeface="Arial"/>
              <a:buChar char="•"/>
            </a:pPr>
            <a:r>
              <a:rPr lang="en-US" sz="1937">
                <a:solidFill>
                  <a:srgbClr val="52586B"/>
                </a:solidFill>
                <a:latin typeface="Arimo"/>
                <a:ea typeface="Arimo"/>
                <a:cs typeface="Arimo"/>
                <a:sym typeface="Arimo"/>
              </a:rPr>
              <a:t>Performance as a managed system</a:t>
            </a:r>
          </a:p>
          <a:p>
            <a:pPr algn="l" marL="292199" indent="-146100" lvl="1">
              <a:lnSpc>
                <a:spcPts val="3125"/>
              </a:lnSpc>
              <a:buFont typeface="Arial"/>
              <a:buChar char="•"/>
            </a:pPr>
            <a:r>
              <a:rPr lang="en-US" sz="1937">
                <a:solidFill>
                  <a:srgbClr val="52586B"/>
                </a:solidFill>
                <a:latin typeface="Arimo"/>
                <a:ea typeface="Arimo"/>
                <a:cs typeface="Arimo"/>
                <a:sym typeface="Arimo"/>
              </a:rPr>
              <a:t>Fatigue as a measurable variable</a:t>
            </a:r>
          </a:p>
          <a:p>
            <a:pPr algn="l" marL="292199" indent="-146100" lvl="1">
              <a:lnSpc>
                <a:spcPts val="3125"/>
              </a:lnSpc>
              <a:buFont typeface="Arial"/>
              <a:buChar char="•"/>
            </a:pPr>
            <a:r>
              <a:rPr lang="en-US" sz="1937">
                <a:solidFill>
                  <a:srgbClr val="52586B"/>
                </a:solidFill>
                <a:latin typeface="Arimo"/>
                <a:ea typeface="Arimo"/>
                <a:cs typeface="Arimo"/>
                <a:sym typeface="Arimo"/>
              </a:rPr>
              <a:t>Deliberate practice over volume</a:t>
            </a:r>
          </a:p>
          <a:p>
            <a:pPr algn="l" marL="292199" indent="-146100" lvl="1">
              <a:lnSpc>
                <a:spcPts val="3125"/>
              </a:lnSpc>
              <a:buFont typeface="Arial"/>
              <a:buChar char="•"/>
            </a:pPr>
            <a:r>
              <a:rPr lang="en-US" sz="1937">
                <a:solidFill>
                  <a:srgbClr val="52586B"/>
                </a:solidFill>
                <a:latin typeface="Arimo"/>
                <a:ea typeface="Arimo"/>
                <a:cs typeface="Arimo"/>
                <a:sym typeface="Arimo"/>
              </a:rPr>
              <a:t>Recovery as a clinical imperative</a:t>
            </a:r>
          </a:p>
          <a:p>
            <a:pPr algn="l" marL="292199" indent="-146100" lvl="1">
              <a:lnSpc>
                <a:spcPts val="3125"/>
              </a:lnSpc>
              <a:buFont typeface="Arial"/>
              <a:buChar char="•"/>
            </a:pPr>
            <a:r>
              <a:rPr lang="en-US" sz="1937">
                <a:solidFill>
                  <a:srgbClr val="52586B"/>
                </a:solidFill>
                <a:latin typeface="Arimo"/>
                <a:ea typeface="Arimo"/>
                <a:cs typeface="Arimo"/>
                <a:sym typeface="Arimo"/>
              </a:rPr>
              <a:t>Coaching as infrastructure</a:t>
            </a:r>
          </a:p>
          <a:p>
            <a:pPr algn="l" marL="292199" indent="-146100" lvl="1">
              <a:lnSpc>
                <a:spcPts val="3125"/>
              </a:lnSpc>
              <a:buFont typeface="Arial"/>
              <a:buChar char="•"/>
            </a:pPr>
            <a:r>
              <a:rPr lang="en-US" sz="1937">
                <a:solidFill>
                  <a:srgbClr val="52586B"/>
                </a:solidFill>
                <a:latin typeface="Arimo"/>
                <a:ea typeface="Arimo"/>
                <a:cs typeface="Arimo"/>
                <a:sym typeface="Arimo"/>
              </a:rPr>
              <a:t>Sustainability across a career</a:t>
            </a:r>
          </a:p>
        </p:txBody>
      </p:sp>
      <p:sp>
        <p:nvSpPr>
          <p:cNvPr name="TextBox 17" id="17"/>
          <p:cNvSpPr txBox="true"/>
          <p:nvPr/>
        </p:nvSpPr>
        <p:spPr>
          <a:xfrm rot="0">
            <a:off x="992238" y="8262042"/>
            <a:ext cx="9328252" cy="493662"/>
          </a:xfrm>
          <a:prstGeom prst="rect">
            <a:avLst/>
          </a:prstGeom>
        </p:spPr>
        <p:txBody>
          <a:bodyPr anchor="t" rtlCol="false" tIns="0" lIns="0" bIns="0" rIns="0">
            <a:spAutoFit/>
          </a:bodyPr>
          <a:lstStyle/>
          <a:p>
            <a:pPr algn="l">
              <a:lnSpc>
                <a:spcPts val="3625"/>
              </a:lnSpc>
            </a:pPr>
            <a:r>
              <a:rPr lang="en-US" sz="2874" b="true">
                <a:solidFill>
                  <a:srgbClr val="484E5F"/>
                </a:solidFill>
                <a:latin typeface="Arimo Bold"/>
                <a:ea typeface="Arimo Bold"/>
                <a:cs typeface="Arimo Bold"/>
                <a:sym typeface="Arimo Bold"/>
              </a:rPr>
              <a:t>Excellence isn't what you endure, it is what you build.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338087"/>
            <a:ext cx="5469582" cy="817562"/>
          </a:xfrm>
          <a:prstGeom prst="rect">
            <a:avLst/>
          </a:prstGeom>
        </p:spPr>
        <p:txBody>
          <a:bodyPr anchor="t" rtlCol="false" tIns="0" lIns="0" bIns="0" rIns="0">
            <a:spAutoFit/>
          </a:bodyPr>
          <a:lstStyle/>
          <a:p>
            <a:pPr algn="l">
              <a:lnSpc>
                <a:spcPts val="6312"/>
              </a:lnSpc>
            </a:pPr>
            <a:r>
              <a:rPr lang="en-US" sz="4999" b="true">
                <a:solidFill>
                  <a:srgbClr val="373B48"/>
                </a:solidFill>
                <a:latin typeface="Arimo Bold"/>
                <a:ea typeface="Arimo Bold"/>
                <a:cs typeface="Arimo Bold"/>
                <a:sym typeface="Arimo Bold"/>
              </a:rPr>
              <a:t>The Reality Check</a:t>
            </a:r>
          </a:p>
        </p:txBody>
      </p:sp>
      <p:grpSp>
        <p:nvGrpSpPr>
          <p:cNvPr name="Group 9" id="9"/>
          <p:cNvGrpSpPr/>
          <p:nvPr/>
        </p:nvGrpSpPr>
        <p:grpSpPr>
          <a:xfrm rot="0">
            <a:off x="7845476" y="1689049"/>
            <a:ext cx="4662488" cy="1900390"/>
            <a:chOff x="0" y="0"/>
            <a:chExt cx="6216650" cy="2533853"/>
          </a:xfrm>
        </p:grpSpPr>
        <p:sp>
          <p:nvSpPr>
            <p:cNvPr name="Freeform 10" id="10"/>
            <p:cNvSpPr/>
            <p:nvPr/>
          </p:nvSpPr>
          <p:spPr>
            <a:xfrm flipH="false" flipV="false" rot="0">
              <a:off x="6350" y="6350"/>
              <a:ext cx="6203950" cy="2521077"/>
            </a:xfrm>
            <a:custGeom>
              <a:avLst/>
              <a:gdLst/>
              <a:ahLst/>
              <a:cxnLst/>
              <a:rect r="r" b="b" t="t" l="l"/>
              <a:pathLst>
                <a:path h="2521077" w="6203950">
                  <a:moveTo>
                    <a:pt x="0" y="104140"/>
                  </a:moveTo>
                  <a:cubicBezTo>
                    <a:pt x="0" y="46609"/>
                    <a:pt x="46736" y="0"/>
                    <a:pt x="104521" y="0"/>
                  </a:cubicBezTo>
                  <a:lnTo>
                    <a:pt x="6099429" y="0"/>
                  </a:lnTo>
                  <a:cubicBezTo>
                    <a:pt x="6157214" y="0"/>
                    <a:pt x="6203950" y="46609"/>
                    <a:pt x="6203950" y="104140"/>
                  </a:cubicBezTo>
                  <a:lnTo>
                    <a:pt x="6203950" y="2416937"/>
                  </a:lnTo>
                  <a:cubicBezTo>
                    <a:pt x="6203950" y="2474468"/>
                    <a:pt x="6157214" y="2521077"/>
                    <a:pt x="6099429" y="2521077"/>
                  </a:cubicBezTo>
                  <a:lnTo>
                    <a:pt x="104521" y="2521077"/>
                  </a:lnTo>
                  <a:cubicBezTo>
                    <a:pt x="46863" y="2521077"/>
                    <a:pt x="0" y="2474468"/>
                    <a:pt x="0" y="2416937"/>
                  </a:cubicBezTo>
                  <a:close/>
                </a:path>
              </a:pathLst>
            </a:custGeom>
            <a:solidFill>
              <a:srgbClr val="E2E4E9"/>
            </a:solidFill>
          </p:spPr>
        </p:sp>
        <p:sp>
          <p:nvSpPr>
            <p:cNvPr name="Freeform 11" id="11"/>
            <p:cNvSpPr/>
            <p:nvPr/>
          </p:nvSpPr>
          <p:spPr>
            <a:xfrm flipH="false" flipV="false" rot="0">
              <a:off x="0" y="0"/>
              <a:ext cx="6216650" cy="2533777"/>
            </a:xfrm>
            <a:custGeom>
              <a:avLst/>
              <a:gdLst/>
              <a:ahLst/>
              <a:cxnLst/>
              <a:rect r="r" b="b" t="t" l="l"/>
              <a:pathLst>
                <a:path h="2533777" w="6216650">
                  <a:moveTo>
                    <a:pt x="0" y="110490"/>
                  </a:moveTo>
                  <a:cubicBezTo>
                    <a:pt x="0" y="49530"/>
                    <a:pt x="49657" y="0"/>
                    <a:pt x="110871" y="0"/>
                  </a:cubicBezTo>
                  <a:lnTo>
                    <a:pt x="6105779" y="0"/>
                  </a:lnTo>
                  <a:lnTo>
                    <a:pt x="6105779" y="6350"/>
                  </a:lnTo>
                  <a:lnTo>
                    <a:pt x="6105779" y="0"/>
                  </a:lnTo>
                  <a:cubicBezTo>
                    <a:pt x="6166993" y="0"/>
                    <a:pt x="6216650" y="49530"/>
                    <a:pt x="6216650" y="110490"/>
                  </a:cubicBezTo>
                  <a:lnTo>
                    <a:pt x="6210300" y="110490"/>
                  </a:lnTo>
                  <a:lnTo>
                    <a:pt x="6216650" y="110490"/>
                  </a:lnTo>
                  <a:lnTo>
                    <a:pt x="6216650" y="2423287"/>
                  </a:lnTo>
                  <a:lnTo>
                    <a:pt x="6210300" y="2423287"/>
                  </a:lnTo>
                  <a:lnTo>
                    <a:pt x="6216650" y="2423287"/>
                  </a:lnTo>
                  <a:cubicBezTo>
                    <a:pt x="6216650" y="2484374"/>
                    <a:pt x="6166993" y="2533777"/>
                    <a:pt x="6105779" y="2533777"/>
                  </a:cubicBezTo>
                  <a:lnTo>
                    <a:pt x="6105779" y="2527427"/>
                  </a:lnTo>
                  <a:lnTo>
                    <a:pt x="6105779" y="2533777"/>
                  </a:lnTo>
                  <a:lnTo>
                    <a:pt x="110871" y="2533777"/>
                  </a:lnTo>
                  <a:lnTo>
                    <a:pt x="110871" y="2527427"/>
                  </a:lnTo>
                  <a:lnTo>
                    <a:pt x="110871" y="2533777"/>
                  </a:lnTo>
                  <a:cubicBezTo>
                    <a:pt x="49657" y="2533777"/>
                    <a:pt x="0" y="2484247"/>
                    <a:pt x="0" y="2423287"/>
                  </a:cubicBezTo>
                  <a:lnTo>
                    <a:pt x="0" y="110490"/>
                  </a:lnTo>
                  <a:lnTo>
                    <a:pt x="6350" y="110490"/>
                  </a:lnTo>
                  <a:lnTo>
                    <a:pt x="0" y="110490"/>
                  </a:lnTo>
                  <a:moveTo>
                    <a:pt x="12700" y="110490"/>
                  </a:moveTo>
                  <a:lnTo>
                    <a:pt x="12700" y="2423287"/>
                  </a:lnTo>
                  <a:lnTo>
                    <a:pt x="6350" y="2423287"/>
                  </a:lnTo>
                  <a:lnTo>
                    <a:pt x="12700" y="2423287"/>
                  </a:lnTo>
                  <a:cubicBezTo>
                    <a:pt x="12700" y="2477262"/>
                    <a:pt x="56642" y="2521077"/>
                    <a:pt x="110871" y="2521077"/>
                  </a:cubicBezTo>
                  <a:lnTo>
                    <a:pt x="6105779" y="2521077"/>
                  </a:lnTo>
                  <a:cubicBezTo>
                    <a:pt x="6160008" y="2521077"/>
                    <a:pt x="6203950" y="2477262"/>
                    <a:pt x="6203950" y="2423287"/>
                  </a:cubicBezTo>
                  <a:lnTo>
                    <a:pt x="6203950" y="110490"/>
                  </a:lnTo>
                  <a:cubicBezTo>
                    <a:pt x="6203950" y="56515"/>
                    <a:pt x="6160008" y="12700"/>
                    <a:pt x="6105779" y="12700"/>
                  </a:cubicBezTo>
                  <a:lnTo>
                    <a:pt x="110871" y="12700"/>
                  </a:lnTo>
                  <a:lnTo>
                    <a:pt x="110871" y="6350"/>
                  </a:lnTo>
                  <a:lnTo>
                    <a:pt x="110871" y="12700"/>
                  </a:lnTo>
                  <a:cubicBezTo>
                    <a:pt x="56642" y="12700"/>
                    <a:pt x="12700" y="56515"/>
                    <a:pt x="12700" y="110490"/>
                  </a:cubicBezTo>
                  <a:close/>
                </a:path>
              </a:pathLst>
            </a:custGeom>
            <a:solidFill>
              <a:srgbClr val="C8CACF"/>
            </a:solidFill>
          </p:spPr>
        </p:sp>
      </p:grpSp>
      <p:sp>
        <p:nvSpPr>
          <p:cNvPr name="TextBox 12" id="12"/>
          <p:cNvSpPr txBox="true"/>
          <p:nvPr/>
        </p:nvSpPr>
        <p:spPr>
          <a:xfrm rot="0">
            <a:off x="8045796" y="1860794"/>
            <a:ext cx="2325738" cy="319240"/>
          </a:xfrm>
          <a:prstGeom prst="rect">
            <a:avLst/>
          </a:prstGeom>
        </p:spPr>
        <p:txBody>
          <a:bodyPr anchor="t" rtlCol="false" tIns="0" lIns="0" bIns="0" rIns="0">
            <a:spAutoFit/>
          </a:bodyPr>
          <a:lstStyle/>
          <a:p>
            <a:pPr algn="l">
              <a:lnSpc>
                <a:spcPts val="2249"/>
              </a:lnSpc>
            </a:pPr>
            <a:r>
              <a:rPr lang="en-US" sz="1812" b="true">
                <a:solidFill>
                  <a:srgbClr val="52586B"/>
                </a:solidFill>
                <a:latin typeface="Arimo Bold"/>
                <a:ea typeface="Arimo Bold"/>
                <a:cs typeface="Arimo Bold"/>
                <a:sym typeface="Arimo Bold"/>
              </a:rPr>
              <a:t>F1 Driver</a:t>
            </a:r>
          </a:p>
        </p:txBody>
      </p:sp>
      <p:sp>
        <p:nvSpPr>
          <p:cNvPr name="TextBox 13" id="13"/>
          <p:cNvSpPr txBox="true"/>
          <p:nvPr/>
        </p:nvSpPr>
        <p:spPr>
          <a:xfrm rot="0">
            <a:off x="8045796" y="2235098"/>
            <a:ext cx="4261847"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Demands:</a:t>
            </a:r>
            <a:r>
              <a:rPr lang="en-US" sz="1437">
                <a:solidFill>
                  <a:srgbClr val="52586B"/>
                </a:solidFill>
                <a:latin typeface="Arimo"/>
                <a:ea typeface="Arimo"/>
                <a:cs typeface="Arimo"/>
                <a:sym typeface="Arimo"/>
              </a:rPr>
              <a:t> Split-second decisions. Sustained precision. Physical/ cognitive peak under pressure. </a:t>
            </a:r>
          </a:p>
        </p:txBody>
      </p:sp>
      <p:sp>
        <p:nvSpPr>
          <p:cNvPr name="TextBox 14" id="14"/>
          <p:cNvSpPr txBox="true"/>
          <p:nvPr/>
        </p:nvSpPr>
        <p:spPr>
          <a:xfrm rot="0">
            <a:off x="8045796" y="2839641"/>
            <a:ext cx="4261847"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System:</a:t>
            </a:r>
            <a:r>
              <a:rPr lang="en-US" sz="1437">
                <a:solidFill>
                  <a:srgbClr val="52586B"/>
                </a:solidFill>
                <a:latin typeface="Arimo"/>
                <a:ea typeface="Arimo"/>
                <a:cs typeface="Arimo"/>
                <a:sym typeface="Arimo"/>
              </a:rPr>
              <a:t> Performance engineers. Physiologists. Psychologists. Biometrics. Simulation. Recovery.</a:t>
            </a:r>
          </a:p>
        </p:txBody>
      </p:sp>
      <p:grpSp>
        <p:nvGrpSpPr>
          <p:cNvPr name="Group 15" id="15"/>
          <p:cNvGrpSpPr/>
          <p:nvPr/>
        </p:nvGrpSpPr>
        <p:grpSpPr>
          <a:xfrm rot="0">
            <a:off x="12637884" y="1689049"/>
            <a:ext cx="4662640" cy="1900390"/>
            <a:chOff x="0" y="0"/>
            <a:chExt cx="6216853" cy="2533853"/>
          </a:xfrm>
        </p:grpSpPr>
        <p:sp>
          <p:nvSpPr>
            <p:cNvPr name="Freeform 16" id="16"/>
            <p:cNvSpPr/>
            <p:nvPr/>
          </p:nvSpPr>
          <p:spPr>
            <a:xfrm flipH="false" flipV="false" rot="0">
              <a:off x="6350" y="6350"/>
              <a:ext cx="6204204" cy="2521077"/>
            </a:xfrm>
            <a:custGeom>
              <a:avLst/>
              <a:gdLst/>
              <a:ahLst/>
              <a:cxnLst/>
              <a:rect r="r" b="b" t="t" l="l"/>
              <a:pathLst>
                <a:path h="2521077" w="6204204">
                  <a:moveTo>
                    <a:pt x="0" y="104140"/>
                  </a:moveTo>
                  <a:cubicBezTo>
                    <a:pt x="0" y="46609"/>
                    <a:pt x="46736" y="0"/>
                    <a:pt x="104521" y="0"/>
                  </a:cubicBezTo>
                  <a:lnTo>
                    <a:pt x="6099683" y="0"/>
                  </a:lnTo>
                  <a:cubicBezTo>
                    <a:pt x="6157341" y="0"/>
                    <a:pt x="6204204" y="46609"/>
                    <a:pt x="6204204" y="104140"/>
                  </a:cubicBezTo>
                  <a:lnTo>
                    <a:pt x="6204204" y="2416937"/>
                  </a:lnTo>
                  <a:cubicBezTo>
                    <a:pt x="6204204" y="2474468"/>
                    <a:pt x="6157468" y="2521077"/>
                    <a:pt x="6099683" y="2521077"/>
                  </a:cubicBezTo>
                  <a:lnTo>
                    <a:pt x="104521" y="2521077"/>
                  </a:lnTo>
                  <a:cubicBezTo>
                    <a:pt x="46863" y="2521077"/>
                    <a:pt x="0" y="2474468"/>
                    <a:pt x="0" y="2416937"/>
                  </a:cubicBezTo>
                  <a:close/>
                </a:path>
              </a:pathLst>
            </a:custGeom>
            <a:solidFill>
              <a:srgbClr val="E2E4E9"/>
            </a:solidFill>
          </p:spPr>
        </p:sp>
        <p:sp>
          <p:nvSpPr>
            <p:cNvPr name="Freeform 17" id="17"/>
            <p:cNvSpPr/>
            <p:nvPr/>
          </p:nvSpPr>
          <p:spPr>
            <a:xfrm flipH="false" flipV="false" rot="0">
              <a:off x="0" y="0"/>
              <a:ext cx="6216904" cy="2533777"/>
            </a:xfrm>
            <a:custGeom>
              <a:avLst/>
              <a:gdLst/>
              <a:ahLst/>
              <a:cxnLst/>
              <a:rect r="r" b="b" t="t" l="l"/>
              <a:pathLst>
                <a:path h="2533777" w="6216904">
                  <a:moveTo>
                    <a:pt x="0" y="110490"/>
                  </a:moveTo>
                  <a:cubicBezTo>
                    <a:pt x="0" y="49530"/>
                    <a:pt x="49657" y="0"/>
                    <a:pt x="110871" y="0"/>
                  </a:cubicBezTo>
                  <a:lnTo>
                    <a:pt x="6106033" y="0"/>
                  </a:lnTo>
                  <a:lnTo>
                    <a:pt x="6106033" y="6350"/>
                  </a:lnTo>
                  <a:lnTo>
                    <a:pt x="6106033" y="0"/>
                  </a:lnTo>
                  <a:cubicBezTo>
                    <a:pt x="6167247" y="0"/>
                    <a:pt x="6216904" y="49530"/>
                    <a:pt x="6216904" y="110490"/>
                  </a:cubicBezTo>
                  <a:lnTo>
                    <a:pt x="6210554" y="110490"/>
                  </a:lnTo>
                  <a:lnTo>
                    <a:pt x="6216904" y="110490"/>
                  </a:lnTo>
                  <a:lnTo>
                    <a:pt x="6216904" y="2423287"/>
                  </a:lnTo>
                  <a:lnTo>
                    <a:pt x="6210554" y="2423287"/>
                  </a:lnTo>
                  <a:lnTo>
                    <a:pt x="6216904" y="2423287"/>
                  </a:lnTo>
                  <a:cubicBezTo>
                    <a:pt x="6216904" y="2484374"/>
                    <a:pt x="6167247" y="2533777"/>
                    <a:pt x="6106033" y="2533777"/>
                  </a:cubicBezTo>
                  <a:lnTo>
                    <a:pt x="6106033" y="2527427"/>
                  </a:lnTo>
                  <a:lnTo>
                    <a:pt x="6106033" y="2533777"/>
                  </a:lnTo>
                  <a:lnTo>
                    <a:pt x="110871" y="2533777"/>
                  </a:lnTo>
                  <a:lnTo>
                    <a:pt x="110871" y="2527427"/>
                  </a:lnTo>
                  <a:lnTo>
                    <a:pt x="110871" y="2533777"/>
                  </a:lnTo>
                  <a:cubicBezTo>
                    <a:pt x="49657" y="2533777"/>
                    <a:pt x="0" y="2484247"/>
                    <a:pt x="0" y="2423287"/>
                  </a:cubicBezTo>
                  <a:lnTo>
                    <a:pt x="0" y="110490"/>
                  </a:lnTo>
                  <a:lnTo>
                    <a:pt x="6350" y="110490"/>
                  </a:lnTo>
                  <a:lnTo>
                    <a:pt x="0" y="110490"/>
                  </a:lnTo>
                  <a:moveTo>
                    <a:pt x="12700" y="110490"/>
                  </a:moveTo>
                  <a:lnTo>
                    <a:pt x="12700" y="2423287"/>
                  </a:lnTo>
                  <a:lnTo>
                    <a:pt x="6350" y="2423287"/>
                  </a:lnTo>
                  <a:lnTo>
                    <a:pt x="12700" y="2423287"/>
                  </a:lnTo>
                  <a:cubicBezTo>
                    <a:pt x="12700" y="2477262"/>
                    <a:pt x="56642" y="2521077"/>
                    <a:pt x="110871" y="2521077"/>
                  </a:cubicBezTo>
                  <a:lnTo>
                    <a:pt x="6106033" y="2521077"/>
                  </a:lnTo>
                  <a:cubicBezTo>
                    <a:pt x="6160262" y="2521077"/>
                    <a:pt x="6204204" y="2477262"/>
                    <a:pt x="6204204" y="2423287"/>
                  </a:cubicBezTo>
                  <a:lnTo>
                    <a:pt x="6204204" y="110490"/>
                  </a:lnTo>
                  <a:cubicBezTo>
                    <a:pt x="6204204" y="56515"/>
                    <a:pt x="6160262" y="12700"/>
                    <a:pt x="6106033" y="12700"/>
                  </a:cubicBezTo>
                  <a:lnTo>
                    <a:pt x="110871" y="12700"/>
                  </a:lnTo>
                  <a:lnTo>
                    <a:pt x="110871" y="6350"/>
                  </a:lnTo>
                  <a:lnTo>
                    <a:pt x="110871" y="12700"/>
                  </a:lnTo>
                  <a:cubicBezTo>
                    <a:pt x="56642" y="12700"/>
                    <a:pt x="12700" y="56515"/>
                    <a:pt x="12700" y="110490"/>
                  </a:cubicBezTo>
                  <a:close/>
                </a:path>
              </a:pathLst>
            </a:custGeom>
            <a:solidFill>
              <a:srgbClr val="C8CACF"/>
            </a:solidFill>
          </p:spPr>
        </p:sp>
      </p:grpSp>
      <p:sp>
        <p:nvSpPr>
          <p:cNvPr name="TextBox 18" id="18"/>
          <p:cNvSpPr txBox="true"/>
          <p:nvPr/>
        </p:nvSpPr>
        <p:spPr>
          <a:xfrm rot="0">
            <a:off x="12838214" y="1860794"/>
            <a:ext cx="2325738" cy="319240"/>
          </a:xfrm>
          <a:prstGeom prst="rect">
            <a:avLst/>
          </a:prstGeom>
        </p:spPr>
        <p:txBody>
          <a:bodyPr anchor="t" rtlCol="false" tIns="0" lIns="0" bIns="0" rIns="0">
            <a:spAutoFit/>
          </a:bodyPr>
          <a:lstStyle/>
          <a:p>
            <a:pPr algn="l">
              <a:lnSpc>
                <a:spcPts val="2249"/>
              </a:lnSpc>
            </a:pPr>
            <a:r>
              <a:rPr lang="en-US" sz="1812" b="true">
                <a:solidFill>
                  <a:srgbClr val="52586B"/>
                </a:solidFill>
                <a:latin typeface="Arimo Bold"/>
                <a:ea typeface="Arimo Bold"/>
                <a:cs typeface="Arimo Bold"/>
                <a:sym typeface="Arimo Bold"/>
              </a:rPr>
              <a:t>Fighter Pilot</a:t>
            </a:r>
          </a:p>
        </p:txBody>
      </p:sp>
      <p:sp>
        <p:nvSpPr>
          <p:cNvPr name="TextBox 19" id="19"/>
          <p:cNvSpPr txBox="true"/>
          <p:nvPr/>
        </p:nvSpPr>
        <p:spPr>
          <a:xfrm rot="0">
            <a:off x="12838214" y="2235098"/>
            <a:ext cx="4261990"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Demands:</a:t>
            </a:r>
            <a:r>
              <a:rPr lang="en-US" sz="1437">
                <a:solidFill>
                  <a:srgbClr val="52586B"/>
                </a:solidFill>
                <a:latin typeface="Arimo"/>
                <a:ea typeface="Arimo"/>
                <a:cs typeface="Arimo"/>
                <a:sym typeface="Arimo"/>
              </a:rPr>
              <a:t> Life-or-death decisions at speed. Sustained focus. Mission-critical execution.</a:t>
            </a:r>
          </a:p>
        </p:txBody>
      </p:sp>
      <p:sp>
        <p:nvSpPr>
          <p:cNvPr name="TextBox 20" id="20"/>
          <p:cNvSpPr txBox="true"/>
          <p:nvPr/>
        </p:nvSpPr>
        <p:spPr>
          <a:xfrm rot="0">
            <a:off x="12838214" y="2839641"/>
            <a:ext cx="4261990"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System:</a:t>
            </a:r>
            <a:r>
              <a:rPr lang="en-US" sz="1437">
                <a:solidFill>
                  <a:srgbClr val="52586B"/>
                </a:solidFill>
                <a:latin typeface="Arimo"/>
                <a:ea typeface="Arimo"/>
                <a:cs typeface="Arimo"/>
                <a:sym typeface="Arimo"/>
              </a:rPr>
              <a:t> Stress inoculation. Fatigue risk &amp; crew resource management. Debrief protocols.</a:t>
            </a:r>
          </a:p>
        </p:txBody>
      </p:sp>
      <p:grpSp>
        <p:nvGrpSpPr>
          <p:cNvPr name="Group 21" id="21"/>
          <p:cNvGrpSpPr/>
          <p:nvPr/>
        </p:nvGrpSpPr>
        <p:grpSpPr>
          <a:xfrm rot="0">
            <a:off x="7845476" y="3719360"/>
            <a:ext cx="4662488" cy="1900390"/>
            <a:chOff x="0" y="0"/>
            <a:chExt cx="6216650" cy="2533853"/>
          </a:xfrm>
        </p:grpSpPr>
        <p:sp>
          <p:nvSpPr>
            <p:cNvPr name="Freeform 22" id="22"/>
            <p:cNvSpPr/>
            <p:nvPr/>
          </p:nvSpPr>
          <p:spPr>
            <a:xfrm flipH="false" flipV="false" rot="0">
              <a:off x="6350" y="6350"/>
              <a:ext cx="6203950" cy="2521077"/>
            </a:xfrm>
            <a:custGeom>
              <a:avLst/>
              <a:gdLst/>
              <a:ahLst/>
              <a:cxnLst/>
              <a:rect r="r" b="b" t="t" l="l"/>
              <a:pathLst>
                <a:path h="2521077" w="6203950">
                  <a:moveTo>
                    <a:pt x="0" y="104140"/>
                  </a:moveTo>
                  <a:cubicBezTo>
                    <a:pt x="0" y="46609"/>
                    <a:pt x="46736" y="0"/>
                    <a:pt x="104521" y="0"/>
                  </a:cubicBezTo>
                  <a:lnTo>
                    <a:pt x="6099429" y="0"/>
                  </a:lnTo>
                  <a:cubicBezTo>
                    <a:pt x="6157214" y="0"/>
                    <a:pt x="6203950" y="46609"/>
                    <a:pt x="6203950" y="104140"/>
                  </a:cubicBezTo>
                  <a:lnTo>
                    <a:pt x="6203950" y="2416937"/>
                  </a:lnTo>
                  <a:cubicBezTo>
                    <a:pt x="6203950" y="2474468"/>
                    <a:pt x="6157214" y="2521077"/>
                    <a:pt x="6099429" y="2521077"/>
                  </a:cubicBezTo>
                  <a:lnTo>
                    <a:pt x="104521" y="2521077"/>
                  </a:lnTo>
                  <a:cubicBezTo>
                    <a:pt x="46863" y="2521077"/>
                    <a:pt x="0" y="2474468"/>
                    <a:pt x="0" y="2416937"/>
                  </a:cubicBezTo>
                  <a:close/>
                </a:path>
              </a:pathLst>
            </a:custGeom>
            <a:solidFill>
              <a:srgbClr val="E2E4E9"/>
            </a:solidFill>
          </p:spPr>
        </p:sp>
        <p:sp>
          <p:nvSpPr>
            <p:cNvPr name="Freeform 23" id="23"/>
            <p:cNvSpPr/>
            <p:nvPr/>
          </p:nvSpPr>
          <p:spPr>
            <a:xfrm flipH="false" flipV="false" rot="0">
              <a:off x="0" y="0"/>
              <a:ext cx="6216650" cy="2533777"/>
            </a:xfrm>
            <a:custGeom>
              <a:avLst/>
              <a:gdLst/>
              <a:ahLst/>
              <a:cxnLst/>
              <a:rect r="r" b="b" t="t" l="l"/>
              <a:pathLst>
                <a:path h="2533777" w="6216650">
                  <a:moveTo>
                    <a:pt x="0" y="110490"/>
                  </a:moveTo>
                  <a:cubicBezTo>
                    <a:pt x="0" y="49530"/>
                    <a:pt x="49657" y="0"/>
                    <a:pt x="110871" y="0"/>
                  </a:cubicBezTo>
                  <a:lnTo>
                    <a:pt x="6105779" y="0"/>
                  </a:lnTo>
                  <a:lnTo>
                    <a:pt x="6105779" y="6350"/>
                  </a:lnTo>
                  <a:lnTo>
                    <a:pt x="6105779" y="0"/>
                  </a:lnTo>
                  <a:cubicBezTo>
                    <a:pt x="6166993" y="0"/>
                    <a:pt x="6216650" y="49530"/>
                    <a:pt x="6216650" y="110490"/>
                  </a:cubicBezTo>
                  <a:lnTo>
                    <a:pt x="6210300" y="110490"/>
                  </a:lnTo>
                  <a:lnTo>
                    <a:pt x="6216650" y="110490"/>
                  </a:lnTo>
                  <a:lnTo>
                    <a:pt x="6216650" y="2423287"/>
                  </a:lnTo>
                  <a:lnTo>
                    <a:pt x="6210300" y="2423287"/>
                  </a:lnTo>
                  <a:lnTo>
                    <a:pt x="6216650" y="2423287"/>
                  </a:lnTo>
                  <a:cubicBezTo>
                    <a:pt x="6216650" y="2484374"/>
                    <a:pt x="6166993" y="2533777"/>
                    <a:pt x="6105779" y="2533777"/>
                  </a:cubicBezTo>
                  <a:lnTo>
                    <a:pt x="6105779" y="2527427"/>
                  </a:lnTo>
                  <a:lnTo>
                    <a:pt x="6105779" y="2533777"/>
                  </a:lnTo>
                  <a:lnTo>
                    <a:pt x="110871" y="2533777"/>
                  </a:lnTo>
                  <a:lnTo>
                    <a:pt x="110871" y="2527427"/>
                  </a:lnTo>
                  <a:lnTo>
                    <a:pt x="110871" y="2533777"/>
                  </a:lnTo>
                  <a:cubicBezTo>
                    <a:pt x="49657" y="2533777"/>
                    <a:pt x="0" y="2484247"/>
                    <a:pt x="0" y="2423287"/>
                  </a:cubicBezTo>
                  <a:lnTo>
                    <a:pt x="0" y="110490"/>
                  </a:lnTo>
                  <a:lnTo>
                    <a:pt x="6350" y="110490"/>
                  </a:lnTo>
                  <a:lnTo>
                    <a:pt x="0" y="110490"/>
                  </a:lnTo>
                  <a:moveTo>
                    <a:pt x="12700" y="110490"/>
                  </a:moveTo>
                  <a:lnTo>
                    <a:pt x="12700" y="2423287"/>
                  </a:lnTo>
                  <a:lnTo>
                    <a:pt x="6350" y="2423287"/>
                  </a:lnTo>
                  <a:lnTo>
                    <a:pt x="12700" y="2423287"/>
                  </a:lnTo>
                  <a:cubicBezTo>
                    <a:pt x="12700" y="2477262"/>
                    <a:pt x="56642" y="2521077"/>
                    <a:pt x="110871" y="2521077"/>
                  </a:cubicBezTo>
                  <a:lnTo>
                    <a:pt x="6105779" y="2521077"/>
                  </a:lnTo>
                  <a:cubicBezTo>
                    <a:pt x="6160008" y="2521077"/>
                    <a:pt x="6203950" y="2477262"/>
                    <a:pt x="6203950" y="2423287"/>
                  </a:cubicBezTo>
                  <a:lnTo>
                    <a:pt x="6203950" y="110490"/>
                  </a:lnTo>
                  <a:cubicBezTo>
                    <a:pt x="6203950" y="56515"/>
                    <a:pt x="6160008" y="12700"/>
                    <a:pt x="6105779" y="12700"/>
                  </a:cubicBezTo>
                  <a:lnTo>
                    <a:pt x="110871" y="12700"/>
                  </a:lnTo>
                  <a:lnTo>
                    <a:pt x="110871" y="6350"/>
                  </a:lnTo>
                  <a:lnTo>
                    <a:pt x="110871" y="12700"/>
                  </a:lnTo>
                  <a:cubicBezTo>
                    <a:pt x="56642" y="12700"/>
                    <a:pt x="12700" y="56515"/>
                    <a:pt x="12700" y="110490"/>
                  </a:cubicBezTo>
                  <a:close/>
                </a:path>
              </a:pathLst>
            </a:custGeom>
            <a:solidFill>
              <a:srgbClr val="C8CACF"/>
            </a:solidFill>
          </p:spPr>
        </p:sp>
      </p:grpSp>
      <p:sp>
        <p:nvSpPr>
          <p:cNvPr name="TextBox 24" id="24"/>
          <p:cNvSpPr txBox="true"/>
          <p:nvPr/>
        </p:nvSpPr>
        <p:spPr>
          <a:xfrm rot="0">
            <a:off x="8045796" y="3891115"/>
            <a:ext cx="2325738" cy="319240"/>
          </a:xfrm>
          <a:prstGeom prst="rect">
            <a:avLst/>
          </a:prstGeom>
        </p:spPr>
        <p:txBody>
          <a:bodyPr anchor="t" rtlCol="false" tIns="0" lIns="0" bIns="0" rIns="0">
            <a:spAutoFit/>
          </a:bodyPr>
          <a:lstStyle/>
          <a:p>
            <a:pPr algn="l">
              <a:lnSpc>
                <a:spcPts val="2249"/>
              </a:lnSpc>
            </a:pPr>
            <a:r>
              <a:rPr lang="en-US" sz="1812" b="true">
                <a:solidFill>
                  <a:srgbClr val="52586B"/>
                </a:solidFill>
                <a:latin typeface="Arimo Bold"/>
                <a:ea typeface="Arimo Bold"/>
                <a:cs typeface="Arimo Bold"/>
                <a:sym typeface="Arimo Bold"/>
              </a:rPr>
              <a:t>Navy SEAL</a:t>
            </a:r>
          </a:p>
        </p:txBody>
      </p:sp>
      <p:sp>
        <p:nvSpPr>
          <p:cNvPr name="TextBox 25" id="25"/>
          <p:cNvSpPr txBox="true"/>
          <p:nvPr/>
        </p:nvSpPr>
        <p:spPr>
          <a:xfrm rot="0">
            <a:off x="8045796" y="4265409"/>
            <a:ext cx="4261847"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Demands:</a:t>
            </a:r>
            <a:r>
              <a:rPr lang="en-US" sz="1437">
                <a:solidFill>
                  <a:srgbClr val="52586B"/>
                </a:solidFill>
                <a:latin typeface="Arimo"/>
                <a:ea typeface="Arimo"/>
                <a:cs typeface="Arimo"/>
                <a:sym typeface="Arimo"/>
              </a:rPr>
              <a:t> Sustained high-risk, precision under extreme load. Team-critical decision-making. </a:t>
            </a:r>
          </a:p>
        </p:txBody>
      </p:sp>
      <p:sp>
        <p:nvSpPr>
          <p:cNvPr name="TextBox 26" id="26"/>
          <p:cNvSpPr txBox="true"/>
          <p:nvPr/>
        </p:nvSpPr>
        <p:spPr>
          <a:xfrm rot="0">
            <a:off x="8045796" y="4869952"/>
            <a:ext cx="4261847"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System:</a:t>
            </a:r>
            <a:r>
              <a:rPr lang="en-US" sz="1437">
                <a:solidFill>
                  <a:srgbClr val="52586B"/>
                </a:solidFill>
                <a:latin typeface="Arimo"/>
                <a:ea typeface="Arimo"/>
                <a:cs typeface="Arimo"/>
                <a:sym typeface="Arimo"/>
              </a:rPr>
              <a:t> Physiological, cognitive, sleep, stress  and recovery protocols. Team debriefs.</a:t>
            </a:r>
          </a:p>
        </p:txBody>
      </p:sp>
      <p:grpSp>
        <p:nvGrpSpPr>
          <p:cNvPr name="Group 27" id="27"/>
          <p:cNvGrpSpPr/>
          <p:nvPr/>
        </p:nvGrpSpPr>
        <p:grpSpPr>
          <a:xfrm rot="0">
            <a:off x="12637884" y="3719360"/>
            <a:ext cx="4662640" cy="1900390"/>
            <a:chOff x="0" y="0"/>
            <a:chExt cx="6216853" cy="2533853"/>
          </a:xfrm>
        </p:grpSpPr>
        <p:sp>
          <p:nvSpPr>
            <p:cNvPr name="Freeform 28" id="28"/>
            <p:cNvSpPr/>
            <p:nvPr/>
          </p:nvSpPr>
          <p:spPr>
            <a:xfrm flipH="false" flipV="false" rot="0">
              <a:off x="6350" y="6350"/>
              <a:ext cx="6204204" cy="2521077"/>
            </a:xfrm>
            <a:custGeom>
              <a:avLst/>
              <a:gdLst/>
              <a:ahLst/>
              <a:cxnLst/>
              <a:rect r="r" b="b" t="t" l="l"/>
              <a:pathLst>
                <a:path h="2521077" w="6204204">
                  <a:moveTo>
                    <a:pt x="0" y="104140"/>
                  </a:moveTo>
                  <a:cubicBezTo>
                    <a:pt x="0" y="46609"/>
                    <a:pt x="46736" y="0"/>
                    <a:pt x="104521" y="0"/>
                  </a:cubicBezTo>
                  <a:lnTo>
                    <a:pt x="6099683" y="0"/>
                  </a:lnTo>
                  <a:cubicBezTo>
                    <a:pt x="6157341" y="0"/>
                    <a:pt x="6204204" y="46609"/>
                    <a:pt x="6204204" y="104140"/>
                  </a:cubicBezTo>
                  <a:lnTo>
                    <a:pt x="6204204" y="2416937"/>
                  </a:lnTo>
                  <a:cubicBezTo>
                    <a:pt x="6204204" y="2474468"/>
                    <a:pt x="6157468" y="2521077"/>
                    <a:pt x="6099683" y="2521077"/>
                  </a:cubicBezTo>
                  <a:lnTo>
                    <a:pt x="104521" y="2521077"/>
                  </a:lnTo>
                  <a:cubicBezTo>
                    <a:pt x="46863" y="2521077"/>
                    <a:pt x="0" y="2474468"/>
                    <a:pt x="0" y="2416937"/>
                  </a:cubicBezTo>
                  <a:close/>
                </a:path>
              </a:pathLst>
            </a:custGeom>
            <a:solidFill>
              <a:srgbClr val="E2E4E9"/>
            </a:solidFill>
          </p:spPr>
        </p:sp>
        <p:sp>
          <p:nvSpPr>
            <p:cNvPr name="Freeform 29" id="29"/>
            <p:cNvSpPr/>
            <p:nvPr/>
          </p:nvSpPr>
          <p:spPr>
            <a:xfrm flipH="false" flipV="false" rot="0">
              <a:off x="0" y="0"/>
              <a:ext cx="6216904" cy="2533777"/>
            </a:xfrm>
            <a:custGeom>
              <a:avLst/>
              <a:gdLst/>
              <a:ahLst/>
              <a:cxnLst/>
              <a:rect r="r" b="b" t="t" l="l"/>
              <a:pathLst>
                <a:path h="2533777" w="6216904">
                  <a:moveTo>
                    <a:pt x="0" y="110490"/>
                  </a:moveTo>
                  <a:cubicBezTo>
                    <a:pt x="0" y="49530"/>
                    <a:pt x="49657" y="0"/>
                    <a:pt x="110871" y="0"/>
                  </a:cubicBezTo>
                  <a:lnTo>
                    <a:pt x="6106033" y="0"/>
                  </a:lnTo>
                  <a:lnTo>
                    <a:pt x="6106033" y="6350"/>
                  </a:lnTo>
                  <a:lnTo>
                    <a:pt x="6106033" y="0"/>
                  </a:lnTo>
                  <a:cubicBezTo>
                    <a:pt x="6167247" y="0"/>
                    <a:pt x="6216904" y="49530"/>
                    <a:pt x="6216904" y="110490"/>
                  </a:cubicBezTo>
                  <a:lnTo>
                    <a:pt x="6210554" y="110490"/>
                  </a:lnTo>
                  <a:lnTo>
                    <a:pt x="6216904" y="110490"/>
                  </a:lnTo>
                  <a:lnTo>
                    <a:pt x="6216904" y="2423287"/>
                  </a:lnTo>
                  <a:lnTo>
                    <a:pt x="6210554" y="2423287"/>
                  </a:lnTo>
                  <a:lnTo>
                    <a:pt x="6216904" y="2423287"/>
                  </a:lnTo>
                  <a:cubicBezTo>
                    <a:pt x="6216904" y="2484374"/>
                    <a:pt x="6167247" y="2533777"/>
                    <a:pt x="6106033" y="2533777"/>
                  </a:cubicBezTo>
                  <a:lnTo>
                    <a:pt x="6106033" y="2527427"/>
                  </a:lnTo>
                  <a:lnTo>
                    <a:pt x="6106033" y="2533777"/>
                  </a:lnTo>
                  <a:lnTo>
                    <a:pt x="110871" y="2533777"/>
                  </a:lnTo>
                  <a:lnTo>
                    <a:pt x="110871" y="2527427"/>
                  </a:lnTo>
                  <a:lnTo>
                    <a:pt x="110871" y="2533777"/>
                  </a:lnTo>
                  <a:cubicBezTo>
                    <a:pt x="49657" y="2533777"/>
                    <a:pt x="0" y="2484247"/>
                    <a:pt x="0" y="2423287"/>
                  </a:cubicBezTo>
                  <a:lnTo>
                    <a:pt x="0" y="110490"/>
                  </a:lnTo>
                  <a:lnTo>
                    <a:pt x="6350" y="110490"/>
                  </a:lnTo>
                  <a:lnTo>
                    <a:pt x="0" y="110490"/>
                  </a:lnTo>
                  <a:moveTo>
                    <a:pt x="12700" y="110490"/>
                  </a:moveTo>
                  <a:lnTo>
                    <a:pt x="12700" y="2423287"/>
                  </a:lnTo>
                  <a:lnTo>
                    <a:pt x="6350" y="2423287"/>
                  </a:lnTo>
                  <a:lnTo>
                    <a:pt x="12700" y="2423287"/>
                  </a:lnTo>
                  <a:cubicBezTo>
                    <a:pt x="12700" y="2477262"/>
                    <a:pt x="56642" y="2521077"/>
                    <a:pt x="110871" y="2521077"/>
                  </a:cubicBezTo>
                  <a:lnTo>
                    <a:pt x="6106033" y="2521077"/>
                  </a:lnTo>
                  <a:cubicBezTo>
                    <a:pt x="6160262" y="2521077"/>
                    <a:pt x="6204204" y="2477262"/>
                    <a:pt x="6204204" y="2423287"/>
                  </a:cubicBezTo>
                  <a:lnTo>
                    <a:pt x="6204204" y="110490"/>
                  </a:lnTo>
                  <a:cubicBezTo>
                    <a:pt x="6204204" y="56515"/>
                    <a:pt x="6160262" y="12700"/>
                    <a:pt x="6106033" y="12700"/>
                  </a:cubicBezTo>
                  <a:lnTo>
                    <a:pt x="110871" y="12700"/>
                  </a:lnTo>
                  <a:lnTo>
                    <a:pt x="110871" y="6350"/>
                  </a:lnTo>
                  <a:lnTo>
                    <a:pt x="110871" y="12700"/>
                  </a:lnTo>
                  <a:cubicBezTo>
                    <a:pt x="56642" y="12700"/>
                    <a:pt x="12700" y="56515"/>
                    <a:pt x="12700" y="110490"/>
                  </a:cubicBezTo>
                  <a:close/>
                </a:path>
              </a:pathLst>
            </a:custGeom>
            <a:solidFill>
              <a:srgbClr val="C8CACF"/>
            </a:solidFill>
          </p:spPr>
        </p:sp>
      </p:grpSp>
      <p:sp>
        <p:nvSpPr>
          <p:cNvPr name="TextBox 30" id="30"/>
          <p:cNvSpPr txBox="true"/>
          <p:nvPr/>
        </p:nvSpPr>
        <p:spPr>
          <a:xfrm rot="0">
            <a:off x="12838214" y="3891115"/>
            <a:ext cx="2325738" cy="319240"/>
          </a:xfrm>
          <a:prstGeom prst="rect">
            <a:avLst/>
          </a:prstGeom>
        </p:spPr>
        <p:txBody>
          <a:bodyPr anchor="t" rtlCol="false" tIns="0" lIns="0" bIns="0" rIns="0">
            <a:spAutoFit/>
          </a:bodyPr>
          <a:lstStyle/>
          <a:p>
            <a:pPr algn="l">
              <a:lnSpc>
                <a:spcPts val="2249"/>
              </a:lnSpc>
            </a:pPr>
            <a:r>
              <a:rPr lang="en-US" sz="1812" b="true">
                <a:solidFill>
                  <a:srgbClr val="52586B"/>
                </a:solidFill>
                <a:latin typeface="Arimo Bold"/>
                <a:ea typeface="Arimo Bold"/>
                <a:cs typeface="Arimo Bold"/>
                <a:sym typeface="Arimo Bold"/>
              </a:rPr>
              <a:t>Olympic Athlete</a:t>
            </a:r>
          </a:p>
        </p:txBody>
      </p:sp>
      <p:sp>
        <p:nvSpPr>
          <p:cNvPr name="TextBox 31" id="31"/>
          <p:cNvSpPr txBox="true"/>
          <p:nvPr/>
        </p:nvSpPr>
        <p:spPr>
          <a:xfrm rot="0">
            <a:off x="12838214" y="4265409"/>
            <a:ext cx="4261990"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Demands:</a:t>
            </a:r>
            <a:r>
              <a:rPr lang="en-US" sz="1437">
                <a:solidFill>
                  <a:srgbClr val="52586B"/>
                </a:solidFill>
                <a:latin typeface="Arimo"/>
                <a:ea typeface="Arimo"/>
                <a:cs typeface="Arimo"/>
                <a:sym typeface="Arimo"/>
              </a:rPr>
              <a:t> Peak physical and cognitive output. Career-long performance. Outcomes that mater.</a:t>
            </a:r>
          </a:p>
        </p:txBody>
      </p:sp>
      <p:sp>
        <p:nvSpPr>
          <p:cNvPr name="TextBox 32" id="32"/>
          <p:cNvSpPr txBox="true"/>
          <p:nvPr/>
        </p:nvSpPr>
        <p:spPr>
          <a:xfrm rot="0">
            <a:off x="12838214" y="4869952"/>
            <a:ext cx="4261990" cy="549478"/>
          </a:xfrm>
          <a:prstGeom prst="rect">
            <a:avLst/>
          </a:prstGeom>
        </p:spPr>
        <p:txBody>
          <a:bodyPr anchor="t" rtlCol="false" tIns="0" lIns="0" bIns="0" rIns="0">
            <a:spAutoFit/>
          </a:bodyPr>
          <a:lstStyle/>
          <a:p>
            <a:pPr algn="l">
              <a:lnSpc>
                <a:spcPts val="1999"/>
              </a:lnSpc>
            </a:pPr>
            <a:r>
              <a:rPr lang="en-US" sz="1437" b="true">
                <a:solidFill>
                  <a:srgbClr val="52586B"/>
                </a:solidFill>
                <a:latin typeface="Arimo Bold"/>
                <a:ea typeface="Arimo Bold"/>
                <a:cs typeface="Arimo Bold"/>
                <a:sym typeface="Arimo Bold"/>
              </a:rPr>
              <a:t>System:</a:t>
            </a:r>
            <a:r>
              <a:rPr lang="en-US" sz="1437">
                <a:solidFill>
                  <a:srgbClr val="52586B"/>
                </a:solidFill>
                <a:latin typeface="Arimo"/>
                <a:ea typeface="Arimo"/>
                <a:cs typeface="Arimo"/>
                <a:sym typeface="Arimo"/>
              </a:rPr>
              <a:t> Coaches. Sports scientists. Nutritionists. Recovery specialists. Readiness tracking. Data.</a:t>
            </a:r>
          </a:p>
        </p:txBody>
      </p:sp>
      <p:grpSp>
        <p:nvGrpSpPr>
          <p:cNvPr name="Group 33" id="33"/>
          <p:cNvGrpSpPr/>
          <p:nvPr/>
        </p:nvGrpSpPr>
        <p:grpSpPr>
          <a:xfrm rot="0">
            <a:off x="7850238" y="6240666"/>
            <a:ext cx="9455048" cy="1379487"/>
            <a:chOff x="0" y="0"/>
            <a:chExt cx="12606731" cy="1839316"/>
          </a:xfrm>
        </p:grpSpPr>
        <p:sp>
          <p:nvSpPr>
            <p:cNvPr name="Freeform 34" id="34"/>
            <p:cNvSpPr/>
            <p:nvPr/>
          </p:nvSpPr>
          <p:spPr>
            <a:xfrm flipH="false" flipV="false" rot="0">
              <a:off x="6350" y="6350"/>
              <a:ext cx="12593955" cy="1826514"/>
            </a:xfrm>
            <a:custGeom>
              <a:avLst/>
              <a:gdLst/>
              <a:ahLst/>
              <a:cxnLst/>
              <a:rect r="r" b="b" t="t" l="l"/>
              <a:pathLst>
                <a:path h="1826514" w="12593955">
                  <a:moveTo>
                    <a:pt x="0" y="104140"/>
                  </a:moveTo>
                  <a:cubicBezTo>
                    <a:pt x="0" y="46609"/>
                    <a:pt x="46863" y="0"/>
                    <a:pt x="104775" y="0"/>
                  </a:cubicBezTo>
                  <a:lnTo>
                    <a:pt x="12489180" y="0"/>
                  </a:lnTo>
                  <a:cubicBezTo>
                    <a:pt x="12547092" y="0"/>
                    <a:pt x="12593955" y="46609"/>
                    <a:pt x="12593955" y="104140"/>
                  </a:cubicBezTo>
                  <a:lnTo>
                    <a:pt x="12593955" y="1722374"/>
                  </a:lnTo>
                  <a:cubicBezTo>
                    <a:pt x="12593955" y="1779905"/>
                    <a:pt x="12547092" y="1826514"/>
                    <a:pt x="12489180" y="1826514"/>
                  </a:cubicBezTo>
                  <a:lnTo>
                    <a:pt x="104775" y="1826514"/>
                  </a:lnTo>
                  <a:cubicBezTo>
                    <a:pt x="46863" y="1826514"/>
                    <a:pt x="0" y="1779905"/>
                    <a:pt x="0" y="1722374"/>
                  </a:cubicBezTo>
                  <a:close/>
                </a:path>
              </a:pathLst>
            </a:custGeom>
            <a:solidFill>
              <a:srgbClr val="FFD1A7"/>
            </a:solidFill>
          </p:spPr>
        </p:sp>
        <p:sp>
          <p:nvSpPr>
            <p:cNvPr name="Freeform 35" id="35"/>
            <p:cNvSpPr/>
            <p:nvPr/>
          </p:nvSpPr>
          <p:spPr>
            <a:xfrm flipH="false" flipV="false" rot="0">
              <a:off x="0" y="0"/>
              <a:ext cx="12606655" cy="1839214"/>
            </a:xfrm>
            <a:custGeom>
              <a:avLst/>
              <a:gdLst/>
              <a:ahLst/>
              <a:cxnLst/>
              <a:rect r="r" b="b" t="t" l="l"/>
              <a:pathLst>
                <a:path h="1839214" w="12606655">
                  <a:moveTo>
                    <a:pt x="0" y="110490"/>
                  </a:moveTo>
                  <a:cubicBezTo>
                    <a:pt x="0" y="49403"/>
                    <a:pt x="49784" y="0"/>
                    <a:pt x="111125" y="0"/>
                  </a:cubicBezTo>
                  <a:lnTo>
                    <a:pt x="12495530" y="0"/>
                  </a:lnTo>
                  <a:lnTo>
                    <a:pt x="12495530" y="6350"/>
                  </a:lnTo>
                  <a:lnTo>
                    <a:pt x="12495530" y="0"/>
                  </a:lnTo>
                  <a:cubicBezTo>
                    <a:pt x="12556872" y="0"/>
                    <a:pt x="12606655" y="49403"/>
                    <a:pt x="12606655" y="110490"/>
                  </a:cubicBezTo>
                  <a:lnTo>
                    <a:pt x="12600305" y="110490"/>
                  </a:lnTo>
                  <a:lnTo>
                    <a:pt x="12606655" y="110490"/>
                  </a:lnTo>
                  <a:lnTo>
                    <a:pt x="12606655" y="1728724"/>
                  </a:lnTo>
                  <a:lnTo>
                    <a:pt x="12600305" y="1728724"/>
                  </a:lnTo>
                  <a:lnTo>
                    <a:pt x="12606655" y="1728724"/>
                  </a:lnTo>
                  <a:cubicBezTo>
                    <a:pt x="12606655" y="1789811"/>
                    <a:pt x="12556872" y="1839214"/>
                    <a:pt x="12495530" y="1839214"/>
                  </a:cubicBezTo>
                  <a:lnTo>
                    <a:pt x="12495530" y="1832864"/>
                  </a:lnTo>
                  <a:lnTo>
                    <a:pt x="12495530" y="1839214"/>
                  </a:lnTo>
                  <a:lnTo>
                    <a:pt x="111125" y="1839214"/>
                  </a:lnTo>
                  <a:lnTo>
                    <a:pt x="111125" y="1832864"/>
                  </a:lnTo>
                  <a:lnTo>
                    <a:pt x="111125" y="1839214"/>
                  </a:lnTo>
                  <a:cubicBezTo>
                    <a:pt x="49784" y="1839214"/>
                    <a:pt x="0" y="1789811"/>
                    <a:pt x="0" y="1728724"/>
                  </a:cubicBezTo>
                  <a:lnTo>
                    <a:pt x="0" y="110490"/>
                  </a:lnTo>
                  <a:lnTo>
                    <a:pt x="6350" y="110490"/>
                  </a:lnTo>
                  <a:lnTo>
                    <a:pt x="0" y="110490"/>
                  </a:lnTo>
                  <a:moveTo>
                    <a:pt x="12700" y="110490"/>
                  </a:moveTo>
                  <a:lnTo>
                    <a:pt x="12700" y="1728724"/>
                  </a:lnTo>
                  <a:lnTo>
                    <a:pt x="6350" y="1728724"/>
                  </a:lnTo>
                  <a:lnTo>
                    <a:pt x="12700" y="1728724"/>
                  </a:lnTo>
                  <a:cubicBezTo>
                    <a:pt x="12700" y="1782699"/>
                    <a:pt x="56769" y="1826514"/>
                    <a:pt x="111125" y="1826514"/>
                  </a:cubicBezTo>
                  <a:lnTo>
                    <a:pt x="12495530" y="1826514"/>
                  </a:lnTo>
                  <a:cubicBezTo>
                    <a:pt x="12549887" y="1826514"/>
                    <a:pt x="12593955" y="1782699"/>
                    <a:pt x="12593955" y="1728724"/>
                  </a:cubicBezTo>
                  <a:lnTo>
                    <a:pt x="12593955" y="110490"/>
                  </a:lnTo>
                  <a:cubicBezTo>
                    <a:pt x="12593955" y="56515"/>
                    <a:pt x="12549887" y="12700"/>
                    <a:pt x="12495530" y="12700"/>
                  </a:cubicBezTo>
                  <a:lnTo>
                    <a:pt x="111125" y="12700"/>
                  </a:lnTo>
                  <a:lnTo>
                    <a:pt x="111125" y="6350"/>
                  </a:lnTo>
                  <a:lnTo>
                    <a:pt x="111125" y="12700"/>
                  </a:lnTo>
                  <a:cubicBezTo>
                    <a:pt x="56769" y="12700"/>
                    <a:pt x="12700" y="56515"/>
                    <a:pt x="12700" y="110490"/>
                  </a:cubicBezTo>
                  <a:close/>
                </a:path>
              </a:pathLst>
            </a:custGeom>
            <a:solidFill>
              <a:srgbClr val="E5B78D"/>
            </a:solidFill>
          </p:spPr>
        </p:sp>
      </p:grpSp>
      <p:sp>
        <p:nvSpPr>
          <p:cNvPr name="TextBox 36" id="36"/>
          <p:cNvSpPr txBox="true"/>
          <p:nvPr/>
        </p:nvSpPr>
        <p:spPr>
          <a:xfrm rot="0">
            <a:off x="8050559" y="6324600"/>
            <a:ext cx="2325738" cy="319240"/>
          </a:xfrm>
          <a:prstGeom prst="rect">
            <a:avLst/>
          </a:prstGeom>
        </p:spPr>
        <p:txBody>
          <a:bodyPr anchor="t" rtlCol="false" tIns="0" lIns="0" bIns="0" rIns="0">
            <a:spAutoFit/>
          </a:bodyPr>
          <a:lstStyle/>
          <a:p>
            <a:pPr algn="l">
              <a:lnSpc>
                <a:spcPts val="2249"/>
              </a:lnSpc>
            </a:pPr>
            <a:r>
              <a:rPr lang="en-US" sz="1812" b="true">
                <a:solidFill>
                  <a:srgbClr val="000000"/>
                </a:solidFill>
                <a:latin typeface="Arimo Bold"/>
                <a:ea typeface="Arimo Bold"/>
                <a:cs typeface="Arimo Bold"/>
                <a:sym typeface="Arimo Bold"/>
              </a:rPr>
              <a:t>The Surgeon</a:t>
            </a:r>
          </a:p>
        </p:txBody>
      </p:sp>
      <p:sp>
        <p:nvSpPr>
          <p:cNvPr name="TextBox 37" id="37"/>
          <p:cNvSpPr txBox="true"/>
          <p:nvPr/>
        </p:nvSpPr>
        <p:spPr>
          <a:xfrm rot="0">
            <a:off x="8050559" y="6739385"/>
            <a:ext cx="9054408" cy="289027"/>
          </a:xfrm>
          <a:prstGeom prst="rect">
            <a:avLst/>
          </a:prstGeom>
        </p:spPr>
        <p:txBody>
          <a:bodyPr anchor="t" rtlCol="false" tIns="0" lIns="0" bIns="0" rIns="0">
            <a:spAutoFit/>
          </a:bodyPr>
          <a:lstStyle/>
          <a:p>
            <a:pPr algn="l">
              <a:lnSpc>
                <a:spcPts val="1999"/>
              </a:lnSpc>
            </a:pPr>
            <a:r>
              <a:rPr lang="en-US" sz="1437" b="true">
                <a:solidFill>
                  <a:srgbClr val="000000"/>
                </a:solidFill>
                <a:latin typeface="Arimo Bold"/>
                <a:ea typeface="Arimo Bold"/>
                <a:cs typeface="Arimo Bold"/>
                <a:sym typeface="Arimo Bold"/>
              </a:rPr>
              <a:t>Demands:</a:t>
            </a:r>
            <a:r>
              <a:rPr lang="en-US" sz="1437">
                <a:solidFill>
                  <a:srgbClr val="000000"/>
                </a:solidFill>
                <a:latin typeface="Arimo"/>
                <a:ea typeface="Arimo"/>
                <a:cs typeface="Arimo"/>
                <a:sym typeface="Arimo"/>
              </a:rPr>
              <a:t> All of the above. Or greater. Stakes: a human life, not a podium. A career spanning three decades.</a:t>
            </a:r>
          </a:p>
        </p:txBody>
      </p:sp>
      <p:sp>
        <p:nvSpPr>
          <p:cNvPr name="TextBox 38" id="38"/>
          <p:cNvSpPr txBox="true"/>
          <p:nvPr/>
        </p:nvSpPr>
        <p:spPr>
          <a:xfrm rot="0">
            <a:off x="8045796" y="7089581"/>
            <a:ext cx="9054408" cy="289027"/>
          </a:xfrm>
          <a:prstGeom prst="rect">
            <a:avLst/>
          </a:prstGeom>
        </p:spPr>
        <p:txBody>
          <a:bodyPr anchor="t" rtlCol="false" tIns="0" lIns="0" bIns="0" rIns="0">
            <a:spAutoFit/>
          </a:bodyPr>
          <a:lstStyle/>
          <a:p>
            <a:pPr algn="l">
              <a:lnSpc>
                <a:spcPts val="1999"/>
              </a:lnSpc>
            </a:pPr>
            <a:r>
              <a:rPr lang="en-US" sz="1437" b="true">
                <a:solidFill>
                  <a:srgbClr val="000000"/>
                </a:solidFill>
                <a:latin typeface="Arimo Bold"/>
                <a:ea typeface="Arimo Bold"/>
                <a:cs typeface="Arimo Bold"/>
                <a:sym typeface="Arimo Bold"/>
              </a:rPr>
              <a:t>System:</a:t>
            </a:r>
            <a:r>
              <a:rPr lang="en-US" sz="1437">
                <a:solidFill>
                  <a:srgbClr val="000000"/>
                </a:solidFill>
                <a:latin typeface="Arimo"/>
                <a:ea typeface="Arimo"/>
                <a:cs typeface="Arimo"/>
                <a:sym typeface="Arimo"/>
              </a:rPr>
              <a:t> Evidence is clear, change is gaining traction, adoption needs to speed up.</a:t>
            </a:r>
          </a:p>
        </p:txBody>
      </p:sp>
      <p:sp>
        <p:nvSpPr>
          <p:cNvPr name="TextBox 39" id="39"/>
          <p:cNvSpPr txBox="true"/>
          <p:nvPr/>
        </p:nvSpPr>
        <p:spPr>
          <a:xfrm rot="0">
            <a:off x="7850238" y="8357892"/>
            <a:ext cx="8352387" cy="367751"/>
          </a:xfrm>
          <a:prstGeom prst="rect">
            <a:avLst/>
          </a:prstGeom>
        </p:spPr>
        <p:txBody>
          <a:bodyPr anchor="t" rtlCol="false" tIns="0" lIns="0" bIns="0" rIns="0">
            <a:spAutoFit/>
          </a:bodyPr>
          <a:lstStyle/>
          <a:p>
            <a:pPr algn="l">
              <a:lnSpc>
                <a:spcPts val="2687"/>
              </a:lnSpc>
            </a:pPr>
            <a:r>
              <a:rPr lang="en-US" sz="2187" b="true">
                <a:solidFill>
                  <a:srgbClr val="373B48"/>
                </a:solidFill>
                <a:latin typeface="Arimo Bold"/>
                <a:ea typeface="Arimo Bold"/>
                <a:cs typeface="Arimo Bold"/>
                <a:sym typeface="Arimo Bold"/>
              </a:rPr>
              <a:t>They have it figured out - imagine if we built the same systems.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FDFE0"/>
            </a:solid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sp>
        <p:nvSpPr>
          <p:cNvPr name="TextBox 10" id="10"/>
          <p:cNvSpPr txBox="true"/>
          <p:nvPr/>
        </p:nvSpPr>
        <p:spPr>
          <a:xfrm rot="0">
            <a:off x="992238" y="803377"/>
            <a:ext cx="8608514" cy="1020070"/>
          </a:xfrm>
          <a:prstGeom prst="rect">
            <a:avLst/>
          </a:prstGeom>
        </p:spPr>
        <p:txBody>
          <a:bodyPr anchor="t" rtlCol="false" tIns="0" lIns="0" bIns="0" rIns="0">
            <a:spAutoFit/>
          </a:bodyPr>
          <a:lstStyle/>
          <a:p>
            <a:pPr algn="l">
              <a:lnSpc>
                <a:spcPts val="7562"/>
              </a:lnSpc>
            </a:pPr>
            <a:r>
              <a:rPr lang="en-US" sz="6062" b="true">
                <a:solidFill>
                  <a:srgbClr val="373B48"/>
                </a:solidFill>
                <a:latin typeface="Arimo Bold"/>
                <a:ea typeface="Arimo Bold"/>
                <a:cs typeface="Arimo Bold"/>
                <a:sym typeface="Arimo Bold"/>
              </a:rPr>
              <a:t>The Performance Gaps</a:t>
            </a:r>
          </a:p>
        </p:txBody>
      </p:sp>
      <p:grpSp>
        <p:nvGrpSpPr>
          <p:cNvPr name="Group 11" id="11"/>
          <p:cNvGrpSpPr/>
          <p:nvPr/>
        </p:nvGrpSpPr>
        <p:grpSpPr>
          <a:xfrm rot="0">
            <a:off x="977951" y="2110530"/>
            <a:ext cx="8079877" cy="1800673"/>
            <a:chOff x="0" y="0"/>
            <a:chExt cx="10773169" cy="2400897"/>
          </a:xfrm>
        </p:grpSpPr>
        <p:sp>
          <p:nvSpPr>
            <p:cNvPr name="Freeform 12" id="12"/>
            <p:cNvSpPr/>
            <p:nvPr/>
          </p:nvSpPr>
          <p:spPr>
            <a:xfrm flipH="false" flipV="false" rot="0">
              <a:off x="19050" y="19050"/>
              <a:ext cx="10735056" cy="2362835"/>
            </a:xfrm>
            <a:custGeom>
              <a:avLst/>
              <a:gdLst/>
              <a:ahLst/>
              <a:cxnLst/>
              <a:rect r="r" b="b" t="t" l="l"/>
              <a:pathLst>
                <a:path h="2362835" w="10735056">
                  <a:moveTo>
                    <a:pt x="0" y="125095"/>
                  </a:moveTo>
                  <a:cubicBezTo>
                    <a:pt x="0" y="56007"/>
                    <a:pt x="56642" y="0"/>
                    <a:pt x="126619" y="0"/>
                  </a:cubicBezTo>
                  <a:lnTo>
                    <a:pt x="10608437" y="0"/>
                  </a:lnTo>
                  <a:cubicBezTo>
                    <a:pt x="10678414" y="0"/>
                    <a:pt x="10735056" y="56007"/>
                    <a:pt x="10735056" y="125095"/>
                  </a:cubicBezTo>
                  <a:lnTo>
                    <a:pt x="10735056" y="2237740"/>
                  </a:lnTo>
                  <a:cubicBezTo>
                    <a:pt x="10735056" y="2306828"/>
                    <a:pt x="10678414" y="2362835"/>
                    <a:pt x="10608437" y="2362835"/>
                  </a:cubicBezTo>
                  <a:lnTo>
                    <a:pt x="126619" y="2362835"/>
                  </a:lnTo>
                  <a:cubicBezTo>
                    <a:pt x="56642" y="2362835"/>
                    <a:pt x="0" y="2306828"/>
                    <a:pt x="0" y="2237740"/>
                  </a:cubicBezTo>
                  <a:close/>
                </a:path>
              </a:pathLst>
            </a:custGeom>
            <a:solidFill>
              <a:srgbClr val="FFFFFF">
                <a:alpha val="90196"/>
              </a:srgbClr>
            </a:solidFill>
          </p:spPr>
        </p:sp>
        <p:sp>
          <p:nvSpPr>
            <p:cNvPr name="Freeform 13" id="13"/>
            <p:cNvSpPr/>
            <p:nvPr/>
          </p:nvSpPr>
          <p:spPr>
            <a:xfrm flipH="false" flipV="false" rot="0">
              <a:off x="0" y="0"/>
              <a:ext cx="10773156" cy="2400935"/>
            </a:xfrm>
            <a:custGeom>
              <a:avLst/>
              <a:gdLst/>
              <a:ahLst/>
              <a:cxnLst/>
              <a:rect r="r" b="b" t="t" l="l"/>
              <a:pathLst>
                <a:path h="2400935" w="10773156">
                  <a:moveTo>
                    <a:pt x="0" y="144145"/>
                  </a:moveTo>
                  <a:cubicBezTo>
                    <a:pt x="0" y="64262"/>
                    <a:pt x="65405" y="0"/>
                    <a:pt x="145669" y="0"/>
                  </a:cubicBezTo>
                  <a:lnTo>
                    <a:pt x="10627487" y="0"/>
                  </a:lnTo>
                  <a:lnTo>
                    <a:pt x="10627487" y="19050"/>
                  </a:lnTo>
                  <a:lnTo>
                    <a:pt x="10627487" y="0"/>
                  </a:lnTo>
                  <a:cubicBezTo>
                    <a:pt x="10707751" y="0"/>
                    <a:pt x="10773156" y="64262"/>
                    <a:pt x="10773156" y="144145"/>
                  </a:cubicBezTo>
                  <a:lnTo>
                    <a:pt x="10754106" y="144145"/>
                  </a:lnTo>
                  <a:lnTo>
                    <a:pt x="10773156" y="144145"/>
                  </a:lnTo>
                  <a:lnTo>
                    <a:pt x="10773156" y="2256790"/>
                  </a:lnTo>
                  <a:lnTo>
                    <a:pt x="10754106" y="2256790"/>
                  </a:lnTo>
                  <a:lnTo>
                    <a:pt x="10773156" y="2256790"/>
                  </a:lnTo>
                  <a:cubicBezTo>
                    <a:pt x="10773156" y="2336546"/>
                    <a:pt x="10707751" y="2400935"/>
                    <a:pt x="10627487" y="2400935"/>
                  </a:cubicBezTo>
                  <a:lnTo>
                    <a:pt x="10627487" y="2381885"/>
                  </a:lnTo>
                  <a:lnTo>
                    <a:pt x="10627487" y="2400935"/>
                  </a:lnTo>
                  <a:lnTo>
                    <a:pt x="145669" y="2400935"/>
                  </a:lnTo>
                  <a:lnTo>
                    <a:pt x="145669" y="2381885"/>
                  </a:lnTo>
                  <a:lnTo>
                    <a:pt x="145669" y="2400935"/>
                  </a:lnTo>
                  <a:cubicBezTo>
                    <a:pt x="65405" y="2400935"/>
                    <a:pt x="0" y="2336546"/>
                    <a:pt x="0" y="2256790"/>
                  </a:cubicBezTo>
                  <a:lnTo>
                    <a:pt x="0" y="144145"/>
                  </a:lnTo>
                  <a:lnTo>
                    <a:pt x="19050" y="144145"/>
                  </a:lnTo>
                  <a:lnTo>
                    <a:pt x="0" y="144145"/>
                  </a:lnTo>
                  <a:moveTo>
                    <a:pt x="38100" y="144145"/>
                  </a:moveTo>
                  <a:lnTo>
                    <a:pt x="38100" y="2256790"/>
                  </a:lnTo>
                  <a:lnTo>
                    <a:pt x="19050" y="2256790"/>
                  </a:lnTo>
                  <a:lnTo>
                    <a:pt x="38100" y="2256790"/>
                  </a:lnTo>
                  <a:cubicBezTo>
                    <a:pt x="38100" y="2315083"/>
                    <a:pt x="85979" y="2362835"/>
                    <a:pt x="145669" y="2362835"/>
                  </a:cubicBezTo>
                  <a:lnTo>
                    <a:pt x="10627487" y="2362835"/>
                  </a:lnTo>
                  <a:cubicBezTo>
                    <a:pt x="10687050" y="2362835"/>
                    <a:pt x="10735056" y="2315210"/>
                    <a:pt x="10735056" y="2256790"/>
                  </a:cubicBezTo>
                  <a:lnTo>
                    <a:pt x="10735056" y="144145"/>
                  </a:lnTo>
                  <a:cubicBezTo>
                    <a:pt x="10735056" y="85852"/>
                    <a:pt x="10687177" y="38100"/>
                    <a:pt x="10627487" y="38100"/>
                  </a:cubicBezTo>
                  <a:lnTo>
                    <a:pt x="145669" y="38100"/>
                  </a:lnTo>
                  <a:lnTo>
                    <a:pt x="145669" y="19050"/>
                  </a:lnTo>
                  <a:lnTo>
                    <a:pt x="145669" y="38100"/>
                  </a:lnTo>
                  <a:cubicBezTo>
                    <a:pt x="85979" y="38100"/>
                    <a:pt x="38100" y="85725"/>
                    <a:pt x="38100" y="144145"/>
                  </a:cubicBezTo>
                  <a:close/>
                </a:path>
              </a:pathLst>
            </a:custGeom>
            <a:solidFill>
              <a:srgbClr val="C8CACF"/>
            </a:solidFill>
          </p:spPr>
        </p:sp>
      </p:grpSp>
      <p:sp>
        <p:nvSpPr>
          <p:cNvPr name="TextBox 14" id="14"/>
          <p:cNvSpPr txBox="true"/>
          <p:nvPr/>
        </p:nvSpPr>
        <p:spPr>
          <a:xfrm rot="0">
            <a:off x="1244051" y="2357590"/>
            <a:ext cx="2790977" cy="367751"/>
          </a:xfrm>
          <a:prstGeom prst="rect">
            <a:avLst/>
          </a:prstGeom>
        </p:spPr>
        <p:txBody>
          <a:bodyPr anchor="t" rtlCol="false" tIns="0" lIns="0" bIns="0" rIns="0">
            <a:spAutoFit/>
          </a:bodyPr>
          <a:lstStyle/>
          <a:p>
            <a:pPr algn="l">
              <a:lnSpc>
                <a:spcPts val="2687"/>
              </a:lnSpc>
            </a:pPr>
            <a:r>
              <a:rPr lang="en-US" sz="2187" b="true">
                <a:solidFill>
                  <a:srgbClr val="52586B"/>
                </a:solidFill>
                <a:latin typeface="Arimo Bold"/>
                <a:ea typeface="Arimo Bold"/>
                <a:cs typeface="Arimo Bold"/>
                <a:sym typeface="Arimo Bold"/>
              </a:rPr>
              <a:t>Stress and Arousal</a:t>
            </a:r>
          </a:p>
        </p:txBody>
      </p:sp>
      <p:sp>
        <p:nvSpPr>
          <p:cNvPr name="TextBox 15" id="15"/>
          <p:cNvSpPr txBox="true"/>
          <p:nvPr/>
        </p:nvSpPr>
        <p:spPr>
          <a:xfrm rot="0">
            <a:off x="1244051" y="2769689"/>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Problem:</a:t>
            </a:r>
            <a:r>
              <a:rPr lang="en-US" sz="1750">
                <a:solidFill>
                  <a:srgbClr val="52586B"/>
                </a:solidFill>
                <a:latin typeface="Arimo"/>
                <a:ea typeface="Arimo"/>
                <a:cs typeface="Arimo"/>
                <a:sym typeface="Arimo"/>
              </a:rPr>
              <a:t> Surgeons are not trained to regulate.</a:t>
            </a:r>
          </a:p>
        </p:txBody>
      </p:sp>
      <p:sp>
        <p:nvSpPr>
          <p:cNvPr name="TextBox 16" id="16"/>
          <p:cNvSpPr txBox="true"/>
          <p:nvPr/>
        </p:nvSpPr>
        <p:spPr>
          <a:xfrm rot="0">
            <a:off x="1244051" y="3229566"/>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Opportunity:</a:t>
            </a:r>
            <a:r>
              <a:rPr lang="en-US" sz="1750">
                <a:solidFill>
                  <a:srgbClr val="52586B"/>
                </a:solidFill>
                <a:latin typeface="Arimo"/>
                <a:ea typeface="Arimo"/>
                <a:cs typeface="Arimo"/>
                <a:sym typeface="Arimo"/>
              </a:rPr>
              <a:t> The optimal is findable, trainable, and measurable.</a:t>
            </a:r>
          </a:p>
        </p:txBody>
      </p:sp>
      <p:grpSp>
        <p:nvGrpSpPr>
          <p:cNvPr name="Group 17" id="17"/>
          <p:cNvGrpSpPr/>
          <p:nvPr/>
        </p:nvGrpSpPr>
        <p:grpSpPr>
          <a:xfrm rot="0">
            <a:off x="9230173" y="2110530"/>
            <a:ext cx="8079877" cy="1800673"/>
            <a:chOff x="0" y="0"/>
            <a:chExt cx="10773169" cy="2400897"/>
          </a:xfrm>
        </p:grpSpPr>
        <p:sp>
          <p:nvSpPr>
            <p:cNvPr name="Freeform 18" id="18"/>
            <p:cNvSpPr/>
            <p:nvPr/>
          </p:nvSpPr>
          <p:spPr>
            <a:xfrm flipH="false" flipV="false" rot="0">
              <a:off x="19050" y="19050"/>
              <a:ext cx="10735056" cy="2362835"/>
            </a:xfrm>
            <a:custGeom>
              <a:avLst/>
              <a:gdLst/>
              <a:ahLst/>
              <a:cxnLst/>
              <a:rect r="r" b="b" t="t" l="l"/>
              <a:pathLst>
                <a:path h="2362835" w="10735056">
                  <a:moveTo>
                    <a:pt x="0" y="125095"/>
                  </a:moveTo>
                  <a:cubicBezTo>
                    <a:pt x="0" y="56007"/>
                    <a:pt x="56642" y="0"/>
                    <a:pt x="126619" y="0"/>
                  </a:cubicBezTo>
                  <a:lnTo>
                    <a:pt x="10608437" y="0"/>
                  </a:lnTo>
                  <a:cubicBezTo>
                    <a:pt x="10678414" y="0"/>
                    <a:pt x="10735056" y="56007"/>
                    <a:pt x="10735056" y="125095"/>
                  </a:cubicBezTo>
                  <a:lnTo>
                    <a:pt x="10735056" y="2237740"/>
                  </a:lnTo>
                  <a:cubicBezTo>
                    <a:pt x="10735056" y="2306828"/>
                    <a:pt x="10678414" y="2362835"/>
                    <a:pt x="10608437" y="2362835"/>
                  </a:cubicBezTo>
                  <a:lnTo>
                    <a:pt x="126619" y="2362835"/>
                  </a:lnTo>
                  <a:cubicBezTo>
                    <a:pt x="56642" y="2362835"/>
                    <a:pt x="0" y="2306828"/>
                    <a:pt x="0" y="2237740"/>
                  </a:cubicBezTo>
                  <a:close/>
                </a:path>
              </a:pathLst>
            </a:custGeom>
            <a:solidFill>
              <a:srgbClr val="FFFFFF">
                <a:alpha val="90196"/>
              </a:srgbClr>
            </a:solidFill>
          </p:spPr>
        </p:sp>
        <p:sp>
          <p:nvSpPr>
            <p:cNvPr name="Freeform 19" id="19"/>
            <p:cNvSpPr/>
            <p:nvPr/>
          </p:nvSpPr>
          <p:spPr>
            <a:xfrm flipH="false" flipV="false" rot="0">
              <a:off x="0" y="0"/>
              <a:ext cx="10773156" cy="2400935"/>
            </a:xfrm>
            <a:custGeom>
              <a:avLst/>
              <a:gdLst/>
              <a:ahLst/>
              <a:cxnLst/>
              <a:rect r="r" b="b" t="t" l="l"/>
              <a:pathLst>
                <a:path h="2400935" w="10773156">
                  <a:moveTo>
                    <a:pt x="0" y="144145"/>
                  </a:moveTo>
                  <a:cubicBezTo>
                    <a:pt x="0" y="64262"/>
                    <a:pt x="65405" y="0"/>
                    <a:pt x="145669" y="0"/>
                  </a:cubicBezTo>
                  <a:lnTo>
                    <a:pt x="10627487" y="0"/>
                  </a:lnTo>
                  <a:lnTo>
                    <a:pt x="10627487" y="19050"/>
                  </a:lnTo>
                  <a:lnTo>
                    <a:pt x="10627487" y="0"/>
                  </a:lnTo>
                  <a:cubicBezTo>
                    <a:pt x="10707751" y="0"/>
                    <a:pt x="10773156" y="64262"/>
                    <a:pt x="10773156" y="144145"/>
                  </a:cubicBezTo>
                  <a:lnTo>
                    <a:pt x="10754106" y="144145"/>
                  </a:lnTo>
                  <a:lnTo>
                    <a:pt x="10773156" y="144145"/>
                  </a:lnTo>
                  <a:lnTo>
                    <a:pt x="10773156" y="2256790"/>
                  </a:lnTo>
                  <a:lnTo>
                    <a:pt x="10754106" y="2256790"/>
                  </a:lnTo>
                  <a:lnTo>
                    <a:pt x="10773156" y="2256790"/>
                  </a:lnTo>
                  <a:cubicBezTo>
                    <a:pt x="10773156" y="2336546"/>
                    <a:pt x="10707751" y="2400935"/>
                    <a:pt x="10627487" y="2400935"/>
                  </a:cubicBezTo>
                  <a:lnTo>
                    <a:pt x="10627487" y="2381885"/>
                  </a:lnTo>
                  <a:lnTo>
                    <a:pt x="10627487" y="2400935"/>
                  </a:lnTo>
                  <a:lnTo>
                    <a:pt x="145669" y="2400935"/>
                  </a:lnTo>
                  <a:lnTo>
                    <a:pt x="145669" y="2381885"/>
                  </a:lnTo>
                  <a:lnTo>
                    <a:pt x="145669" y="2400935"/>
                  </a:lnTo>
                  <a:cubicBezTo>
                    <a:pt x="65405" y="2400935"/>
                    <a:pt x="0" y="2336546"/>
                    <a:pt x="0" y="2256790"/>
                  </a:cubicBezTo>
                  <a:lnTo>
                    <a:pt x="0" y="144145"/>
                  </a:lnTo>
                  <a:lnTo>
                    <a:pt x="19050" y="144145"/>
                  </a:lnTo>
                  <a:lnTo>
                    <a:pt x="0" y="144145"/>
                  </a:lnTo>
                  <a:moveTo>
                    <a:pt x="38100" y="144145"/>
                  </a:moveTo>
                  <a:lnTo>
                    <a:pt x="38100" y="2256790"/>
                  </a:lnTo>
                  <a:lnTo>
                    <a:pt x="19050" y="2256790"/>
                  </a:lnTo>
                  <a:lnTo>
                    <a:pt x="38100" y="2256790"/>
                  </a:lnTo>
                  <a:cubicBezTo>
                    <a:pt x="38100" y="2315083"/>
                    <a:pt x="85979" y="2362835"/>
                    <a:pt x="145669" y="2362835"/>
                  </a:cubicBezTo>
                  <a:lnTo>
                    <a:pt x="10627487" y="2362835"/>
                  </a:lnTo>
                  <a:cubicBezTo>
                    <a:pt x="10687050" y="2362835"/>
                    <a:pt x="10735056" y="2315210"/>
                    <a:pt x="10735056" y="2256790"/>
                  </a:cubicBezTo>
                  <a:lnTo>
                    <a:pt x="10735056" y="144145"/>
                  </a:lnTo>
                  <a:cubicBezTo>
                    <a:pt x="10735056" y="85852"/>
                    <a:pt x="10687177" y="38100"/>
                    <a:pt x="10627487" y="38100"/>
                  </a:cubicBezTo>
                  <a:lnTo>
                    <a:pt x="145669" y="38100"/>
                  </a:lnTo>
                  <a:lnTo>
                    <a:pt x="145669" y="19050"/>
                  </a:lnTo>
                  <a:lnTo>
                    <a:pt x="145669" y="38100"/>
                  </a:lnTo>
                  <a:cubicBezTo>
                    <a:pt x="85979" y="38100"/>
                    <a:pt x="38100" y="85725"/>
                    <a:pt x="38100" y="144145"/>
                  </a:cubicBezTo>
                  <a:close/>
                </a:path>
              </a:pathLst>
            </a:custGeom>
            <a:solidFill>
              <a:srgbClr val="C8CACF"/>
            </a:solidFill>
          </p:spPr>
        </p:sp>
      </p:grpSp>
      <p:sp>
        <p:nvSpPr>
          <p:cNvPr name="TextBox 20" id="20"/>
          <p:cNvSpPr txBox="true"/>
          <p:nvPr/>
        </p:nvSpPr>
        <p:spPr>
          <a:xfrm rot="0">
            <a:off x="9496273" y="2357590"/>
            <a:ext cx="2790977" cy="367751"/>
          </a:xfrm>
          <a:prstGeom prst="rect">
            <a:avLst/>
          </a:prstGeom>
        </p:spPr>
        <p:txBody>
          <a:bodyPr anchor="t" rtlCol="false" tIns="0" lIns="0" bIns="0" rIns="0">
            <a:spAutoFit/>
          </a:bodyPr>
          <a:lstStyle/>
          <a:p>
            <a:pPr algn="l">
              <a:lnSpc>
                <a:spcPts val="2687"/>
              </a:lnSpc>
            </a:pPr>
            <a:r>
              <a:rPr lang="en-US" sz="2187" b="true">
                <a:solidFill>
                  <a:srgbClr val="52586B"/>
                </a:solidFill>
                <a:latin typeface="Arimo Bold"/>
                <a:ea typeface="Arimo Bold"/>
                <a:cs typeface="Arimo Bold"/>
                <a:sym typeface="Arimo Bold"/>
              </a:rPr>
              <a:t>Sleep and Fatigue</a:t>
            </a:r>
          </a:p>
        </p:txBody>
      </p:sp>
      <p:sp>
        <p:nvSpPr>
          <p:cNvPr name="TextBox 21" id="21"/>
          <p:cNvSpPr txBox="true"/>
          <p:nvPr/>
        </p:nvSpPr>
        <p:spPr>
          <a:xfrm rot="0">
            <a:off x="9496273" y="2769689"/>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Problem:</a:t>
            </a:r>
            <a:r>
              <a:rPr lang="en-US" sz="1750">
                <a:solidFill>
                  <a:srgbClr val="52586B"/>
                </a:solidFill>
                <a:latin typeface="Arimo"/>
                <a:ea typeface="Arimo"/>
                <a:cs typeface="Arimo"/>
                <a:sym typeface="Arimo"/>
              </a:rPr>
              <a:t> Treated as a virtue. Debt accumulates faster than it resolves.</a:t>
            </a:r>
          </a:p>
        </p:txBody>
      </p:sp>
      <p:sp>
        <p:nvSpPr>
          <p:cNvPr name="TextBox 22" id="22"/>
          <p:cNvSpPr txBox="true"/>
          <p:nvPr/>
        </p:nvSpPr>
        <p:spPr>
          <a:xfrm rot="0">
            <a:off x="9496273" y="3229566"/>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Opportunity:</a:t>
            </a:r>
            <a:r>
              <a:rPr lang="en-US" sz="1750">
                <a:solidFill>
                  <a:srgbClr val="52586B"/>
                </a:solidFill>
                <a:latin typeface="Arimo"/>
                <a:ea typeface="Arimo"/>
                <a:cs typeface="Arimo"/>
                <a:sym typeface="Arimo"/>
              </a:rPr>
              <a:t> The most potent recovery lever.</a:t>
            </a:r>
          </a:p>
        </p:txBody>
      </p:sp>
      <p:grpSp>
        <p:nvGrpSpPr>
          <p:cNvPr name="Group 23" id="23"/>
          <p:cNvGrpSpPr/>
          <p:nvPr/>
        </p:nvGrpSpPr>
        <p:grpSpPr>
          <a:xfrm rot="0">
            <a:off x="977951" y="4083548"/>
            <a:ext cx="8079877" cy="2479329"/>
            <a:chOff x="0" y="0"/>
            <a:chExt cx="10773169" cy="3305772"/>
          </a:xfrm>
        </p:grpSpPr>
        <p:sp>
          <p:nvSpPr>
            <p:cNvPr name="Freeform 24" id="24"/>
            <p:cNvSpPr/>
            <p:nvPr/>
          </p:nvSpPr>
          <p:spPr>
            <a:xfrm flipH="false" flipV="false" rot="0">
              <a:off x="19050" y="19050"/>
              <a:ext cx="10735056" cy="3267710"/>
            </a:xfrm>
            <a:custGeom>
              <a:avLst/>
              <a:gdLst/>
              <a:ahLst/>
              <a:cxnLst/>
              <a:rect r="r" b="b" t="t" l="l"/>
              <a:pathLst>
                <a:path h="3267710" w="10735056">
                  <a:moveTo>
                    <a:pt x="0" y="125095"/>
                  </a:moveTo>
                  <a:cubicBezTo>
                    <a:pt x="0" y="56007"/>
                    <a:pt x="56388" y="0"/>
                    <a:pt x="126111" y="0"/>
                  </a:cubicBezTo>
                  <a:lnTo>
                    <a:pt x="10608945" y="0"/>
                  </a:lnTo>
                  <a:cubicBezTo>
                    <a:pt x="10678540" y="0"/>
                    <a:pt x="10735056" y="56007"/>
                    <a:pt x="10735056" y="125095"/>
                  </a:cubicBezTo>
                  <a:lnTo>
                    <a:pt x="10735056" y="3142615"/>
                  </a:lnTo>
                  <a:cubicBezTo>
                    <a:pt x="10735056" y="3211703"/>
                    <a:pt x="10678668" y="3267710"/>
                    <a:pt x="10608945" y="3267710"/>
                  </a:cubicBezTo>
                  <a:lnTo>
                    <a:pt x="126111" y="3267710"/>
                  </a:lnTo>
                  <a:cubicBezTo>
                    <a:pt x="56515" y="3267710"/>
                    <a:pt x="0" y="3211703"/>
                    <a:pt x="0" y="3142615"/>
                  </a:cubicBezTo>
                  <a:close/>
                </a:path>
              </a:pathLst>
            </a:custGeom>
            <a:solidFill>
              <a:srgbClr val="FFFFFF">
                <a:alpha val="90196"/>
              </a:srgbClr>
            </a:solidFill>
          </p:spPr>
        </p:sp>
        <p:sp>
          <p:nvSpPr>
            <p:cNvPr name="Freeform 25" id="25"/>
            <p:cNvSpPr/>
            <p:nvPr/>
          </p:nvSpPr>
          <p:spPr>
            <a:xfrm flipH="false" flipV="false" rot="0">
              <a:off x="0" y="0"/>
              <a:ext cx="10773156" cy="3305810"/>
            </a:xfrm>
            <a:custGeom>
              <a:avLst/>
              <a:gdLst/>
              <a:ahLst/>
              <a:cxnLst/>
              <a:rect r="r" b="b" t="t" l="l"/>
              <a:pathLst>
                <a:path h="3305810" w="10773156">
                  <a:moveTo>
                    <a:pt x="0" y="144145"/>
                  </a:moveTo>
                  <a:cubicBezTo>
                    <a:pt x="0" y="64389"/>
                    <a:pt x="65151" y="0"/>
                    <a:pt x="145161" y="0"/>
                  </a:cubicBezTo>
                  <a:lnTo>
                    <a:pt x="10627995" y="0"/>
                  </a:lnTo>
                  <a:lnTo>
                    <a:pt x="10627995" y="19050"/>
                  </a:lnTo>
                  <a:lnTo>
                    <a:pt x="10627995" y="0"/>
                  </a:lnTo>
                  <a:cubicBezTo>
                    <a:pt x="10708005" y="0"/>
                    <a:pt x="10773156" y="64389"/>
                    <a:pt x="10773156" y="144145"/>
                  </a:cubicBezTo>
                  <a:lnTo>
                    <a:pt x="10754106" y="144145"/>
                  </a:lnTo>
                  <a:lnTo>
                    <a:pt x="10773156" y="144145"/>
                  </a:lnTo>
                  <a:lnTo>
                    <a:pt x="10773156" y="3161665"/>
                  </a:lnTo>
                  <a:lnTo>
                    <a:pt x="10754106" y="3161665"/>
                  </a:lnTo>
                  <a:lnTo>
                    <a:pt x="10773156" y="3161665"/>
                  </a:lnTo>
                  <a:cubicBezTo>
                    <a:pt x="10773156" y="3241421"/>
                    <a:pt x="10708005" y="3305810"/>
                    <a:pt x="10627995" y="3305810"/>
                  </a:cubicBezTo>
                  <a:lnTo>
                    <a:pt x="10627995" y="3286760"/>
                  </a:lnTo>
                  <a:lnTo>
                    <a:pt x="10627995" y="3305810"/>
                  </a:lnTo>
                  <a:lnTo>
                    <a:pt x="145161" y="3305810"/>
                  </a:lnTo>
                  <a:lnTo>
                    <a:pt x="145161" y="3286760"/>
                  </a:lnTo>
                  <a:lnTo>
                    <a:pt x="145161" y="3305810"/>
                  </a:lnTo>
                  <a:cubicBezTo>
                    <a:pt x="65151" y="3305810"/>
                    <a:pt x="0" y="3241421"/>
                    <a:pt x="0" y="3161665"/>
                  </a:cubicBezTo>
                  <a:lnTo>
                    <a:pt x="0" y="144145"/>
                  </a:lnTo>
                  <a:lnTo>
                    <a:pt x="19050" y="144145"/>
                  </a:lnTo>
                  <a:lnTo>
                    <a:pt x="0" y="144145"/>
                  </a:lnTo>
                  <a:moveTo>
                    <a:pt x="38100" y="144145"/>
                  </a:moveTo>
                  <a:lnTo>
                    <a:pt x="38100" y="3161665"/>
                  </a:lnTo>
                  <a:lnTo>
                    <a:pt x="19050" y="3161665"/>
                  </a:lnTo>
                  <a:lnTo>
                    <a:pt x="38100" y="3161665"/>
                  </a:lnTo>
                  <a:cubicBezTo>
                    <a:pt x="38100" y="3220085"/>
                    <a:pt x="85852" y="3267710"/>
                    <a:pt x="145161" y="3267710"/>
                  </a:cubicBezTo>
                  <a:lnTo>
                    <a:pt x="10627995" y="3267710"/>
                  </a:lnTo>
                  <a:cubicBezTo>
                    <a:pt x="10687303" y="3267710"/>
                    <a:pt x="10735056" y="3220085"/>
                    <a:pt x="10735056" y="3161665"/>
                  </a:cubicBezTo>
                  <a:lnTo>
                    <a:pt x="10735056" y="144145"/>
                  </a:lnTo>
                  <a:cubicBezTo>
                    <a:pt x="10735056" y="85725"/>
                    <a:pt x="10687303" y="38100"/>
                    <a:pt x="10627995" y="38100"/>
                  </a:cubicBezTo>
                  <a:lnTo>
                    <a:pt x="145161" y="38100"/>
                  </a:lnTo>
                  <a:lnTo>
                    <a:pt x="145161" y="19050"/>
                  </a:lnTo>
                  <a:lnTo>
                    <a:pt x="145161" y="38100"/>
                  </a:lnTo>
                  <a:cubicBezTo>
                    <a:pt x="85852" y="38100"/>
                    <a:pt x="38100" y="85725"/>
                    <a:pt x="38100" y="144145"/>
                  </a:cubicBezTo>
                  <a:close/>
                </a:path>
              </a:pathLst>
            </a:custGeom>
            <a:solidFill>
              <a:srgbClr val="C8CACF"/>
            </a:solidFill>
          </p:spPr>
        </p:sp>
      </p:grpSp>
      <p:sp>
        <p:nvSpPr>
          <p:cNvPr name="TextBox 26" id="26"/>
          <p:cNvSpPr txBox="true"/>
          <p:nvPr/>
        </p:nvSpPr>
        <p:spPr>
          <a:xfrm rot="0">
            <a:off x="1244051" y="4330598"/>
            <a:ext cx="3160071" cy="367751"/>
          </a:xfrm>
          <a:prstGeom prst="rect">
            <a:avLst/>
          </a:prstGeom>
        </p:spPr>
        <p:txBody>
          <a:bodyPr anchor="t" rtlCol="false" tIns="0" lIns="0" bIns="0" rIns="0">
            <a:spAutoFit/>
          </a:bodyPr>
          <a:lstStyle/>
          <a:p>
            <a:pPr algn="l">
              <a:lnSpc>
                <a:spcPts val="2687"/>
              </a:lnSpc>
            </a:pPr>
            <a:r>
              <a:rPr lang="en-US" sz="2187" b="true">
                <a:solidFill>
                  <a:srgbClr val="52586B"/>
                </a:solidFill>
                <a:latin typeface="Arimo Bold"/>
                <a:ea typeface="Arimo Bold"/>
                <a:cs typeface="Arimo Bold"/>
                <a:sym typeface="Arimo Bold"/>
              </a:rPr>
              <a:t>Musculoskeletal Health</a:t>
            </a:r>
          </a:p>
        </p:txBody>
      </p:sp>
      <p:sp>
        <p:nvSpPr>
          <p:cNvPr name="TextBox 27" id="27"/>
          <p:cNvSpPr txBox="true"/>
          <p:nvPr/>
        </p:nvSpPr>
        <p:spPr>
          <a:xfrm rot="0">
            <a:off x="1244051" y="4742707"/>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Problem:</a:t>
            </a:r>
            <a:r>
              <a:rPr lang="en-US" sz="1750">
                <a:solidFill>
                  <a:srgbClr val="52586B"/>
                </a:solidFill>
                <a:latin typeface="Arimo"/>
                <a:ea typeface="Arimo"/>
                <a:cs typeface="Arimo"/>
                <a:sym typeface="Arimo"/>
              </a:rPr>
              <a:t> High prevalence of injury, low ergonomic awareness.</a:t>
            </a:r>
          </a:p>
        </p:txBody>
      </p:sp>
      <p:sp>
        <p:nvSpPr>
          <p:cNvPr name="TextBox 28" id="28"/>
          <p:cNvSpPr txBox="true"/>
          <p:nvPr/>
        </p:nvSpPr>
        <p:spPr>
          <a:xfrm rot="0">
            <a:off x="1244051" y="5202584"/>
            <a:ext cx="7547667" cy="754856"/>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Opportunity:</a:t>
            </a:r>
            <a:r>
              <a:rPr lang="en-US" sz="1750">
                <a:solidFill>
                  <a:srgbClr val="52586B"/>
                </a:solidFill>
                <a:latin typeface="Arimo"/>
                <a:ea typeface="Arimo"/>
                <a:cs typeface="Arimo"/>
                <a:sym typeface="Arimo"/>
              </a:rPr>
              <a:t> The same interventions protecting elite athletes are directly transferable.</a:t>
            </a:r>
          </a:p>
        </p:txBody>
      </p:sp>
      <p:grpSp>
        <p:nvGrpSpPr>
          <p:cNvPr name="Group 29" id="29"/>
          <p:cNvGrpSpPr/>
          <p:nvPr/>
        </p:nvGrpSpPr>
        <p:grpSpPr>
          <a:xfrm rot="0">
            <a:off x="9230173" y="4083548"/>
            <a:ext cx="8079877" cy="2479329"/>
            <a:chOff x="0" y="0"/>
            <a:chExt cx="10773169" cy="3305772"/>
          </a:xfrm>
        </p:grpSpPr>
        <p:sp>
          <p:nvSpPr>
            <p:cNvPr name="Freeform 30" id="30"/>
            <p:cNvSpPr/>
            <p:nvPr/>
          </p:nvSpPr>
          <p:spPr>
            <a:xfrm flipH="false" flipV="false" rot="0">
              <a:off x="19050" y="19050"/>
              <a:ext cx="10735056" cy="3267710"/>
            </a:xfrm>
            <a:custGeom>
              <a:avLst/>
              <a:gdLst/>
              <a:ahLst/>
              <a:cxnLst/>
              <a:rect r="r" b="b" t="t" l="l"/>
              <a:pathLst>
                <a:path h="3267710" w="10735056">
                  <a:moveTo>
                    <a:pt x="0" y="125095"/>
                  </a:moveTo>
                  <a:cubicBezTo>
                    <a:pt x="0" y="56007"/>
                    <a:pt x="56388" y="0"/>
                    <a:pt x="126111" y="0"/>
                  </a:cubicBezTo>
                  <a:lnTo>
                    <a:pt x="10608945" y="0"/>
                  </a:lnTo>
                  <a:cubicBezTo>
                    <a:pt x="10678540" y="0"/>
                    <a:pt x="10735056" y="56007"/>
                    <a:pt x="10735056" y="125095"/>
                  </a:cubicBezTo>
                  <a:lnTo>
                    <a:pt x="10735056" y="3142615"/>
                  </a:lnTo>
                  <a:cubicBezTo>
                    <a:pt x="10735056" y="3211703"/>
                    <a:pt x="10678668" y="3267710"/>
                    <a:pt x="10608945" y="3267710"/>
                  </a:cubicBezTo>
                  <a:lnTo>
                    <a:pt x="126111" y="3267710"/>
                  </a:lnTo>
                  <a:cubicBezTo>
                    <a:pt x="56515" y="3267710"/>
                    <a:pt x="0" y="3211703"/>
                    <a:pt x="0" y="3142615"/>
                  </a:cubicBezTo>
                  <a:close/>
                </a:path>
              </a:pathLst>
            </a:custGeom>
            <a:solidFill>
              <a:srgbClr val="FFFFFF">
                <a:alpha val="90196"/>
              </a:srgbClr>
            </a:solidFill>
          </p:spPr>
        </p:sp>
        <p:sp>
          <p:nvSpPr>
            <p:cNvPr name="Freeform 31" id="31"/>
            <p:cNvSpPr/>
            <p:nvPr/>
          </p:nvSpPr>
          <p:spPr>
            <a:xfrm flipH="false" flipV="false" rot="0">
              <a:off x="0" y="0"/>
              <a:ext cx="10773156" cy="3305810"/>
            </a:xfrm>
            <a:custGeom>
              <a:avLst/>
              <a:gdLst/>
              <a:ahLst/>
              <a:cxnLst/>
              <a:rect r="r" b="b" t="t" l="l"/>
              <a:pathLst>
                <a:path h="3305810" w="10773156">
                  <a:moveTo>
                    <a:pt x="0" y="144145"/>
                  </a:moveTo>
                  <a:cubicBezTo>
                    <a:pt x="0" y="64389"/>
                    <a:pt x="65151" y="0"/>
                    <a:pt x="145161" y="0"/>
                  </a:cubicBezTo>
                  <a:lnTo>
                    <a:pt x="10627995" y="0"/>
                  </a:lnTo>
                  <a:lnTo>
                    <a:pt x="10627995" y="19050"/>
                  </a:lnTo>
                  <a:lnTo>
                    <a:pt x="10627995" y="0"/>
                  </a:lnTo>
                  <a:cubicBezTo>
                    <a:pt x="10708005" y="0"/>
                    <a:pt x="10773156" y="64389"/>
                    <a:pt x="10773156" y="144145"/>
                  </a:cubicBezTo>
                  <a:lnTo>
                    <a:pt x="10754106" y="144145"/>
                  </a:lnTo>
                  <a:lnTo>
                    <a:pt x="10773156" y="144145"/>
                  </a:lnTo>
                  <a:lnTo>
                    <a:pt x="10773156" y="3161665"/>
                  </a:lnTo>
                  <a:lnTo>
                    <a:pt x="10754106" y="3161665"/>
                  </a:lnTo>
                  <a:lnTo>
                    <a:pt x="10773156" y="3161665"/>
                  </a:lnTo>
                  <a:cubicBezTo>
                    <a:pt x="10773156" y="3241421"/>
                    <a:pt x="10708005" y="3305810"/>
                    <a:pt x="10627995" y="3305810"/>
                  </a:cubicBezTo>
                  <a:lnTo>
                    <a:pt x="10627995" y="3286760"/>
                  </a:lnTo>
                  <a:lnTo>
                    <a:pt x="10627995" y="3305810"/>
                  </a:lnTo>
                  <a:lnTo>
                    <a:pt x="145161" y="3305810"/>
                  </a:lnTo>
                  <a:lnTo>
                    <a:pt x="145161" y="3286760"/>
                  </a:lnTo>
                  <a:lnTo>
                    <a:pt x="145161" y="3305810"/>
                  </a:lnTo>
                  <a:cubicBezTo>
                    <a:pt x="65151" y="3305810"/>
                    <a:pt x="0" y="3241421"/>
                    <a:pt x="0" y="3161665"/>
                  </a:cubicBezTo>
                  <a:lnTo>
                    <a:pt x="0" y="144145"/>
                  </a:lnTo>
                  <a:lnTo>
                    <a:pt x="19050" y="144145"/>
                  </a:lnTo>
                  <a:lnTo>
                    <a:pt x="0" y="144145"/>
                  </a:lnTo>
                  <a:moveTo>
                    <a:pt x="38100" y="144145"/>
                  </a:moveTo>
                  <a:lnTo>
                    <a:pt x="38100" y="3161665"/>
                  </a:lnTo>
                  <a:lnTo>
                    <a:pt x="19050" y="3161665"/>
                  </a:lnTo>
                  <a:lnTo>
                    <a:pt x="38100" y="3161665"/>
                  </a:lnTo>
                  <a:cubicBezTo>
                    <a:pt x="38100" y="3220085"/>
                    <a:pt x="85852" y="3267710"/>
                    <a:pt x="145161" y="3267710"/>
                  </a:cubicBezTo>
                  <a:lnTo>
                    <a:pt x="10627995" y="3267710"/>
                  </a:lnTo>
                  <a:cubicBezTo>
                    <a:pt x="10687303" y="3267710"/>
                    <a:pt x="10735056" y="3220085"/>
                    <a:pt x="10735056" y="3161665"/>
                  </a:cubicBezTo>
                  <a:lnTo>
                    <a:pt x="10735056" y="144145"/>
                  </a:lnTo>
                  <a:cubicBezTo>
                    <a:pt x="10735056" y="85725"/>
                    <a:pt x="10687303" y="38100"/>
                    <a:pt x="10627995" y="38100"/>
                  </a:cubicBezTo>
                  <a:lnTo>
                    <a:pt x="145161" y="38100"/>
                  </a:lnTo>
                  <a:lnTo>
                    <a:pt x="145161" y="19050"/>
                  </a:lnTo>
                  <a:lnTo>
                    <a:pt x="145161" y="38100"/>
                  </a:lnTo>
                  <a:cubicBezTo>
                    <a:pt x="85852" y="38100"/>
                    <a:pt x="38100" y="85725"/>
                    <a:pt x="38100" y="144145"/>
                  </a:cubicBezTo>
                  <a:close/>
                </a:path>
              </a:pathLst>
            </a:custGeom>
            <a:solidFill>
              <a:srgbClr val="C8CACF"/>
            </a:solidFill>
          </p:spPr>
        </p:sp>
      </p:grpSp>
      <p:sp>
        <p:nvSpPr>
          <p:cNvPr name="TextBox 32" id="32"/>
          <p:cNvSpPr txBox="true"/>
          <p:nvPr/>
        </p:nvSpPr>
        <p:spPr>
          <a:xfrm rot="0">
            <a:off x="9496273" y="4330598"/>
            <a:ext cx="2790977" cy="367751"/>
          </a:xfrm>
          <a:prstGeom prst="rect">
            <a:avLst/>
          </a:prstGeom>
        </p:spPr>
        <p:txBody>
          <a:bodyPr anchor="t" rtlCol="false" tIns="0" lIns="0" bIns="0" rIns="0">
            <a:spAutoFit/>
          </a:bodyPr>
          <a:lstStyle/>
          <a:p>
            <a:pPr algn="l">
              <a:lnSpc>
                <a:spcPts val="2687"/>
              </a:lnSpc>
            </a:pPr>
            <a:r>
              <a:rPr lang="en-US" sz="2187" b="true">
                <a:solidFill>
                  <a:srgbClr val="52586B"/>
                </a:solidFill>
                <a:latin typeface="Arimo Bold"/>
                <a:ea typeface="Arimo Bold"/>
                <a:cs typeface="Arimo Bold"/>
                <a:sym typeface="Arimo Bold"/>
              </a:rPr>
              <a:t>Recovery</a:t>
            </a:r>
          </a:p>
        </p:txBody>
      </p:sp>
      <p:sp>
        <p:nvSpPr>
          <p:cNvPr name="TextBox 33" id="33"/>
          <p:cNvSpPr txBox="true"/>
          <p:nvPr/>
        </p:nvSpPr>
        <p:spPr>
          <a:xfrm rot="0">
            <a:off x="9496273" y="4742707"/>
            <a:ext cx="7547667" cy="754856"/>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Problem:</a:t>
            </a:r>
            <a:r>
              <a:rPr lang="en-US" sz="1750">
                <a:solidFill>
                  <a:srgbClr val="52586B"/>
                </a:solidFill>
                <a:latin typeface="Arimo"/>
                <a:ea typeface="Arimo"/>
                <a:cs typeface="Arimo"/>
                <a:sym typeface="Arimo"/>
              </a:rPr>
              <a:t> Without structured recovery, each case begins more depleted than the last.</a:t>
            </a:r>
          </a:p>
        </p:txBody>
      </p:sp>
      <p:sp>
        <p:nvSpPr>
          <p:cNvPr name="TextBox 34" id="34"/>
          <p:cNvSpPr txBox="true"/>
          <p:nvPr/>
        </p:nvSpPr>
        <p:spPr>
          <a:xfrm rot="0">
            <a:off x="9496273" y="5541912"/>
            <a:ext cx="7547667" cy="754856"/>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Opportunity:</a:t>
            </a:r>
            <a:r>
              <a:rPr lang="en-US" sz="1750">
                <a:solidFill>
                  <a:srgbClr val="52586B"/>
                </a:solidFill>
                <a:latin typeface="Arimo"/>
                <a:ea typeface="Arimo"/>
                <a:cs typeface="Arimo"/>
                <a:sym typeface="Arimo"/>
              </a:rPr>
              <a:t> Evidence-based protocols exist and are ready to implement today.</a:t>
            </a:r>
          </a:p>
        </p:txBody>
      </p:sp>
      <p:grpSp>
        <p:nvGrpSpPr>
          <p:cNvPr name="Group 35" id="35"/>
          <p:cNvGrpSpPr/>
          <p:nvPr/>
        </p:nvGrpSpPr>
        <p:grpSpPr>
          <a:xfrm rot="0">
            <a:off x="977951" y="6735213"/>
            <a:ext cx="8079877" cy="2140001"/>
            <a:chOff x="0" y="0"/>
            <a:chExt cx="10773169" cy="2853334"/>
          </a:xfrm>
        </p:grpSpPr>
        <p:sp>
          <p:nvSpPr>
            <p:cNvPr name="Freeform 36" id="36"/>
            <p:cNvSpPr/>
            <p:nvPr/>
          </p:nvSpPr>
          <p:spPr>
            <a:xfrm flipH="false" flipV="false" rot="0">
              <a:off x="19050" y="19050"/>
              <a:ext cx="10735056" cy="2815336"/>
            </a:xfrm>
            <a:custGeom>
              <a:avLst/>
              <a:gdLst/>
              <a:ahLst/>
              <a:cxnLst/>
              <a:rect r="r" b="b" t="t" l="l"/>
              <a:pathLst>
                <a:path h="2815336" w="10735056">
                  <a:moveTo>
                    <a:pt x="0" y="125095"/>
                  </a:moveTo>
                  <a:cubicBezTo>
                    <a:pt x="0" y="56007"/>
                    <a:pt x="56515" y="0"/>
                    <a:pt x="126238" y="0"/>
                  </a:cubicBezTo>
                  <a:lnTo>
                    <a:pt x="10608818" y="0"/>
                  </a:lnTo>
                  <a:cubicBezTo>
                    <a:pt x="10678541" y="0"/>
                    <a:pt x="10735056" y="56007"/>
                    <a:pt x="10735056" y="125095"/>
                  </a:cubicBezTo>
                  <a:lnTo>
                    <a:pt x="10735056" y="2690241"/>
                  </a:lnTo>
                  <a:cubicBezTo>
                    <a:pt x="10735056" y="2759329"/>
                    <a:pt x="10678541" y="2815336"/>
                    <a:pt x="10608818" y="2815336"/>
                  </a:cubicBezTo>
                  <a:lnTo>
                    <a:pt x="126238" y="2815336"/>
                  </a:lnTo>
                  <a:cubicBezTo>
                    <a:pt x="56515" y="2815336"/>
                    <a:pt x="0" y="2759329"/>
                    <a:pt x="0" y="2690241"/>
                  </a:cubicBezTo>
                  <a:close/>
                </a:path>
              </a:pathLst>
            </a:custGeom>
            <a:solidFill>
              <a:srgbClr val="FFFFFF">
                <a:alpha val="90196"/>
              </a:srgbClr>
            </a:solidFill>
          </p:spPr>
        </p:sp>
        <p:sp>
          <p:nvSpPr>
            <p:cNvPr name="Freeform 37" id="37"/>
            <p:cNvSpPr/>
            <p:nvPr/>
          </p:nvSpPr>
          <p:spPr>
            <a:xfrm flipH="false" flipV="false" rot="0">
              <a:off x="0" y="0"/>
              <a:ext cx="10773156" cy="2853436"/>
            </a:xfrm>
            <a:custGeom>
              <a:avLst/>
              <a:gdLst/>
              <a:ahLst/>
              <a:cxnLst/>
              <a:rect r="r" b="b" t="t" l="l"/>
              <a:pathLst>
                <a:path h="2853436" w="10773156">
                  <a:moveTo>
                    <a:pt x="0" y="144145"/>
                  </a:moveTo>
                  <a:cubicBezTo>
                    <a:pt x="0" y="64389"/>
                    <a:pt x="65278" y="0"/>
                    <a:pt x="145288" y="0"/>
                  </a:cubicBezTo>
                  <a:lnTo>
                    <a:pt x="10627868" y="0"/>
                  </a:lnTo>
                  <a:lnTo>
                    <a:pt x="10627868" y="19050"/>
                  </a:lnTo>
                  <a:lnTo>
                    <a:pt x="10627868" y="0"/>
                  </a:lnTo>
                  <a:cubicBezTo>
                    <a:pt x="10708005" y="0"/>
                    <a:pt x="10773156" y="64389"/>
                    <a:pt x="10773156" y="144145"/>
                  </a:cubicBezTo>
                  <a:lnTo>
                    <a:pt x="10773156" y="2709291"/>
                  </a:lnTo>
                  <a:lnTo>
                    <a:pt x="10754106" y="2709291"/>
                  </a:lnTo>
                  <a:lnTo>
                    <a:pt x="10773156" y="2709291"/>
                  </a:lnTo>
                  <a:cubicBezTo>
                    <a:pt x="10773156" y="2789047"/>
                    <a:pt x="10707878" y="2853436"/>
                    <a:pt x="10627868" y="2853436"/>
                  </a:cubicBezTo>
                  <a:lnTo>
                    <a:pt x="10627868" y="2834386"/>
                  </a:lnTo>
                  <a:lnTo>
                    <a:pt x="10627868" y="2853436"/>
                  </a:lnTo>
                  <a:lnTo>
                    <a:pt x="145288" y="2853436"/>
                  </a:lnTo>
                  <a:lnTo>
                    <a:pt x="145288" y="2834386"/>
                  </a:lnTo>
                  <a:lnTo>
                    <a:pt x="145288" y="2853436"/>
                  </a:lnTo>
                  <a:cubicBezTo>
                    <a:pt x="65278" y="2853309"/>
                    <a:pt x="0" y="2789047"/>
                    <a:pt x="0" y="2709291"/>
                  </a:cubicBezTo>
                  <a:lnTo>
                    <a:pt x="0" y="144145"/>
                  </a:lnTo>
                  <a:lnTo>
                    <a:pt x="19050" y="144145"/>
                  </a:lnTo>
                  <a:lnTo>
                    <a:pt x="0" y="144145"/>
                  </a:lnTo>
                  <a:moveTo>
                    <a:pt x="38100" y="144145"/>
                  </a:moveTo>
                  <a:lnTo>
                    <a:pt x="38100" y="2709291"/>
                  </a:lnTo>
                  <a:lnTo>
                    <a:pt x="19050" y="2709291"/>
                  </a:lnTo>
                  <a:lnTo>
                    <a:pt x="38100" y="2709291"/>
                  </a:lnTo>
                  <a:cubicBezTo>
                    <a:pt x="38100" y="2767711"/>
                    <a:pt x="85979" y="2815336"/>
                    <a:pt x="145288" y="2815336"/>
                  </a:cubicBezTo>
                  <a:lnTo>
                    <a:pt x="10627868" y="2815336"/>
                  </a:lnTo>
                  <a:cubicBezTo>
                    <a:pt x="10687304" y="2815336"/>
                    <a:pt x="10735056" y="2767711"/>
                    <a:pt x="10735056" y="2709291"/>
                  </a:cubicBezTo>
                  <a:lnTo>
                    <a:pt x="10735056" y="144145"/>
                  </a:lnTo>
                  <a:lnTo>
                    <a:pt x="10754106" y="144145"/>
                  </a:lnTo>
                  <a:lnTo>
                    <a:pt x="10735056" y="144145"/>
                  </a:lnTo>
                  <a:cubicBezTo>
                    <a:pt x="10735056" y="85725"/>
                    <a:pt x="10687177" y="38100"/>
                    <a:pt x="10627868" y="38100"/>
                  </a:cubicBezTo>
                  <a:lnTo>
                    <a:pt x="145288" y="38100"/>
                  </a:lnTo>
                  <a:lnTo>
                    <a:pt x="145288" y="19050"/>
                  </a:lnTo>
                  <a:lnTo>
                    <a:pt x="145288" y="38100"/>
                  </a:lnTo>
                  <a:cubicBezTo>
                    <a:pt x="85979" y="38100"/>
                    <a:pt x="38100" y="85725"/>
                    <a:pt x="38100" y="144145"/>
                  </a:cubicBezTo>
                  <a:close/>
                </a:path>
              </a:pathLst>
            </a:custGeom>
            <a:solidFill>
              <a:srgbClr val="C8CACF"/>
            </a:solidFill>
          </p:spPr>
        </p:sp>
      </p:grpSp>
      <p:sp>
        <p:nvSpPr>
          <p:cNvPr name="TextBox 38" id="38"/>
          <p:cNvSpPr txBox="true"/>
          <p:nvPr/>
        </p:nvSpPr>
        <p:spPr>
          <a:xfrm rot="0">
            <a:off x="1244051" y="6982273"/>
            <a:ext cx="2790977" cy="367751"/>
          </a:xfrm>
          <a:prstGeom prst="rect">
            <a:avLst/>
          </a:prstGeom>
        </p:spPr>
        <p:txBody>
          <a:bodyPr anchor="t" rtlCol="false" tIns="0" lIns="0" bIns="0" rIns="0">
            <a:spAutoFit/>
          </a:bodyPr>
          <a:lstStyle/>
          <a:p>
            <a:pPr algn="l">
              <a:lnSpc>
                <a:spcPts val="2687"/>
              </a:lnSpc>
            </a:pPr>
            <a:r>
              <a:rPr lang="en-US" sz="2187" b="true">
                <a:solidFill>
                  <a:srgbClr val="52586B"/>
                </a:solidFill>
                <a:latin typeface="Arimo Bold"/>
                <a:ea typeface="Arimo Bold"/>
                <a:cs typeface="Arimo Bold"/>
                <a:sym typeface="Arimo Bold"/>
              </a:rPr>
              <a:t>OR Environment</a:t>
            </a:r>
          </a:p>
        </p:txBody>
      </p:sp>
      <p:sp>
        <p:nvSpPr>
          <p:cNvPr name="TextBox 39" id="39"/>
          <p:cNvSpPr txBox="true"/>
          <p:nvPr/>
        </p:nvSpPr>
        <p:spPr>
          <a:xfrm rot="0">
            <a:off x="1244051" y="7394372"/>
            <a:ext cx="7547667" cy="754856"/>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Problem:</a:t>
            </a:r>
            <a:r>
              <a:rPr lang="en-US" sz="1750">
                <a:solidFill>
                  <a:srgbClr val="52586B"/>
                </a:solidFill>
                <a:latin typeface="Arimo"/>
                <a:ea typeface="Arimo"/>
                <a:cs typeface="Arimo"/>
                <a:sym typeface="Arimo"/>
              </a:rPr>
              <a:t> Noise, distractions, and flow disruptions directly impair performance and raise error rates.</a:t>
            </a:r>
          </a:p>
        </p:txBody>
      </p:sp>
      <p:sp>
        <p:nvSpPr>
          <p:cNvPr name="TextBox 40" id="40"/>
          <p:cNvSpPr txBox="true"/>
          <p:nvPr/>
        </p:nvSpPr>
        <p:spPr>
          <a:xfrm rot="0">
            <a:off x="1244051" y="8193586"/>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Opportunity:</a:t>
            </a:r>
            <a:r>
              <a:rPr lang="en-US" sz="1750">
                <a:solidFill>
                  <a:srgbClr val="52586B"/>
                </a:solidFill>
                <a:latin typeface="Arimo"/>
                <a:ea typeface="Arimo"/>
                <a:cs typeface="Arimo"/>
                <a:sym typeface="Arimo"/>
              </a:rPr>
              <a:t> Every environmental variable is measurable and optimisable.</a:t>
            </a:r>
          </a:p>
        </p:txBody>
      </p:sp>
      <p:grpSp>
        <p:nvGrpSpPr>
          <p:cNvPr name="Group 41" id="41"/>
          <p:cNvGrpSpPr/>
          <p:nvPr/>
        </p:nvGrpSpPr>
        <p:grpSpPr>
          <a:xfrm rot="0">
            <a:off x="9230173" y="6735213"/>
            <a:ext cx="8079877" cy="2140001"/>
            <a:chOff x="0" y="0"/>
            <a:chExt cx="10773169" cy="2853334"/>
          </a:xfrm>
        </p:grpSpPr>
        <p:sp>
          <p:nvSpPr>
            <p:cNvPr name="Freeform 42" id="42"/>
            <p:cNvSpPr/>
            <p:nvPr/>
          </p:nvSpPr>
          <p:spPr>
            <a:xfrm flipH="false" flipV="false" rot="0">
              <a:off x="19050" y="19050"/>
              <a:ext cx="10735056" cy="2815336"/>
            </a:xfrm>
            <a:custGeom>
              <a:avLst/>
              <a:gdLst/>
              <a:ahLst/>
              <a:cxnLst/>
              <a:rect r="r" b="b" t="t" l="l"/>
              <a:pathLst>
                <a:path h="2815336" w="10735056">
                  <a:moveTo>
                    <a:pt x="0" y="125095"/>
                  </a:moveTo>
                  <a:cubicBezTo>
                    <a:pt x="0" y="56007"/>
                    <a:pt x="56515" y="0"/>
                    <a:pt x="126238" y="0"/>
                  </a:cubicBezTo>
                  <a:lnTo>
                    <a:pt x="10608818" y="0"/>
                  </a:lnTo>
                  <a:cubicBezTo>
                    <a:pt x="10678541" y="0"/>
                    <a:pt x="10735056" y="56007"/>
                    <a:pt x="10735056" y="125095"/>
                  </a:cubicBezTo>
                  <a:lnTo>
                    <a:pt x="10735056" y="2690241"/>
                  </a:lnTo>
                  <a:cubicBezTo>
                    <a:pt x="10735056" y="2759329"/>
                    <a:pt x="10678541" y="2815336"/>
                    <a:pt x="10608818" y="2815336"/>
                  </a:cubicBezTo>
                  <a:lnTo>
                    <a:pt x="126238" y="2815336"/>
                  </a:lnTo>
                  <a:cubicBezTo>
                    <a:pt x="56515" y="2815336"/>
                    <a:pt x="0" y="2759329"/>
                    <a:pt x="0" y="2690241"/>
                  </a:cubicBezTo>
                  <a:close/>
                </a:path>
              </a:pathLst>
            </a:custGeom>
            <a:solidFill>
              <a:srgbClr val="FFFFFF">
                <a:alpha val="90196"/>
              </a:srgbClr>
            </a:solidFill>
          </p:spPr>
        </p:sp>
        <p:sp>
          <p:nvSpPr>
            <p:cNvPr name="Freeform 43" id="43"/>
            <p:cNvSpPr/>
            <p:nvPr/>
          </p:nvSpPr>
          <p:spPr>
            <a:xfrm flipH="false" flipV="false" rot="0">
              <a:off x="0" y="0"/>
              <a:ext cx="10773156" cy="2853436"/>
            </a:xfrm>
            <a:custGeom>
              <a:avLst/>
              <a:gdLst/>
              <a:ahLst/>
              <a:cxnLst/>
              <a:rect r="r" b="b" t="t" l="l"/>
              <a:pathLst>
                <a:path h="2853436" w="10773156">
                  <a:moveTo>
                    <a:pt x="0" y="144145"/>
                  </a:moveTo>
                  <a:cubicBezTo>
                    <a:pt x="0" y="64389"/>
                    <a:pt x="65278" y="0"/>
                    <a:pt x="145288" y="0"/>
                  </a:cubicBezTo>
                  <a:lnTo>
                    <a:pt x="10627868" y="0"/>
                  </a:lnTo>
                  <a:lnTo>
                    <a:pt x="10627868" y="19050"/>
                  </a:lnTo>
                  <a:lnTo>
                    <a:pt x="10627868" y="0"/>
                  </a:lnTo>
                  <a:cubicBezTo>
                    <a:pt x="10708005" y="0"/>
                    <a:pt x="10773156" y="64389"/>
                    <a:pt x="10773156" y="144145"/>
                  </a:cubicBezTo>
                  <a:lnTo>
                    <a:pt x="10773156" y="2709291"/>
                  </a:lnTo>
                  <a:lnTo>
                    <a:pt x="10754106" y="2709291"/>
                  </a:lnTo>
                  <a:lnTo>
                    <a:pt x="10773156" y="2709291"/>
                  </a:lnTo>
                  <a:cubicBezTo>
                    <a:pt x="10773156" y="2789047"/>
                    <a:pt x="10707878" y="2853436"/>
                    <a:pt x="10627868" y="2853436"/>
                  </a:cubicBezTo>
                  <a:lnTo>
                    <a:pt x="10627868" y="2834386"/>
                  </a:lnTo>
                  <a:lnTo>
                    <a:pt x="10627868" y="2853436"/>
                  </a:lnTo>
                  <a:lnTo>
                    <a:pt x="145288" y="2853436"/>
                  </a:lnTo>
                  <a:lnTo>
                    <a:pt x="145288" y="2834386"/>
                  </a:lnTo>
                  <a:lnTo>
                    <a:pt x="145288" y="2853436"/>
                  </a:lnTo>
                  <a:cubicBezTo>
                    <a:pt x="65278" y="2853309"/>
                    <a:pt x="0" y="2789047"/>
                    <a:pt x="0" y="2709291"/>
                  </a:cubicBezTo>
                  <a:lnTo>
                    <a:pt x="0" y="144145"/>
                  </a:lnTo>
                  <a:lnTo>
                    <a:pt x="19050" y="144145"/>
                  </a:lnTo>
                  <a:lnTo>
                    <a:pt x="0" y="144145"/>
                  </a:lnTo>
                  <a:moveTo>
                    <a:pt x="38100" y="144145"/>
                  </a:moveTo>
                  <a:lnTo>
                    <a:pt x="38100" y="2709291"/>
                  </a:lnTo>
                  <a:lnTo>
                    <a:pt x="19050" y="2709291"/>
                  </a:lnTo>
                  <a:lnTo>
                    <a:pt x="38100" y="2709291"/>
                  </a:lnTo>
                  <a:cubicBezTo>
                    <a:pt x="38100" y="2767711"/>
                    <a:pt x="85979" y="2815336"/>
                    <a:pt x="145288" y="2815336"/>
                  </a:cubicBezTo>
                  <a:lnTo>
                    <a:pt x="10627868" y="2815336"/>
                  </a:lnTo>
                  <a:cubicBezTo>
                    <a:pt x="10687304" y="2815336"/>
                    <a:pt x="10735056" y="2767711"/>
                    <a:pt x="10735056" y="2709291"/>
                  </a:cubicBezTo>
                  <a:lnTo>
                    <a:pt x="10735056" y="144145"/>
                  </a:lnTo>
                  <a:lnTo>
                    <a:pt x="10754106" y="144145"/>
                  </a:lnTo>
                  <a:lnTo>
                    <a:pt x="10735056" y="144145"/>
                  </a:lnTo>
                  <a:cubicBezTo>
                    <a:pt x="10735056" y="85725"/>
                    <a:pt x="10687177" y="38100"/>
                    <a:pt x="10627868" y="38100"/>
                  </a:cubicBezTo>
                  <a:lnTo>
                    <a:pt x="145288" y="38100"/>
                  </a:lnTo>
                  <a:lnTo>
                    <a:pt x="145288" y="19050"/>
                  </a:lnTo>
                  <a:lnTo>
                    <a:pt x="145288" y="38100"/>
                  </a:lnTo>
                  <a:cubicBezTo>
                    <a:pt x="85979" y="38100"/>
                    <a:pt x="38100" y="85725"/>
                    <a:pt x="38100" y="144145"/>
                  </a:cubicBezTo>
                  <a:close/>
                </a:path>
              </a:pathLst>
            </a:custGeom>
            <a:solidFill>
              <a:srgbClr val="C8CACF"/>
            </a:solidFill>
          </p:spPr>
        </p:sp>
      </p:grpSp>
      <p:sp>
        <p:nvSpPr>
          <p:cNvPr name="TextBox 44" id="44"/>
          <p:cNvSpPr txBox="true"/>
          <p:nvPr/>
        </p:nvSpPr>
        <p:spPr>
          <a:xfrm rot="0">
            <a:off x="9496273" y="6982273"/>
            <a:ext cx="3398634" cy="367751"/>
          </a:xfrm>
          <a:prstGeom prst="rect">
            <a:avLst/>
          </a:prstGeom>
        </p:spPr>
        <p:txBody>
          <a:bodyPr anchor="t" rtlCol="false" tIns="0" lIns="0" bIns="0" rIns="0">
            <a:spAutoFit/>
          </a:bodyPr>
          <a:lstStyle/>
          <a:p>
            <a:pPr algn="l">
              <a:lnSpc>
                <a:spcPts val="2687"/>
              </a:lnSpc>
            </a:pPr>
            <a:r>
              <a:rPr lang="en-US" sz="2187" b="true">
                <a:solidFill>
                  <a:srgbClr val="52586B"/>
                </a:solidFill>
                <a:latin typeface="Arimo Bold"/>
                <a:ea typeface="Arimo Bold"/>
                <a:cs typeface="Arimo Bold"/>
                <a:sym typeface="Arimo Bold"/>
              </a:rPr>
              <a:t>Well-being and Longevity</a:t>
            </a:r>
          </a:p>
        </p:txBody>
      </p:sp>
      <p:sp>
        <p:nvSpPr>
          <p:cNvPr name="TextBox 45" id="45"/>
          <p:cNvSpPr txBox="true"/>
          <p:nvPr/>
        </p:nvSpPr>
        <p:spPr>
          <a:xfrm rot="0">
            <a:off x="9496273" y="7394372"/>
            <a:ext cx="7547667" cy="415528"/>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Problem:</a:t>
            </a:r>
            <a:r>
              <a:rPr lang="en-US" sz="1750">
                <a:solidFill>
                  <a:srgbClr val="52586B"/>
                </a:solidFill>
                <a:latin typeface="Arimo"/>
                <a:ea typeface="Arimo"/>
                <a:cs typeface="Arimo"/>
                <a:sym typeface="Arimo"/>
              </a:rPr>
              <a:t> A culture of extraction over sustainability.</a:t>
            </a:r>
          </a:p>
        </p:txBody>
      </p:sp>
      <p:sp>
        <p:nvSpPr>
          <p:cNvPr name="TextBox 46" id="46"/>
          <p:cNvSpPr txBox="true"/>
          <p:nvPr/>
        </p:nvSpPr>
        <p:spPr>
          <a:xfrm rot="0">
            <a:off x="9496273" y="7854258"/>
            <a:ext cx="7547667" cy="754856"/>
          </a:xfrm>
          <a:prstGeom prst="rect">
            <a:avLst/>
          </a:prstGeom>
        </p:spPr>
        <p:txBody>
          <a:bodyPr anchor="t" rtlCol="false" tIns="0" lIns="0" bIns="0" rIns="0">
            <a:spAutoFit/>
          </a:bodyPr>
          <a:lstStyle/>
          <a:p>
            <a:pPr algn="l">
              <a:lnSpc>
                <a:spcPts val="2625"/>
              </a:lnSpc>
            </a:pPr>
            <a:r>
              <a:rPr lang="en-US" sz="1750" b="true">
                <a:solidFill>
                  <a:srgbClr val="52586B"/>
                </a:solidFill>
                <a:latin typeface="Arimo Bold"/>
                <a:ea typeface="Arimo Bold"/>
                <a:cs typeface="Arimo Bold"/>
                <a:sym typeface="Arimo Bold"/>
              </a:rPr>
              <a:t>Opportunity:</a:t>
            </a:r>
            <a:r>
              <a:rPr lang="en-US" sz="1750">
                <a:solidFill>
                  <a:srgbClr val="52586B"/>
                </a:solidFill>
                <a:latin typeface="Arimo"/>
                <a:ea typeface="Arimo"/>
                <a:cs typeface="Arimo"/>
                <a:sym typeface="Arimo"/>
              </a:rPr>
              <a:t> A career-spanning performance system that redefines surgeon training, preparation, and workflow.</a:t>
            </a:r>
          </a:p>
        </p:txBody>
      </p:sp>
      <p:sp>
        <p:nvSpPr>
          <p:cNvPr name="TextBox 47" id="47"/>
          <p:cNvSpPr txBox="true"/>
          <p:nvPr/>
        </p:nvSpPr>
        <p:spPr>
          <a:xfrm rot="0">
            <a:off x="992238" y="9010802"/>
            <a:ext cx="16303523" cy="415528"/>
          </a:xfrm>
          <a:prstGeom prst="rect">
            <a:avLst/>
          </a:prstGeom>
        </p:spPr>
        <p:txBody>
          <a:bodyPr anchor="t" rtlCol="false" tIns="0" lIns="0" bIns="0" rIns="0">
            <a:spAutoFit/>
          </a:bodyPr>
          <a:lstStyle/>
          <a:p>
            <a:pPr algn="l">
              <a:lnSpc>
                <a:spcPts val="2625"/>
              </a:lnSpc>
            </a:pPr>
            <a:r>
              <a:rPr lang="en-US" sz="1750">
                <a:solidFill>
                  <a:srgbClr val="52586B"/>
                </a:solidFill>
                <a:latin typeface="Arimo"/>
                <a:ea typeface="Arimo"/>
                <a:cs typeface="Arimo"/>
                <a:sym typeface="Arimo"/>
              </a:rPr>
              <a:t>Torkamani-Azar et al. (2022) · Jevsevar et al. (2021) · Vasireddi et al. (2024) · Dupuy et al. (2018) · Kirksey et al. (2022) · Vitous et al. (2023)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992238" y="934193"/>
            <a:ext cx="9121083" cy="966492"/>
          </a:xfrm>
          <a:prstGeom prst="rect">
            <a:avLst/>
          </a:prstGeom>
        </p:spPr>
        <p:txBody>
          <a:bodyPr anchor="t" rtlCol="false" tIns="0" lIns="0" bIns="0" rIns="0">
            <a:spAutoFit/>
          </a:bodyPr>
          <a:lstStyle/>
          <a:p>
            <a:pPr algn="l">
              <a:lnSpc>
                <a:spcPts val="7124"/>
              </a:lnSpc>
            </a:pPr>
            <a:r>
              <a:rPr lang="en-US" sz="5687" b="true">
                <a:solidFill>
                  <a:srgbClr val="373B48"/>
                </a:solidFill>
                <a:latin typeface="Arimo Bold"/>
                <a:ea typeface="Arimo Bold"/>
                <a:cs typeface="Arimo Bold"/>
                <a:sym typeface="Arimo Bold"/>
              </a:rPr>
              <a:t>Sustainable Performance </a:t>
            </a:r>
          </a:p>
        </p:txBody>
      </p:sp>
      <p:sp>
        <p:nvSpPr>
          <p:cNvPr name="TextBox 9" id="9"/>
          <p:cNvSpPr txBox="true"/>
          <p:nvPr/>
        </p:nvSpPr>
        <p:spPr>
          <a:xfrm rot="0">
            <a:off x="992238" y="2131371"/>
            <a:ext cx="8596608" cy="565252"/>
          </a:xfrm>
          <a:prstGeom prst="rect">
            <a:avLst/>
          </a:prstGeom>
        </p:spPr>
        <p:txBody>
          <a:bodyPr anchor="t" rtlCol="false" tIns="0" lIns="0" bIns="0" rIns="0">
            <a:spAutoFit/>
          </a:bodyPr>
          <a:lstStyle/>
          <a:p>
            <a:pPr algn="l">
              <a:lnSpc>
                <a:spcPts val="4125"/>
              </a:lnSpc>
            </a:pPr>
            <a:r>
              <a:rPr lang="en-US" sz="3312" b="true">
                <a:solidFill>
                  <a:srgbClr val="373B48"/>
                </a:solidFill>
                <a:latin typeface="Arimo Bold"/>
                <a:ea typeface="Arimo Bold"/>
                <a:cs typeface="Arimo Bold"/>
                <a:sym typeface="Arimo Bold"/>
              </a:rPr>
              <a:t>An integrated ecosystem, not case volume</a:t>
            </a:r>
          </a:p>
        </p:txBody>
      </p:sp>
      <p:sp>
        <p:nvSpPr>
          <p:cNvPr name="Freeform 10" id="10" descr="preencoded.png"/>
          <p:cNvSpPr/>
          <p:nvPr/>
        </p:nvSpPr>
        <p:spPr>
          <a:xfrm flipH="false" flipV="false" rot="0">
            <a:off x="992238" y="3479006"/>
            <a:ext cx="527152" cy="527152"/>
          </a:xfrm>
          <a:custGeom>
            <a:avLst/>
            <a:gdLst/>
            <a:ahLst/>
            <a:cxnLst/>
            <a:rect r="r" b="b" t="t" l="l"/>
            <a:pathLst>
              <a:path h="527152" w="527152">
                <a:moveTo>
                  <a:pt x="0" y="0"/>
                </a:moveTo>
                <a:lnTo>
                  <a:pt x="527152" y="0"/>
                </a:lnTo>
                <a:lnTo>
                  <a:pt x="527152" y="527152"/>
                </a:lnTo>
                <a:lnTo>
                  <a:pt x="0" y="5271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992238" y="4211088"/>
            <a:ext cx="2776090"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Physical Conditioning</a:t>
            </a:r>
          </a:p>
        </p:txBody>
      </p:sp>
      <p:sp>
        <p:nvSpPr>
          <p:cNvPr name="Freeform 12" id="12" descr="preencoded.png"/>
          <p:cNvSpPr/>
          <p:nvPr/>
        </p:nvSpPr>
        <p:spPr>
          <a:xfrm flipH="false" flipV="false" rot="0">
            <a:off x="5826919" y="3479006"/>
            <a:ext cx="527152" cy="527152"/>
          </a:xfrm>
          <a:custGeom>
            <a:avLst/>
            <a:gdLst/>
            <a:ahLst/>
            <a:cxnLst/>
            <a:rect r="r" b="b" t="t" l="l"/>
            <a:pathLst>
              <a:path h="527152" w="527152">
                <a:moveTo>
                  <a:pt x="0" y="0"/>
                </a:moveTo>
                <a:lnTo>
                  <a:pt x="527151" y="0"/>
                </a:lnTo>
                <a:lnTo>
                  <a:pt x="527151" y="527152"/>
                </a:lnTo>
                <a:lnTo>
                  <a:pt x="0" y="52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5826919" y="4211088"/>
            <a:ext cx="2635891"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Recovery</a:t>
            </a:r>
          </a:p>
        </p:txBody>
      </p:sp>
      <p:sp>
        <p:nvSpPr>
          <p:cNvPr name="Freeform 14" id="14" descr="preencoded.png"/>
          <p:cNvSpPr/>
          <p:nvPr/>
        </p:nvSpPr>
        <p:spPr>
          <a:xfrm flipH="false" flipV="false" rot="0">
            <a:off x="992238" y="4917872"/>
            <a:ext cx="527152" cy="527152"/>
          </a:xfrm>
          <a:custGeom>
            <a:avLst/>
            <a:gdLst/>
            <a:ahLst/>
            <a:cxnLst/>
            <a:rect r="r" b="b" t="t" l="l"/>
            <a:pathLst>
              <a:path h="527152" w="527152">
                <a:moveTo>
                  <a:pt x="0" y="0"/>
                </a:moveTo>
                <a:lnTo>
                  <a:pt x="527152" y="0"/>
                </a:lnTo>
                <a:lnTo>
                  <a:pt x="527152" y="527151"/>
                </a:lnTo>
                <a:lnTo>
                  <a:pt x="0" y="527151"/>
                </a:lnTo>
                <a:lnTo>
                  <a:pt x="0" y="0"/>
                </a:lnTo>
                <a:close/>
              </a:path>
            </a:pathLst>
          </a:custGeom>
          <a:blipFill>
            <a:blip r:embed="rId9">
              <a:extLst>
                <a:ext uri="{96DAC541-7B7A-43D3-8B79-37D633B846F1}">
                  <asvg:svgBlip xmlns:asvg="http://schemas.microsoft.com/office/drawing/2016/SVG/main" r:embed="rId10"/>
                </a:ext>
              </a:extLst>
            </a:blip>
            <a:stretch>
              <a:fillRect l="0" t="-27677" r="0" b="-27677"/>
            </a:stretch>
          </a:blipFill>
        </p:spPr>
      </p:sp>
      <p:sp>
        <p:nvSpPr>
          <p:cNvPr name="TextBox 15" id="15"/>
          <p:cNvSpPr txBox="true"/>
          <p:nvPr/>
        </p:nvSpPr>
        <p:spPr>
          <a:xfrm rot="0">
            <a:off x="992238" y="5649963"/>
            <a:ext cx="2635891"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MSK Health</a:t>
            </a:r>
          </a:p>
        </p:txBody>
      </p:sp>
      <p:sp>
        <p:nvSpPr>
          <p:cNvPr name="Freeform 16" id="16" descr="preencoded.png"/>
          <p:cNvSpPr/>
          <p:nvPr/>
        </p:nvSpPr>
        <p:spPr>
          <a:xfrm flipH="false" flipV="false" rot="0">
            <a:off x="5826919" y="4917872"/>
            <a:ext cx="527152" cy="527152"/>
          </a:xfrm>
          <a:custGeom>
            <a:avLst/>
            <a:gdLst/>
            <a:ahLst/>
            <a:cxnLst/>
            <a:rect r="r" b="b" t="t" l="l"/>
            <a:pathLst>
              <a:path h="527152" w="527152">
                <a:moveTo>
                  <a:pt x="0" y="0"/>
                </a:moveTo>
                <a:lnTo>
                  <a:pt x="527151" y="0"/>
                </a:lnTo>
                <a:lnTo>
                  <a:pt x="527151" y="527151"/>
                </a:lnTo>
                <a:lnTo>
                  <a:pt x="0" y="527151"/>
                </a:lnTo>
                <a:lnTo>
                  <a:pt x="0" y="0"/>
                </a:lnTo>
                <a:close/>
              </a:path>
            </a:pathLst>
          </a:custGeom>
          <a:blipFill>
            <a:blip r:embed="rId11">
              <a:extLst>
                <a:ext uri="{96DAC541-7B7A-43D3-8B79-37D633B846F1}">
                  <asvg:svgBlip xmlns:asvg="http://schemas.microsoft.com/office/drawing/2016/SVG/main" r:embed="rId12"/>
                </a:ext>
              </a:extLst>
            </a:blip>
            <a:stretch>
              <a:fillRect l="0" t="-1785" r="0" b="-1785"/>
            </a:stretch>
          </a:blipFill>
        </p:spPr>
      </p:sp>
      <p:sp>
        <p:nvSpPr>
          <p:cNvPr name="TextBox 17" id="17"/>
          <p:cNvSpPr txBox="true"/>
          <p:nvPr/>
        </p:nvSpPr>
        <p:spPr>
          <a:xfrm rot="0">
            <a:off x="5826919" y="5649963"/>
            <a:ext cx="2635891"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Sleep and Fatigue</a:t>
            </a:r>
          </a:p>
        </p:txBody>
      </p:sp>
      <p:sp>
        <p:nvSpPr>
          <p:cNvPr name="Freeform 18" id="18" descr="preencoded.png"/>
          <p:cNvSpPr/>
          <p:nvPr/>
        </p:nvSpPr>
        <p:spPr>
          <a:xfrm flipH="false" flipV="false" rot="0">
            <a:off x="992238" y="6356747"/>
            <a:ext cx="527152" cy="527152"/>
          </a:xfrm>
          <a:custGeom>
            <a:avLst/>
            <a:gdLst/>
            <a:ahLst/>
            <a:cxnLst/>
            <a:rect r="r" b="b" t="t" l="l"/>
            <a:pathLst>
              <a:path h="527152" w="527152">
                <a:moveTo>
                  <a:pt x="0" y="0"/>
                </a:moveTo>
                <a:lnTo>
                  <a:pt x="527152" y="0"/>
                </a:lnTo>
                <a:lnTo>
                  <a:pt x="527152" y="527151"/>
                </a:lnTo>
                <a:lnTo>
                  <a:pt x="0" y="527151"/>
                </a:lnTo>
                <a:lnTo>
                  <a:pt x="0" y="0"/>
                </a:lnTo>
                <a:close/>
              </a:path>
            </a:pathLst>
          </a:custGeom>
          <a:blipFill>
            <a:blip r:embed="rId13">
              <a:extLst>
                <a:ext uri="{96DAC541-7B7A-43D3-8B79-37D633B846F1}">
                  <asvg:svgBlip xmlns:asvg="http://schemas.microsoft.com/office/drawing/2016/SVG/main" r:embed="rId14"/>
                </a:ext>
              </a:extLst>
            </a:blip>
            <a:stretch>
              <a:fillRect l="-3572" t="0" r="-3570" b="0"/>
            </a:stretch>
          </a:blipFill>
        </p:spPr>
      </p:sp>
      <p:sp>
        <p:nvSpPr>
          <p:cNvPr name="TextBox 19" id="19"/>
          <p:cNvSpPr txBox="true"/>
          <p:nvPr/>
        </p:nvSpPr>
        <p:spPr>
          <a:xfrm rot="0">
            <a:off x="992238" y="7088829"/>
            <a:ext cx="2635891"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Stress </a:t>
            </a:r>
          </a:p>
        </p:txBody>
      </p:sp>
      <p:sp>
        <p:nvSpPr>
          <p:cNvPr name="Freeform 20" id="20" descr="preencoded.png"/>
          <p:cNvSpPr/>
          <p:nvPr/>
        </p:nvSpPr>
        <p:spPr>
          <a:xfrm flipH="false" flipV="false" rot="0">
            <a:off x="5826919" y="6356747"/>
            <a:ext cx="527152" cy="527152"/>
          </a:xfrm>
          <a:custGeom>
            <a:avLst/>
            <a:gdLst/>
            <a:ahLst/>
            <a:cxnLst/>
            <a:rect r="r" b="b" t="t" l="l"/>
            <a:pathLst>
              <a:path h="527152" w="527152">
                <a:moveTo>
                  <a:pt x="0" y="0"/>
                </a:moveTo>
                <a:lnTo>
                  <a:pt x="527151" y="0"/>
                </a:lnTo>
                <a:lnTo>
                  <a:pt x="527151" y="527151"/>
                </a:lnTo>
                <a:lnTo>
                  <a:pt x="0" y="527151"/>
                </a:lnTo>
                <a:lnTo>
                  <a:pt x="0" y="0"/>
                </a:lnTo>
                <a:close/>
              </a:path>
            </a:pathLst>
          </a:custGeom>
          <a:blipFill>
            <a:blip r:embed="rId15">
              <a:extLst>
                <a:ext uri="{96DAC541-7B7A-43D3-8B79-37D633B846F1}">
                  <asvg:svgBlip xmlns:asvg="http://schemas.microsoft.com/office/drawing/2016/SVG/main" r:embed="rId16"/>
                </a:ext>
              </a:extLst>
            </a:blip>
            <a:stretch>
              <a:fillRect l="-4464" t="0" r="-4462" b="0"/>
            </a:stretch>
          </a:blipFill>
        </p:spPr>
      </p:sp>
      <p:sp>
        <p:nvSpPr>
          <p:cNvPr name="TextBox 21" id="21"/>
          <p:cNvSpPr txBox="true"/>
          <p:nvPr/>
        </p:nvSpPr>
        <p:spPr>
          <a:xfrm rot="0">
            <a:off x="5826919" y="7088829"/>
            <a:ext cx="2635891"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Environment</a:t>
            </a:r>
          </a:p>
        </p:txBody>
      </p:sp>
      <p:sp>
        <p:nvSpPr>
          <p:cNvPr name="Freeform 22" id="22" descr="preencoded.png"/>
          <p:cNvSpPr/>
          <p:nvPr/>
        </p:nvSpPr>
        <p:spPr>
          <a:xfrm flipH="false" flipV="false" rot="0">
            <a:off x="992238" y="7795622"/>
            <a:ext cx="527152" cy="527152"/>
          </a:xfrm>
          <a:custGeom>
            <a:avLst/>
            <a:gdLst/>
            <a:ahLst/>
            <a:cxnLst/>
            <a:rect r="r" b="b" t="t" l="l"/>
            <a:pathLst>
              <a:path h="527152" w="527152">
                <a:moveTo>
                  <a:pt x="0" y="0"/>
                </a:moveTo>
                <a:lnTo>
                  <a:pt x="527152" y="0"/>
                </a:lnTo>
                <a:lnTo>
                  <a:pt x="527152" y="527152"/>
                </a:lnTo>
                <a:lnTo>
                  <a:pt x="0" y="527152"/>
                </a:lnTo>
                <a:lnTo>
                  <a:pt x="0" y="0"/>
                </a:lnTo>
                <a:close/>
              </a:path>
            </a:pathLst>
          </a:custGeom>
          <a:blipFill>
            <a:blip r:embed="rId17">
              <a:extLst>
                <a:ext uri="{96DAC541-7B7A-43D3-8B79-37D633B846F1}">
                  <asvg:svgBlip xmlns:asvg="http://schemas.microsoft.com/office/drawing/2016/SVG/main" r:embed="rId18"/>
                </a:ext>
              </a:extLst>
            </a:blip>
            <a:stretch>
              <a:fillRect l="-22322" t="0" r="-22320" b="0"/>
            </a:stretch>
          </a:blipFill>
        </p:spPr>
      </p:sp>
      <p:sp>
        <p:nvSpPr>
          <p:cNvPr name="TextBox 23" id="23"/>
          <p:cNvSpPr txBox="true"/>
          <p:nvPr/>
        </p:nvSpPr>
        <p:spPr>
          <a:xfrm rot="0">
            <a:off x="992238" y="8527704"/>
            <a:ext cx="2635891"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Team Culture</a:t>
            </a:r>
          </a:p>
        </p:txBody>
      </p:sp>
      <p:sp>
        <p:nvSpPr>
          <p:cNvPr name="Freeform 24" id="24" descr="preencoded.png"/>
          <p:cNvSpPr/>
          <p:nvPr/>
        </p:nvSpPr>
        <p:spPr>
          <a:xfrm flipH="false" flipV="false" rot="0">
            <a:off x="5826919" y="7795622"/>
            <a:ext cx="527152" cy="527152"/>
          </a:xfrm>
          <a:custGeom>
            <a:avLst/>
            <a:gdLst/>
            <a:ahLst/>
            <a:cxnLst/>
            <a:rect r="r" b="b" t="t" l="l"/>
            <a:pathLst>
              <a:path h="527152" w="527152">
                <a:moveTo>
                  <a:pt x="0" y="0"/>
                </a:moveTo>
                <a:lnTo>
                  <a:pt x="527151" y="0"/>
                </a:lnTo>
                <a:lnTo>
                  <a:pt x="527151" y="527152"/>
                </a:lnTo>
                <a:lnTo>
                  <a:pt x="0" y="527152"/>
                </a:lnTo>
                <a:lnTo>
                  <a:pt x="0" y="0"/>
                </a:lnTo>
                <a:close/>
              </a:path>
            </a:pathLst>
          </a:custGeom>
          <a:blipFill>
            <a:blip r:embed="rId19">
              <a:extLst>
                <a:ext uri="{96DAC541-7B7A-43D3-8B79-37D633B846F1}">
                  <asvg:svgBlip xmlns:asvg="http://schemas.microsoft.com/office/drawing/2016/SVG/main" r:embed="rId20"/>
                </a:ext>
              </a:extLst>
            </a:blip>
            <a:stretch>
              <a:fillRect l="0" t="-2677" r="0" b="-2679"/>
            </a:stretch>
          </a:blipFill>
        </p:spPr>
      </p:sp>
      <p:sp>
        <p:nvSpPr>
          <p:cNvPr name="TextBox 25" id="25"/>
          <p:cNvSpPr txBox="true"/>
          <p:nvPr/>
        </p:nvSpPr>
        <p:spPr>
          <a:xfrm rot="0">
            <a:off x="5826919" y="8527704"/>
            <a:ext cx="2943073" cy="348405"/>
          </a:xfrm>
          <a:prstGeom prst="rect">
            <a:avLst/>
          </a:prstGeom>
        </p:spPr>
        <p:txBody>
          <a:bodyPr anchor="t" rtlCol="false" tIns="0" lIns="0" bIns="0" rIns="0">
            <a:spAutoFit/>
          </a:bodyPr>
          <a:lstStyle/>
          <a:p>
            <a:pPr algn="l">
              <a:lnSpc>
                <a:spcPts val="2562"/>
              </a:lnSpc>
            </a:pPr>
            <a:r>
              <a:rPr lang="en-US" sz="2062" b="true">
                <a:solidFill>
                  <a:srgbClr val="52586B"/>
                </a:solidFill>
                <a:latin typeface="Arimo Bold"/>
                <a:ea typeface="Arimo Bold"/>
                <a:cs typeface="Arimo Bold"/>
                <a:sym typeface="Arimo Bold"/>
              </a:rPr>
              <a:t>Cognitive Performance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18288000" cy="10287000"/>
            <a:chOff x="0" y="0"/>
            <a:chExt cx="24384000" cy="13716000"/>
          </a:xfrm>
        </p:grpSpPr>
        <p:sp>
          <p:nvSpPr>
            <p:cNvPr name="Freeform 7" id="7"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992238" y="796681"/>
            <a:ext cx="8952014" cy="1126922"/>
          </a:xfrm>
          <a:prstGeom prst="rect">
            <a:avLst/>
          </a:prstGeom>
        </p:spPr>
        <p:txBody>
          <a:bodyPr anchor="t" rtlCol="false" tIns="0" lIns="0" bIns="0" rIns="0">
            <a:spAutoFit/>
          </a:bodyPr>
          <a:lstStyle/>
          <a:p>
            <a:pPr algn="l">
              <a:lnSpc>
                <a:spcPts val="8375"/>
              </a:lnSpc>
            </a:pPr>
            <a:r>
              <a:rPr lang="en-US" sz="6687" b="true">
                <a:solidFill>
                  <a:srgbClr val="373B48"/>
                </a:solidFill>
                <a:latin typeface="Arimo Bold"/>
                <a:ea typeface="Arimo Bold"/>
                <a:cs typeface="Arimo Bold"/>
                <a:sym typeface="Arimo Bold"/>
              </a:rPr>
              <a:t>An Integrated System</a:t>
            </a:r>
          </a:p>
        </p:txBody>
      </p:sp>
      <p:grpSp>
        <p:nvGrpSpPr>
          <p:cNvPr name="Group 9" id="9"/>
          <p:cNvGrpSpPr/>
          <p:nvPr/>
        </p:nvGrpSpPr>
        <p:grpSpPr>
          <a:xfrm rot="0">
            <a:off x="2748410" y="2295677"/>
            <a:ext cx="12791037" cy="7137349"/>
            <a:chOff x="0" y="0"/>
            <a:chExt cx="17054716" cy="9516466"/>
          </a:xfrm>
        </p:grpSpPr>
        <p:sp>
          <p:nvSpPr>
            <p:cNvPr name="Freeform 10" id="10" descr="preencoded.png"/>
            <p:cNvSpPr/>
            <p:nvPr/>
          </p:nvSpPr>
          <p:spPr>
            <a:xfrm flipH="false" flipV="false" rot="0">
              <a:off x="0" y="0"/>
              <a:ext cx="17054703" cy="9516491"/>
            </a:xfrm>
            <a:custGeom>
              <a:avLst/>
              <a:gdLst/>
              <a:ahLst/>
              <a:cxnLst/>
              <a:rect r="r" b="b" t="t" l="l"/>
              <a:pathLst>
                <a:path h="9516491" w="17054703">
                  <a:moveTo>
                    <a:pt x="0" y="0"/>
                  </a:moveTo>
                  <a:lnTo>
                    <a:pt x="17054703" y="0"/>
                  </a:lnTo>
                  <a:lnTo>
                    <a:pt x="17054703" y="9516491"/>
                  </a:lnTo>
                  <a:lnTo>
                    <a:pt x="0" y="9516491"/>
                  </a:lnTo>
                  <a:lnTo>
                    <a:pt x="0" y="0"/>
                  </a:lnTo>
                  <a:close/>
                </a:path>
              </a:pathLst>
            </a:custGeom>
            <a:blipFill>
              <a:blip r:embed="rId5"/>
              <a:stretch>
                <a:fillRect l="-25" t="0" r="-25" b="0"/>
              </a:stretch>
            </a:blipFill>
          </p:spPr>
        </p:sp>
      </p:grpSp>
      <p:grpSp>
        <p:nvGrpSpPr>
          <p:cNvPr name="Group 11" id="11"/>
          <p:cNvGrpSpPr/>
          <p:nvPr/>
        </p:nvGrpSpPr>
        <p:grpSpPr>
          <a:xfrm rot="0">
            <a:off x="2748410" y="2295677"/>
            <a:ext cx="12791037" cy="7137349"/>
            <a:chOff x="0" y="0"/>
            <a:chExt cx="17054716" cy="9516466"/>
          </a:xfrm>
        </p:grpSpPr>
        <p:sp>
          <p:nvSpPr>
            <p:cNvPr name="Freeform 12" id="12" descr="preencoded.png"/>
            <p:cNvSpPr/>
            <p:nvPr/>
          </p:nvSpPr>
          <p:spPr>
            <a:xfrm flipH="false" flipV="false" rot="0">
              <a:off x="0" y="0"/>
              <a:ext cx="17054703" cy="9516491"/>
            </a:xfrm>
            <a:custGeom>
              <a:avLst/>
              <a:gdLst/>
              <a:ahLst/>
              <a:cxnLst/>
              <a:rect r="r" b="b" t="t" l="l"/>
              <a:pathLst>
                <a:path h="9516491" w="17054703">
                  <a:moveTo>
                    <a:pt x="0" y="0"/>
                  </a:moveTo>
                  <a:lnTo>
                    <a:pt x="17054703" y="0"/>
                  </a:lnTo>
                  <a:lnTo>
                    <a:pt x="17054703" y="9516491"/>
                  </a:lnTo>
                  <a:lnTo>
                    <a:pt x="0" y="9516491"/>
                  </a:lnTo>
                  <a:lnTo>
                    <a:pt x="0" y="0"/>
                  </a:lnTo>
                  <a:close/>
                </a:path>
              </a:pathLst>
            </a:custGeom>
            <a:blipFill>
              <a:blip r:embed="rId6"/>
              <a:stretch>
                <a:fillRect l="-25" t="0" r="-25"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726577"/>
            <a:ext cx="9445523" cy="2090147"/>
          </a:xfrm>
          <a:prstGeom prst="rect">
            <a:avLst/>
          </a:prstGeom>
        </p:spPr>
        <p:txBody>
          <a:bodyPr anchor="t" rtlCol="false" tIns="0" lIns="0" bIns="0" rIns="0">
            <a:spAutoFit/>
          </a:bodyPr>
          <a:lstStyle/>
          <a:p>
            <a:pPr algn="l">
              <a:lnSpc>
                <a:spcPts val="7999"/>
              </a:lnSpc>
            </a:pPr>
            <a:r>
              <a:rPr lang="en-US" sz="6374" b="true">
                <a:solidFill>
                  <a:srgbClr val="373B48"/>
                </a:solidFill>
                <a:latin typeface="Arimo Bold"/>
                <a:ea typeface="Arimo Bold"/>
                <a:cs typeface="Arimo Bold"/>
                <a:sym typeface="Arimo Bold"/>
              </a:rPr>
              <a:t>High Performance Requires a System</a:t>
            </a:r>
          </a:p>
        </p:txBody>
      </p:sp>
      <p:grpSp>
        <p:nvGrpSpPr>
          <p:cNvPr name="Group 9" id="9"/>
          <p:cNvGrpSpPr/>
          <p:nvPr/>
        </p:nvGrpSpPr>
        <p:grpSpPr>
          <a:xfrm rot="0">
            <a:off x="7845476" y="3147717"/>
            <a:ext cx="1583684" cy="1718815"/>
            <a:chOff x="0" y="0"/>
            <a:chExt cx="2111578" cy="2291753"/>
          </a:xfrm>
        </p:grpSpPr>
        <p:sp>
          <p:nvSpPr>
            <p:cNvPr name="Freeform 10" id="10"/>
            <p:cNvSpPr/>
            <p:nvPr/>
          </p:nvSpPr>
          <p:spPr>
            <a:xfrm flipH="false" flipV="false" rot="0">
              <a:off x="6350" y="6350"/>
              <a:ext cx="2098802" cy="2279142"/>
            </a:xfrm>
            <a:custGeom>
              <a:avLst/>
              <a:gdLst/>
              <a:ahLst/>
              <a:cxnLst/>
              <a:rect r="r" b="b" t="t" l="l"/>
              <a:pathLst>
                <a:path h="2279142" w="2098802">
                  <a:moveTo>
                    <a:pt x="0" y="132080"/>
                  </a:moveTo>
                  <a:cubicBezTo>
                    <a:pt x="0" y="59055"/>
                    <a:pt x="59055" y="0"/>
                    <a:pt x="131953" y="0"/>
                  </a:cubicBezTo>
                  <a:lnTo>
                    <a:pt x="1966849" y="0"/>
                  </a:lnTo>
                  <a:cubicBezTo>
                    <a:pt x="2039747" y="0"/>
                    <a:pt x="2098802" y="59055"/>
                    <a:pt x="2098802" y="132080"/>
                  </a:cubicBezTo>
                  <a:lnTo>
                    <a:pt x="2098802" y="2147062"/>
                  </a:lnTo>
                  <a:cubicBezTo>
                    <a:pt x="2098802" y="2219960"/>
                    <a:pt x="2039747" y="2279142"/>
                    <a:pt x="1966849" y="2279142"/>
                  </a:cubicBezTo>
                  <a:lnTo>
                    <a:pt x="131953" y="2279142"/>
                  </a:lnTo>
                  <a:cubicBezTo>
                    <a:pt x="59055" y="2279015"/>
                    <a:pt x="0" y="2219960"/>
                    <a:pt x="0" y="2147062"/>
                  </a:cubicBezTo>
                  <a:close/>
                </a:path>
              </a:pathLst>
            </a:custGeom>
            <a:solidFill>
              <a:srgbClr val="FFD1A7"/>
            </a:solidFill>
          </p:spPr>
        </p:sp>
        <p:sp>
          <p:nvSpPr>
            <p:cNvPr name="Freeform 11" id="11"/>
            <p:cNvSpPr/>
            <p:nvPr/>
          </p:nvSpPr>
          <p:spPr>
            <a:xfrm flipH="false" flipV="false" rot="0">
              <a:off x="0" y="0"/>
              <a:ext cx="2111502" cy="2291842"/>
            </a:xfrm>
            <a:custGeom>
              <a:avLst/>
              <a:gdLst/>
              <a:ahLst/>
              <a:cxnLst/>
              <a:rect r="r" b="b" t="t" l="l"/>
              <a:pathLst>
                <a:path h="2291842" w="2111502">
                  <a:moveTo>
                    <a:pt x="0" y="138430"/>
                  </a:moveTo>
                  <a:cubicBezTo>
                    <a:pt x="0" y="61976"/>
                    <a:pt x="61976" y="0"/>
                    <a:pt x="138303" y="0"/>
                  </a:cubicBezTo>
                  <a:lnTo>
                    <a:pt x="1973199" y="0"/>
                  </a:lnTo>
                  <a:lnTo>
                    <a:pt x="1973199" y="6350"/>
                  </a:lnTo>
                  <a:lnTo>
                    <a:pt x="1973199" y="0"/>
                  </a:lnTo>
                  <a:cubicBezTo>
                    <a:pt x="2049653" y="0"/>
                    <a:pt x="2111502" y="61976"/>
                    <a:pt x="2111502" y="138430"/>
                  </a:cubicBezTo>
                  <a:lnTo>
                    <a:pt x="2105152" y="138430"/>
                  </a:lnTo>
                  <a:lnTo>
                    <a:pt x="2111502" y="138430"/>
                  </a:lnTo>
                  <a:lnTo>
                    <a:pt x="2111502" y="2153412"/>
                  </a:lnTo>
                  <a:lnTo>
                    <a:pt x="2105152" y="2153412"/>
                  </a:lnTo>
                  <a:lnTo>
                    <a:pt x="2111502" y="2153412"/>
                  </a:lnTo>
                  <a:cubicBezTo>
                    <a:pt x="2111502" y="2229866"/>
                    <a:pt x="2049526" y="2291842"/>
                    <a:pt x="1973199" y="2291842"/>
                  </a:cubicBezTo>
                  <a:lnTo>
                    <a:pt x="1973199" y="2285492"/>
                  </a:lnTo>
                  <a:lnTo>
                    <a:pt x="1973199" y="2291842"/>
                  </a:lnTo>
                  <a:lnTo>
                    <a:pt x="138303" y="2291842"/>
                  </a:lnTo>
                  <a:lnTo>
                    <a:pt x="138303" y="2285492"/>
                  </a:lnTo>
                  <a:lnTo>
                    <a:pt x="138303" y="2291842"/>
                  </a:lnTo>
                  <a:cubicBezTo>
                    <a:pt x="61976" y="2291715"/>
                    <a:pt x="0" y="2229739"/>
                    <a:pt x="0" y="2153412"/>
                  </a:cubicBezTo>
                  <a:lnTo>
                    <a:pt x="0" y="138430"/>
                  </a:lnTo>
                  <a:lnTo>
                    <a:pt x="6350" y="138430"/>
                  </a:lnTo>
                  <a:lnTo>
                    <a:pt x="0" y="138430"/>
                  </a:lnTo>
                  <a:moveTo>
                    <a:pt x="12700" y="138430"/>
                  </a:moveTo>
                  <a:lnTo>
                    <a:pt x="12700" y="2153412"/>
                  </a:lnTo>
                  <a:lnTo>
                    <a:pt x="6350" y="2153412"/>
                  </a:lnTo>
                  <a:lnTo>
                    <a:pt x="12700" y="2153412"/>
                  </a:lnTo>
                  <a:cubicBezTo>
                    <a:pt x="12700" y="2222881"/>
                    <a:pt x="68961" y="2279142"/>
                    <a:pt x="138303" y="2279142"/>
                  </a:cubicBezTo>
                  <a:lnTo>
                    <a:pt x="1973199" y="2279142"/>
                  </a:lnTo>
                  <a:cubicBezTo>
                    <a:pt x="2042541" y="2279142"/>
                    <a:pt x="2098802" y="2222881"/>
                    <a:pt x="2098802" y="2153412"/>
                  </a:cubicBezTo>
                  <a:lnTo>
                    <a:pt x="2098802" y="138430"/>
                  </a:lnTo>
                  <a:cubicBezTo>
                    <a:pt x="2098802" y="68961"/>
                    <a:pt x="2042541" y="12700"/>
                    <a:pt x="1973199" y="12700"/>
                  </a:cubicBezTo>
                  <a:lnTo>
                    <a:pt x="138303" y="12700"/>
                  </a:lnTo>
                  <a:lnTo>
                    <a:pt x="138303" y="6350"/>
                  </a:lnTo>
                  <a:lnTo>
                    <a:pt x="138303" y="12700"/>
                  </a:lnTo>
                  <a:cubicBezTo>
                    <a:pt x="68961" y="12700"/>
                    <a:pt x="12700" y="68961"/>
                    <a:pt x="12700" y="138430"/>
                  </a:cubicBezTo>
                  <a:close/>
                </a:path>
              </a:pathLst>
            </a:custGeom>
            <a:solidFill>
              <a:srgbClr val="E5B78D"/>
            </a:solidFill>
          </p:spPr>
        </p:sp>
      </p:grpSp>
      <p:sp>
        <p:nvSpPr>
          <p:cNvPr name="Freeform 12" id="12" descr="preencoded.png"/>
          <p:cNvSpPr/>
          <p:nvPr/>
        </p:nvSpPr>
        <p:spPr>
          <a:xfrm flipH="false" flipV="false" rot="0">
            <a:off x="8471592" y="3841404"/>
            <a:ext cx="331289" cy="331289"/>
          </a:xfrm>
          <a:custGeom>
            <a:avLst/>
            <a:gdLst/>
            <a:ahLst/>
            <a:cxnLst/>
            <a:rect r="r" b="b" t="t" l="l"/>
            <a:pathLst>
              <a:path h="331289" w="331289">
                <a:moveTo>
                  <a:pt x="0" y="0"/>
                </a:moveTo>
                <a:lnTo>
                  <a:pt x="331289" y="0"/>
                </a:lnTo>
                <a:lnTo>
                  <a:pt x="331289" y="331289"/>
                </a:lnTo>
                <a:lnTo>
                  <a:pt x="0" y="3312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9659988" y="3359496"/>
            <a:ext cx="2946054" cy="396926"/>
          </a:xfrm>
          <a:prstGeom prst="rect">
            <a:avLst/>
          </a:prstGeom>
        </p:spPr>
        <p:txBody>
          <a:bodyPr anchor="t" rtlCol="false" tIns="0" lIns="0" bIns="0" rIns="0">
            <a:spAutoFit/>
          </a:bodyPr>
          <a:lstStyle/>
          <a:p>
            <a:pPr algn="l">
              <a:lnSpc>
                <a:spcPts val="2875"/>
              </a:lnSpc>
            </a:pPr>
            <a:r>
              <a:rPr lang="en-US" sz="2312" b="true">
                <a:solidFill>
                  <a:srgbClr val="000000"/>
                </a:solidFill>
                <a:latin typeface="Arimo Bold"/>
                <a:ea typeface="Arimo Bold"/>
                <a:cs typeface="Arimo Bold"/>
                <a:sym typeface="Arimo Bold"/>
              </a:rPr>
              <a:t>SYSTEMIC</a:t>
            </a:r>
          </a:p>
        </p:txBody>
      </p:sp>
      <p:sp>
        <p:nvSpPr>
          <p:cNvPr name="TextBox 14" id="14"/>
          <p:cNvSpPr txBox="true"/>
          <p:nvPr/>
        </p:nvSpPr>
        <p:spPr>
          <a:xfrm rot="0">
            <a:off x="9659988" y="3804942"/>
            <a:ext cx="7400182" cy="821236"/>
          </a:xfrm>
          <a:prstGeom prst="rect">
            <a:avLst/>
          </a:prstGeom>
        </p:spPr>
        <p:txBody>
          <a:bodyPr anchor="t" rtlCol="false" tIns="0" lIns="0" bIns="0" rIns="0">
            <a:spAutoFit/>
          </a:bodyPr>
          <a:lstStyle/>
          <a:p>
            <a:pPr algn="l">
              <a:lnSpc>
                <a:spcPts val="2875"/>
              </a:lnSpc>
            </a:pPr>
            <a:r>
              <a:rPr lang="en-US" sz="1812">
                <a:solidFill>
                  <a:srgbClr val="000000"/>
                </a:solidFill>
                <a:latin typeface="Arimo"/>
                <a:ea typeface="Arimo"/>
                <a:cs typeface="Arimo"/>
                <a:sym typeface="Arimo"/>
              </a:rPr>
              <a:t>Long-term frameworks that shift professional norms across an entire career, not a program. A paradigm.</a:t>
            </a:r>
          </a:p>
        </p:txBody>
      </p:sp>
      <p:grpSp>
        <p:nvGrpSpPr>
          <p:cNvPr name="Group 15" id="15"/>
          <p:cNvGrpSpPr/>
          <p:nvPr/>
        </p:nvGrpSpPr>
        <p:grpSpPr>
          <a:xfrm rot="0">
            <a:off x="9542116" y="4849863"/>
            <a:ext cx="7635926" cy="14288"/>
            <a:chOff x="0" y="0"/>
            <a:chExt cx="10181234" cy="19050"/>
          </a:xfrm>
        </p:grpSpPr>
        <p:sp>
          <p:nvSpPr>
            <p:cNvPr name="Freeform 16" id="16"/>
            <p:cNvSpPr/>
            <p:nvPr/>
          </p:nvSpPr>
          <p:spPr>
            <a:xfrm flipH="false" flipV="false" rot="0">
              <a:off x="0" y="0"/>
              <a:ext cx="10181209" cy="19050"/>
            </a:xfrm>
            <a:custGeom>
              <a:avLst/>
              <a:gdLst/>
              <a:ahLst/>
              <a:cxnLst/>
              <a:rect r="r" b="b" t="t" l="l"/>
              <a:pathLst>
                <a:path h="19050" w="10181209">
                  <a:moveTo>
                    <a:pt x="0" y="9525"/>
                  </a:moveTo>
                  <a:cubicBezTo>
                    <a:pt x="0" y="4318"/>
                    <a:pt x="4318" y="0"/>
                    <a:pt x="9525" y="0"/>
                  </a:cubicBezTo>
                  <a:lnTo>
                    <a:pt x="10171684" y="0"/>
                  </a:lnTo>
                  <a:cubicBezTo>
                    <a:pt x="10176890" y="0"/>
                    <a:pt x="10181209" y="4318"/>
                    <a:pt x="10181209" y="9525"/>
                  </a:cubicBezTo>
                  <a:cubicBezTo>
                    <a:pt x="10181209" y="14732"/>
                    <a:pt x="10176890" y="19050"/>
                    <a:pt x="10171684" y="19050"/>
                  </a:cubicBezTo>
                  <a:lnTo>
                    <a:pt x="9525" y="19050"/>
                  </a:lnTo>
                  <a:cubicBezTo>
                    <a:pt x="4318" y="19050"/>
                    <a:pt x="0" y="14732"/>
                    <a:pt x="0" y="9525"/>
                  </a:cubicBezTo>
                  <a:close/>
                </a:path>
              </a:pathLst>
            </a:custGeom>
            <a:solidFill>
              <a:srgbClr val="FFD1A7"/>
            </a:solidFill>
          </p:spPr>
        </p:sp>
      </p:grpSp>
      <p:grpSp>
        <p:nvGrpSpPr>
          <p:cNvPr name="Group 17" id="17"/>
          <p:cNvGrpSpPr/>
          <p:nvPr/>
        </p:nvGrpSpPr>
        <p:grpSpPr>
          <a:xfrm rot="0">
            <a:off x="7845476" y="4974727"/>
            <a:ext cx="3157985" cy="1718815"/>
            <a:chOff x="0" y="0"/>
            <a:chExt cx="4210647" cy="2291753"/>
          </a:xfrm>
        </p:grpSpPr>
        <p:sp>
          <p:nvSpPr>
            <p:cNvPr name="Freeform 18" id="18"/>
            <p:cNvSpPr/>
            <p:nvPr/>
          </p:nvSpPr>
          <p:spPr>
            <a:xfrm flipH="false" flipV="false" rot="0">
              <a:off x="6350" y="6350"/>
              <a:ext cx="4197985" cy="2279015"/>
            </a:xfrm>
            <a:custGeom>
              <a:avLst/>
              <a:gdLst/>
              <a:ahLst/>
              <a:cxnLst/>
              <a:rect r="r" b="b" t="t" l="l"/>
              <a:pathLst>
                <a:path h="2279015" w="4197985">
                  <a:moveTo>
                    <a:pt x="0" y="131953"/>
                  </a:moveTo>
                  <a:cubicBezTo>
                    <a:pt x="0" y="59055"/>
                    <a:pt x="59182" y="0"/>
                    <a:pt x="132334" y="0"/>
                  </a:cubicBezTo>
                  <a:lnTo>
                    <a:pt x="4065651" y="0"/>
                  </a:lnTo>
                  <a:cubicBezTo>
                    <a:pt x="4138676" y="0"/>
                    <a:pt x="4197985" y="59055"/>
                    <a:pt x="4197985" y="131953"/>
                  </a:cubicBezTo>
                  <a:lnTo>
                    <a:pt x="4197985" y="2147062"/>
                  </a:lnTo>
                  <a:cubicBezTo>
                    <a:pt x="4197985" y="2219960"/>
                    <a:pt x="4138803" y="2279015"/>
                    <a:pt x="4065651" y="2279015"/>
                  </a:cubicBezTo>
                  <a:lnTo>
                    <a:pt x="132334" y="2279015"/>
                  </a:lnTo>
                  <a:cubicBezTo>
                    <a:pt x="59182" y="2279015"/>
                    <a:pt x="0" y="2219960"/>
                    <a:pt x="0" y="2147062"/>
                  </a:cubicBezTo>
                  <a:close/>
                </a:path>
              </a:pathLst>
            </a:custGeom>
            <a:solidFill>
              <a:srgbClr val="FFD1A7"/>
            </a:solidFill>
          </p:spPr>
        </p:sp>
        <p:sp>
          <p:nvSpPr>
            <p:cNvPr name="Freeform 19" id="19"/>
            <p:cNvSpPr/>
            <p:nvPr/>
          </p:nvSpPr>
          <p:spPr>
            <a:xfrm flipH="false" flipV="false" rot="0">
              <a:off x="0" y="0"/>
              <a:ext cx="4210685" cy="2291715"/>
            </a:xfrm>
            <a:custGeom>
              <a:avLst/>
              <a:gdLst/>
              <a:ahLst/>
              <a:cxnLst/>
              <a:rect r="r" b="b" t="t" l="l"/>
              <a:pathLst>
                <a:path h="2291715" w="4210685">
                  <a:moveTo>
                    <a:pt x="0" y="138303"/>
                  </a:moveTo>
                  <a:cubicBezTo>
                    <a:pt x="0" y="61976"/>
                    <a:pt x="62103" y="0"/>
                    <a:pt x="138684" y="0"/>
                  </a:cubicBezTo>
                  <a:lnTo>
                    <a:pt x="4072001" y="0"/>
                  </a:lnTo>
                  <a:lnTo>
                    <a:pt x="4072001" y="6350"/>
                  </a:lnTo>
                  <a:lnTo>
                    <a:pt x="4072001" y="0"/>
                  </a:lnTo>
                  <a:cubicBezTo>
                    <a:pt x="4148582" y="0"/>
                    <a:pt x="4210685" y="61976"/>
                    <a:pt x="4210685" y="138303"/>
                  </a:cubicBezTo>
                  <a:lnTo>
                    <a:pt x="4204335" y="138303"/>
                  </a:lnTo>
                  <a:lnTo>
                    <a:pt x="4210685" y="138303"/>
                  </a:lnTo>
                  <a:lnTo>
                    <a:pt x="4210685" y="2153412"/>
                  </a:lnTo>
                  <a:lnTo>
                    <a:pt x="4204335" y="2153412"/>
                  </a:lnTo>
                  <a:lnTo>
                    <a:pt x="4210685" y="2153412"/>
                  </a:lnTo>
                  <a:cubicBezTo>
                    <a:pt x="4210685" y="2229866"/>
                    <a:pt x="4148582" y="2291715"/>
                    <a:pt x="4072001" y="2291715"/>
                  </a:cubicBezTo>
                  <a:lnTo>
                    <a:pt x="4072001" y="2285365"/>
                  </a:lnTo>
                  <a:lnTo>
                    <a:pt x="4072001" y="2291715"/>
                  </a:lnTo>
                  <a:lnTo>
                    <a:pt x="138684" y="2291715"/>
                  </a:lnTo>
                  <a:lnTo>
                    <a:pt x="138684" y="2285365"/>
                  </a:lnTo>
                  <a:lnTo>
                    <a:pt x="138684" y="2291715"/>
                  </a:lnTo>
                  <a:cubicBezTo>
                    <a:pt x="62103" y="2291715"/>
                    <a:pt x="0" y="2229866"/>
                    <a:pt x="0" y="2153412"/>
                  </a:cubicBezTo>
                  <a:lnTo>
                    <a:pt x="0" y="138303"/>
                  </a:lnTo>
                  <a:lnTo>
                    <a:pt x="6350" y="138303"/>
                  </a:lnTo>
                  <a:lnTo>
                    <a:pt x="0" y="138303"/>
                  </a:lnTo>
                  <a:moveTo>
                    <a:pt x="12700" y="138303"/>
                  </a:moveTo>
                  <a:lnTo>
                    <a:pt x="12700" y="2153412"/>
                  </a:lnTo>
                  <a:lnTo>
                    <a:pt x="6350" y="2153412"/>
                  </a:lnTo>
                  <a:lnTo>
                    <a:pt x="12700" y="2153412"/>
                  </a:lnTo>
                  <a:cubicBezTo>
                    <a:pt x="12700" y="2222754"/>
                    <a:pt x="69088" y="2279015"/>
                    <a:pt x="138684" y="2279015"/>
                  </a:cubicBezTo>
                  <a:lnTo>
                    <a:pt x="4072001" y="2279015"/>
                  </a:lnTo>
                  <a:cubicBezTo>
                    <a:pt x="4141597" y="2279015"/>
                    <a:pt x="4197985" y="2222754"/>
                    <a:pt x="4197985" y="2153412"/>
                  </a:cubicBezTo>
                  <a:lnTo>
                    <a:pt x="4197985" y="138303"/>
                  </a:lnTo>
                  <a:cubicBezTo>
                    <a:pt x="4197985" y="68961"/>
                    <a:pt x="4141597" y="12700"/>
                    <a:pt x="4072001" y="12700"/>
                  </a:cubicBezTo>
                  <a:lnTo>
                    <a:pt x="138684" y="12700"/>
                  </a:lnTo>
                  <a:lnTo>
                    <a:pt x="138684" y="6350"/>
                  </a:lnTo>
                  <a:lnTo>
                    <a:pt x="138684" y="12700"/>
                  </a:lnTo>
                  <a:cubicBezTo>
                    <a:pt x="69088" y="12700"/>
                    <a:pt x="12700" y="68961"/>
                    <a:pt x="12700" y="138303"/>
                  </a:cubicBezTo>
                  <a:close/>
                </a:path>
              </a:pathLst>
            </a:custGeom>
            <a:solidFill>
              <a:srgbClr val="E5B78D"/>
            </a:solidFill>
          </p:spPr>
        </p:sp>
      </p:grpSp>
      <p:sp>
        <p:nvSpPr>
          <p:cNvPr name="Freeform 20" id="20" descr="preencoded.png"/>
          <p:cNvSpPr/>
          <p:nvPr/>
        </p:nvSpPr>
        <p:spPr>
          <a:xfrm flipH="false" flipV="false" rot="0">
            <a:off x="9258748" y="5668413"/>
            <a:ext cx="331289" cy="331289"/>
          </a:xfrm>
          <a:custGeom>
            <a:avLst/>
            <a:gdLst/>
            <a:ahLst/>
            <a:cxnLst/>
            <a:rect r="r" b="b" t="t" l="l"/>
            <a:pathLst>
              <a:path h="331289" w="331289">
                <a:moveTo>
                  <a:pt x="0" y="0"/>
                </a:moveTo>
                <a:lnTo>
                  <a:pt x="331289" y="0"/>
                </a:lnTo>
                <a:lnTo>
                  <a:pt x="331289" y="331289"/>
                </a:lnTo>
                <a:lnTo>
                  <a:pt x="0" y="331289"/>
                </a:lnTo>
                <a:lnTo>
                  <a:pt x="0" y="0"/>
                </a:lnTo>
                <a:close/>
              </a:path>
            </a:pathLst>
          </a:custGeom>
          <a:blipFill>
            <a:blip r:embed="rId7">
              <a:extLst>
                <a:ext uri="{96DAC541-7B7A-43D3-8B79-37D633B846F1}">
                  <asvg:svgBlip xmlns:asvg="http://schemas.microsoft.com/office/drawing/2016/SVG/main" r:embed="rId8"/>
                </a:ext>
              </a:extLst>
            </a:blip>
            <a:stretch>
              <a:fillRect l="0" t="-1428" r="0" b="-1428"/>
            </a:stretch>
          </a:blipFill>
        </p:spPr>
      </p:sp>
      <p:sp>
        <p:nvSpPr>
          <p:cNvPr name="TextBox 21" id="21"/>
          <p:cNvSpPr txBox="true"/>
          <p:nvPr/>
        </p:nvSpPr>
        <p:spPr>
          <a:xfrm rot="0">
            <a:off x="11234290" y="5186515"/>
            <a:ext cx="2946054" cy="396926"/>
          </a:xfrm>
          <a:prstGeom prst="rect">
            <a:avLst/>
          </a:prstGeom>
        </p:spPr>
        <p:txBody>
          <a:bodyPr anchor="t" rtlCol="false" tIns="0" lIns="0" bIns="0" rIns="0">
            <a:spAutoFit/>
          </a:bodyPr>
          <a:lstStyle/>
          <a:p>
            <a:pPr algn="l">
              <a:lnSpc>
                <a:spcPts val="2875"/>
              </a:lnSpc>
            </a:pPr>
            <a:r>
              <a:rPr lang="en-US" sz="2312" b="true">
                <a:solidFill>
                  <a:srgbClr val="000000"/>
                </a:solidFill>
                <a:latin typeface="Arimo Bold"/>
                <a:ea typeface="Arimo Bold"/>
                <a:cs typeface="Arimo Bold"/>
                <a:sym typeface="Arimo Bold"/>
              </a:rPr>
              <a:t>INSTITUTIONAL</a:t>
            </a:r>
          </a:p>
        </p:txBody>
      </p:sp>
      <p:sp>
        <p:nvSpPr>
          <p:cNvPr name="TextBox 22" id="22"/>
          <p:cNvSpPr txBox="true"/>
          <p:nvPr/>
        </p:nvSpPr>
        <p:spPr>
          <a:xfrm rot="0">
            <a:off x="11234290" y="5631952"/>
            <a:ext cx="5825881" cy="821236"/>
          </a:xfrm>
          <a:prstGeom prst="rect">
            <a:avLst/>
          </a:prstGeom>
        </p:spPr>
        <p:txBody>
          <a:bodyPr anchor="t" rtlCol="false" tIns="0" lIns="0" bIns="0" rIns="0">
            <a:spAutoFit/>
          </a:bodyPr>
          <a:lstStyle/>
          <a:p>
            <a:pPr algn="l">
              <a:lnSpc>
                <a:spcPts val="2875"/>
              </a:lnSpc>
            </a:pPr>
            <a:r>
              <a:rPr lang="en-US" sz="1812">
                <a:solidFill>
                  <a:srgbClr val="000000"/>
                </a:solidFill>
                <a:latin typeface="Arimo"/>
                <a:ea typeface="Arimo"/>
                <a:cs typeface="Arimo"/>
                <a:sym typeface="Arimo"/>
              </a:rPr>
              <a:t>Workload design, ergonomic strategies, cultures that normalise physical /mental preparation &amp; recovery</a:t>
            </a:r>
          </a:p>
        </p:txBody>
      </p:sp>
      <p:grpSp>
        <p:nvGrpSpPr>
          <p:cNvPr name="Group 23" id="23"/>
          <p:cNvGrpSpPr/>
          <p:nvPr/>
        </p:nvGrpSpPr>
        <p:grpSpPr>
          <a:xfrm rot="0">
            <a:off x="11116418" y="6676873"/>
            <a:ext cx="6061624" cy="14288"/>
            <a:chOff x="0" y="0"/>
            <a:chExt cx="8082166" cy="19050"/>
          </a:xfrm>
        </p:grpSpPr>
        <p:sp>
          <p:nvSpPr>
            <p:cNvPr name="Freeform 24" id="24"/>
            <p:cNvSpPr/>
            <p:nvPr/>
          </p:nvSpPr>
          <p:spPr>
            <a:xfrm flipH="false" flipV="false" rot="0">
              <a:off x="0" y="0"/>
              <a:ext cx="8082153" cy="19050"/>
            </a:xfrm>
            <a:custGeom>
              <a:avLst/>
              <a:gdLst/>
              <a:ahLst/>
              <a:cxnLst/>
              <a:rect r="r" b="b" t="t" l="l"/>
              <a:pathLst>
                <a:path h="19050" w="8082153">
                  <a:moveTo>
                    <a:pt x="0" y="9525"/>
                  </a:moveTo>
                  <a:cubicBezTo>
                    <a:pt x="0" y="4318"/>
                    <a:pt x="4318" y="0"/>
                    <a:pt x="9525" y="0"/>
                  </a:cubicBezTo>
                  <a:lnTo>
                    <a:pt x="8072628" y="0"/>
                  </a:lnTo>
                  <a:cubicBezTo>
                    <a:pt x="8077835" y="0"/>
                    <a:pt x="8082153" y="4318"/>
                    <a:pt x="8082153" y="9525"/>
                  </a:cubicBezTo>
                  <a:cubicBezTo>
                    <a:pt x="8082153" y="14732"/>
                    <a:pt x="8077835" y="19050"/>
                    <a:pt x="8072628" y="19050"/>
                  </a:cubicBezTo>
                  <a:lnTo>
                    <a:pt x="9525" y="19050"/>
                  </a:lnTo>
                  <a:cubicBezTo>
                    <a:pt x="4318" y="19050"/>
                    <a:pt x="0" y="14732"/>
                    <a:pt x="0" y="9525"/>
                  </a:cubicBezTo>
                  <a:close/>
                </a:path>
              </a:pathLst>
            </a:custGeom>
            <a:solidFill>
              <a:srgbClr val="FFD1A7"/>
            </a:solidFill>
          </p:spPr>
        </p:sp>
      </p:grpSp>
      <p:grpSp>
        <p:nvGrpSpPr>
          <p:cNvPr name="Group 25" id="25"/>
          <p:cNvGrpSpPr/>
          <p:nvPr/>
        </p:nvGrpSpPr>
        <p:grpSpPr>
          <a:xfrm rot="0">
            <a:off x="7845476" y="6801745"/>
            <a:ext cx="4732287" cy="2086566"/>
            <a:chOff x="0" y="0"/>
            <a:chExt cx="6309716" cy="2782087"/>
          </a:xfrm>
        </p:grpSpPr>
        <p:sp>
          <p:nvSpPr>
            <p:cNvPr name="Freeform 26" id="26"/>
            <p:cNvSpPr/>
            <p:nvPr/>
          </p:nvSpPr>
          <p:spPr>
            <a:xfrm flipH="false" flipV="false" rot="0">
              <a:off x="6350" y="6350"/>
              <a:ext cx="6297041" cy="2769362"/>
            </a:xfrm>
            <a:custGeom>
              <a:avLst/>
              <a:gdLst/>
              <a:ahLst/>
              <a:cxnLst/>
              <a:rect r="r" b="b" t="t" l="l"/>
              <a:pathLst>
                <a:path h="2769362" w="6297041">
                  <a:moveTo>
                    <a:pt x="0" y="131953"/>
                  </a:moveTo>
                  <a:cubicBezTo>
                    <a:pt x="0" y="59055"/>
                    <a:pt x="59182" y="0"/>
                    <a:pt x="132334" y="0"/>
                  </a:cubicBezTo>
                  <a:lnTo>
                    <a:pt x="6164707" y="0"/>
                  </a:lnTo>
                  <a:cubicBezTo>
                    <a:pt x="6237732" y="0"/>
                    <a:pt x="6297041" y="59055"/>
                    <a:pt x="6297041" y="131953"/>
                  </a:cubicBezTo>
                  <a:lnTo>
                    <a:pt x="6297041" y="2637409"/>
                  </a:lnTo>
                  <a:cubicBezTo>
                    <a:pt x="6297041" y="2710307"/>
                    <a:pt x="6237859" y="2769362"/>
                    <a:pt x="6164707" y="2769362"/>
                  </a:cubicBezTo>
                  <a:lnTo>
                    <a:pt x="132334" y="2769362"/>
                  </a:lnTo>
                  <a:cubicBezTo>
                    <a:pt x="59182" y="2769362"/>
                    <a:pt x="0" y="2710307"/>
                    <a:pt x="0" y="2637409"/>
                  </a:cubicBezTo>
                  <a:close/>
                </a:path>
              </a:pathLst>
            </a:custGeom>
            <a:solidFill>
              <a:srgbClr val="FFD1A7"/>
            </a:solidFill>
          </p:spPr>
        </p:sp>
        <p:sp>
          <p:nvSpPr>
            <p:cNvPr name="Freeform 27" id="27"/>
            <p:cNvSpPr/>
            <p:nvPr/>
          </p:nvSpPr>
          <p:spPr>
            <a:xfrm flipH="false" flipV="false" rot="0">
              <a:off x="0" y="0"/>
              <a:ext cx="6309741" cy="2782062"/>
            </a:xfrm>
            <a:custGeom>
              <a:avLst/>
              <a:gdLst/>
              <a:ahLst/>
              <a:cxnLst/>
              <a:rect r="r" b="b" t="t" l="l"/>
              <a:pathLst>
                <a:path h="2782062" w="6309741">
                  <a:moveTo>
                    <a:pt x="0" y="138303"/>
                  </a:moveTo>
                  <a:cubicBezTo>
                    <a:pt x="0" y="61976"/>
                    <a:pt x="62103" y="0"/>
                    <a:pt x="138684" y="0"/>
                  </a:cubicBezTo>
                  <a:lnTo>
                    <a:pt x="6171057" y="0"/>
                  </a:lnTo>
                  <a:lnTo>
                    <a:pt x="6171057" y="6350"/>
                  </a:lnTo>
                  <a:lnTo>
                    <a:pt x="6171057" y="0"/>
                  </a:lnTo>
                  <a:cubicBezTo>
                    <a:pt x="6247638" y="0"/>
                    <a:pt x="6309741" y="61976"/>
                    <a:pt x="6309741" y="138303"/>
                  </a:cubicBezTo>
                  <a:lnTo>
                    <a:pt x="6303391" y="138303"/>
                  </a:lnTo>
                  <a:lnTo>
                    <a:pt x="6309741" y="138303"/>
                  </a:lnTo>
                  <a:lnTo>
                    <a:pt x="6309741" y="2643759"/>
                  </a:lnTo>
                  <a:lnTo>
                    <a:pt x="6303391" y="2643759"/>
                  </a:lnTo>
                  <a:lnTo>
                    <a:pt x="6309741" y="2643759"/>
                  </a:lnTo>
                  <a:cubicBezTo>
                    <a:pt x="6309741" y="2720213"/>
                    <a:pt x="6247638" y="2782062"/>
                    <a:pt x="6171057" y="2782062"/>
                  </a:cubicBezTo>
                  <a:lnTo>
                    <a:pt x="6171057" y="2775712"/>
                  </a:lnTo>
                  <a:lnTo>
                    <a:pt x="6171057" y="2782062"/>
                  </a:lnTo>
                  <a:lnTo>
                    <a:pt x="138684" y="2782062"/>
                  </a:lnTo>
                  <a:lnTo>
                    <a:pt x="138684" y="2775712"/>
                  </a:lnTo>
                  <a:lnTo>
                    <a:pt x="138684" y="2782062"/>
                  </a:lnTo>
                  <a:cubicBezTo>
                    <a:pt x="62103" y="2782062"/>
                    <a:pt x="0" y="2720213"/>
                    <a:pt x="0" y="2643759"/>
                  </a:cubicBezTo>
                  <a:lnTo>
                    <a:pt x="0" y="138303"/>
                  </a:lnTo>
                  <a:lnTo>
                    <a:pt x="6350" y="138303"/>
                  </a:lnTo>
                  <a:lnTo>
                    <a:pt x="0" y="138303"/>
                  </a:lnTo>
                  <a:moveTo>
                    <a:pt x="12700" y="138303"/>
                  </a:moveTo>
                  <a:lnTo>
                    <a:pt x="12700" y="2643759"/>
                  </a:lnTo>
                  <a:lnTo>
                    <a:pt x="6350" y="2643759"/>
                  </a:lnTo>
                  <a:lnTo>
                    <a:pt x="12700" y="2643759"/>
                  </a:lnTo>
                  <a:cubicBezTo>
                    <a:pt x="12700" y="2713101"/>
                    <a:pt x="69088" y="2769362"/>
                    <a:pt x="138684" y="2769362"/>
                  </a:cubicBezTo>
                  <a:lnTo>
                    <a:pt x="6171057" y="2769362"/>
                  </a:lnTo>
                  <a:cubicBezTo>
                    <a:pt x="6240653" y="2769362"/>
                    <a:pt x="6297041" y="2713101"/>
                    <a:pt x="6297041" y="2643759"/>
                  </a:cubicBezTo>
                  <a:lnTo>
                    <a:pt x="6297041" y="138303"/>
                  </a:lnTo>
                  <a:cubicBezTo>
                    <a:pt x="6297041" y="68961"/>
                    <a:pt x="6240653" y="12700"/>
                    <a:pt x="6171057" y="12700"/>
                  </a:cubicBezTo>
                  <a:lnTo>
                    <a:pt x="138684" y="12700"/>
                  </a:lnTo>
                  <a:lnTo>
                    <a:pt x="138684" y="6350"/>
                  </a:lnTo>
                  <a:lnTo>
                    <a:pt x="138684" y="12700"/>
                  </a:lnTo>
                  <a:cubicBezTo>
                    <a:pt x="69088" y="12700"/>
                    <a:pt x="12700" y="68961"/>
                    <a:pt x="12700" y="138303"/>
                  </a:cubicBezTo>
                  <a:close/>
                </a:path>
              </a:pathLst>
            </a:custGeom>
            <a:solidFill>
              <a:srgbClr val="E5B78D"/>
            </a:solidFill>
          </p:spPr>
        </p:sp>
      </p:grpSp>
      <p:sp>
        <p:nvSpPr>
          <p:cNvPr name="Freeform 28" id="28" descr="preencoded.png"/>
          <p:cNvSpPr/>
          <p:nvPr/>
        </p:nvSpPr>
        <p:spPr>
          <a:xfrm flipH="false" flipV="false" rot="0">
            <a:off x="10045903" y="7679236"/>
            <a:ext cx="331289" cy="331289"/>
          </a:xfrm>
          <a:custGeom>
            <a:avLst/>
            <a:gdLst/>
            <a:ahLst/>
            <a:cxnLst/>
            <a:rect r="r" b="b" t="t" l="l"/>
            <a:pathLst>
              <a:path h="331289" w="331289">
                <a:moveTo>
                  <a:pt x="0" y="0"/>
                </a:moveTo>
                <a:lnTo>
                  <a:pt x="331289" y="0"/>
                </a:lnTo>
                <a:lnTo>
                  <a:pt x="331289" y="331289"/>
                </a:lnTo>
                <a:lnTo>
                  <a:pt x="0" y="331289"/>
                </a:lnTo>
                <a:lnTo>
                  <a:pt x="0" y="0"/>
                </a:lnTo>
                <a:close/>
              </a:path>
            </a:pathLst>
          </a:custGeom>
          <a:blipFill>
            <a:blip r:embed="rId9">
              <a:extLst>
                <a:ext uri="{96DAC541-7B7A-43D3-8B79-37D633B846F1}">
                  <asvg:svgBlip xmlns:asvg="http://schemas.microsoft.com/office/drawing/2016/SVG/main" r:embed="rId10"/>
                </a:ext>
              </a:extLst>
            </a:blip>
            <a:stretch>
              <a:fillRect l="0" t="-31428" r="0" b="-31430"/>
            </a:stretch>
          </a:blipFill>
        </p:spPr>
      </p:sp>
      <p:sp>
        <p:nvSpPr>
          <p:cNvPr name="TextBox 29" id="29"/>
          <p:cNvSpPr txBox="true"/>
          <p:nvPr/>
        </p:nvSpPr>
        <p:spPr>
          <a:xfrm rot="0">
            <a:off x="12808591" y="7013524"/>
            <a:ext cx="2946054" cy="396926"/>
          </a:xfrm>
          <a:prstGeom prst="rect">
            <a:avLst/>
          </a:prstGeom>
        </p:spPr>
        <p:txBody>
          <a:bodyPr anchor="t" rtlCol="false" tIns="0" lIns="0" bIns="0" rIns="0">
            <a:spAutoFit/>
          </a:bodyPr>
          <a:lstStyle/>
          <a:p>
            <a:pPr algn="l">
              <a:lnSpc>
                <a:spcPts val="2875"/>
              </a:lnSpc>
            </a:pPr>
            <a:r>
              <a:rPr lang="en-US" sz="2312" b="true">
                <a:solidFill>
                  <a:srgbClr val="000000"/>
                </a:solidFill>
                <a:latin typeface="Arimo Bold"/>
                <a:ea typeface="Arimo Bold"/>
                <a:cs typeface="Arimo Bold"/>
                <a:sym typeface="Arimo Bold"/>
              </a:rPr>
              <a:t>INDIVIDUAL</a:t>
            </a:r>
          </a:p>
        </p:txBody>
      </p:sp>
      <p:sp>
        <p:nvSpPr>
          <p:cNvPr name="TextBox 30" id="30"/>
          <p:cNvSpPr txBox="true"/>
          <p:nvPr/>
        </p:nvSpPr>
        <p:spPr>
          <a:xfrm rot="0">
            <a:off x="12808591" y="7458970"/>
            <a:ext cx="4251569" cy="1188987"/>
          </a:xfrm>
          <a:prstGeom prst="rect">
            <a:avLst/>
          </a:prstGeom>
        </p:spPr>
        <p:txBody>
          <a:bodyPr anchor="t" rtlCol="false" tIns="0" lIns="0" bIns="0" rIns="0">
            <a:spAutoFit/>
          </a:bodyPr>
          <a:lstStyle/>
          <a:p>
            <a:pPr algn="l">
              <a:lnSpc>
                <a:spcPts val="2875"/>
              </a:lnSpc>
            </a:pPr>
            <a:r>
              <a:rPr lang="en-US" sz="1812">
                <a:solidFill>
                  <a:srgbClr val="000000"/>
                </a:solidFill>
                <a:latin typeface="Arimo"/>
                <a:ea typeface="Arimo"/>
                <a:cs typeface="Arimo"/>
                <a:sym typeface="Arimo"/>
              </a:rPr>
              <a:t>Exercise, sleep, hydration, recovery, stress regulation. Direct action to impact. </a:t>
            </a:r>
          </a:p>
        </p:txBody>
      </p:sp>
      <p:sp>
        <p:nvSpPr>
          <p:cNvPr name="TextBox 31" id="31"/>
          <p:cNvSpPr txBox="true"/>
          <p:nvPr/>
        </p:nvSpPr>
        <p:spPr>
          <a:xfrm rot="0">
            <a:off x="7850238" y="9049645"/>
            <a:ext cx="9445523" cy="453476"/>
          </a:xfrm>
          <a:prstGeom prst="rect">
            <a:avLst/>
          </a:prstGeom>
        </p:spPr>
        <p:txBody>
          <a:bodyPr anchor="t" rtlCol="false" tIns="0" lIns="0" bIns="0" rIns="0">
            <a:spAutoFit/>
          </a:bodyPr>
          <a:lstStyle/>
          <a:p>
            <a:pPr algn="l">
              <a:lnSpc>
                <a:spcPts val="2875"/>
              </a:lnSpc>
            </a:pPr>
            <a:r>
              <a:rPr lang="en-US" sz="1812">
                <a:solidFill>
                  <a:srgbClr val="52586B"/>
                </a:solidFill>
                <a:latin typeface="Arimo"/>
                <a:ea typeface="Arimo"/>
                <a:cs typeface="Arimo"/>
                <a:sym typeface="Arimo"/>
              </a:rPr>
              <a:t>Vitous et al. (2023) · Minervini et al. (2025) · Hughes et al. (2023)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992238" y="1236612"/>
            <a:ext cx="9037587" cy="1126922"/>
          </a:xfrm>
          <a:prstGeom prst="rect">
            <a:avLst/>
          </a:prstGeom>
        </p:spPr>
        <p:txBody>
          <a:bodyPr anchor="t" rtlCol="false" tIns="0" lIns="0" bIns="0" rIns="0">
            <a:spAutoFit/>
          </a:bodyPr>
          <a:lstStyle/>
          <a:p>
            <a:pPr algn="l">
              <a:lnSpc>
                <a:spcPts val="8375"/>
              </a:lnSpc>
            </a:pPr>
            <a:r>
              <a:rPr lang="en-US" sz="6687" b="true">
                <a:solidFill>
                  <a:srgbClr val="373B48"/>
                </a:solidFill>
                <a:latin typeface="Arimo Bold"/>
                <a:ea typeface="Arimo Bold"/>
                <a:cs typeface="Arimo Bold"/>
                <a:sym typeface="Arimo Bold"/>
              </a:rPr>
              <a:t>Shifting the Paradigm</a:t>
            </a:r>
          </a:p>
        </p:txBody>
      </p:sp>
      <p:sp>
        <p:nvSpPr>
          <p:cNvPr name="TextBox 9" id="9"/>
          <p:cNvSpPr txBox="true"/>
          <p:nvPr/>
        </p:nvSpPr>
        <p:spPr>
          <a:xfrm rot="0">
            <a:off x="992238" y="2707034"/>
            <a:ext cx="9445523" cy="958748"/>
          </a:xfrm>
          <a:prstGeom prst="rect">
            <a:avLst/>
          </a:prstGeom>
        </p:spPr>
        <p:txBody>
          <a:bodyPr anchor="t" rtlCol="false" tIns="0" lIns="0" bIns="0" rIns="0">
            <a:spAutoFit/>
          </a:bodyPr>
          <a:lstStyle/>
          <a:p>
            <a:pPr algn="l">
              <a:lnSpc>
                <a:spcPts val="3625"/>
              </a:lnSpc>
            </a:pPr>
            <a:r>
              <a:rPr lang="en-US" sz="2874" b="true">
                <a:solidFill>
                  <a:srgbClr val="373B48"/>
                </a:solidFill>
                <a:latin typeface="Arimo Bold"/>
                <a:ea typeface="Arimo Bold"/>
                <a:cs typeface="Arimo Bold"/>
                <a:sym typeface="Arimo Bold"/>
              </a:rPr>
              <a:t>You were trained to withstand. You deserve to be supported. Action points:</a:t>
            </a:r>
          </a:p>
        </p:txBody>
      </p:sp>
      <p:grpSp>
        <p:nvGrpSpPr>
          <p:cNvPr name="Group 10" id="10"/>
          <p:cNvGrpSpPr/>
          <p:nvPr/>
        </p:nvGrpSpPr>
        <p:grpSpPr>
          <a:xfrm rot="0">
            <a:off x="977951" y="4023570"/>
            <a:ext cx="9474098" cy="1515066"/>
            <a:chOff x="0" y="0"/>
            <a:chExt cx="12632131" cy="2020087"/>
          </a:xfrm>
        </p:grpSpPr>
        <p:sp>
          <p:nvSpPr>
            <p:cNvPr name="Freeform 11" id="11"/>
            <p:cNvSpPr/>
            <p:nvPr/>
          </p:nvSpPr>
          <p:spPr>
            <a:xfrm flipH="false" flipV="false" rot="0">
              <a:off x="19050" y="19050"/>
              <a:ext cx="12593955" cy="1981962"/>
            </a:xfrm>
            <a:custGeom>
              <a:avLst/>
              <a:gdLst/>
              <a:ahLst/>
              <a:cxnLst/>
              <a:rect r="r" b="b" t="t" l="l"/>
              <a:pathLst>
                <a:path h="1981962" w="12593955">
                  <a:moveTo>
                    <a:pt x="0" y="182880"/>
                  </a:moveTo>
                  <a:cubicBezTo>
                    <a:pt x="0" y="81915"/>
                    <a:pt x="83185" y="0"/>
                    <a:pt x="185801" y="0"/>
                  </a:cubicBezTo>
                  <a:lnTo>
                    <a:pt x="12408154" y="0"/>
                  </a:lnTo>
                  <a:cubicBezTo>
                    <a:pt x="12510770" y="0"/>
                    <a:pt x="12593955" y="81915"/>
                    <a:pt x="12593955" y="182880"/>
                  </a:cubicBezTo>
                  <a:lnTo>
                    <a:pt x="12593955" y="1799082"/>
                  </a:lnTo>
                  <a:cubicBezTo>
                    <a:pt x="12593955" y="1900047"/>
                    <a:pt x="12510770" y="1981962"/>
                    <a:pt x="12408154" y="1981962"/>
                  </a:cubicBezTo>
                  <a:lnTo>
                    <a:pt x="185801" y="1981962"/>
                  </a:lnTo>
                  <a:cubicBezTo>
                    <a:pt x="83185" y="1981962"/>
                    <a:pt x="0" y="1900047"/>
                    <a:pt x="0" y="1799082"/>
                  </a:cubicBezTo>
                  <a:close/>
                </a:path>
              </a:pathLst>
            </a:custGeom>
            <a:solidFill>
              <a:srgbClr val="FFFFFF">
                <a:alpha val="90196"/>
              </a:srgbClr>
            </a:solidFill>
          </p:spPr>
        </p:sp>
        <p:sp>
          <p:nvSpPr>
            <p:cNvPr name="Freeform 12" id="12"/>
            <p:cNvSpPr/>
            <p:nvPr/>
          </p:nvSpPr>
          <p:spPr>
            <a:xfrm flipH="false" flipV="false" rot="0">
              <a:off x="0" y="0"/>
              <a:ext cx="12632055" cy="2020062"/>
            </a:xfrm>
            <a:custGeom>
              <a:avLst/>
              <a:gdLst/>
              <a:ahLst/>
              <a:cxnLst/>
              <a:rect r="r" b="b" t="t" l="l"/>
              <a:pathLst>
                <a:path h="2020062" w="12632055">
                  <a:moveTo>
                    <a:pt x="0" y="201930"/>
                  </a:moveTo>
                  <a:cubicBezTo>
                    <a:pt x="0" y="90170"/>
                    <a:pt x="92075" y="0"/>
                    <a:pt x="204851" y="0"/>
                  </a:cubicBezTo>
                  <a:lnTo>
                    <a:pt x="12427204" y="0"/>
                  </a:lnTo>
                  <a:lnTo>
                    <a:pt x="12427204" y="19050"/>
                  </a:lnTo>
                  <a:lnTo>
                    <a:pt x="12427204" y="0"/>
                  </a:lnTo>
                  <a:cubicBezTo>
                    <a:pt x="12540107" y="0"/>
                    <a:pt x="12632055" y="90170"/>
                    <a:pt x="12632055" y="201930"/>
                  </a:cubicBezTo>
                  <a:lnTo>
                    <a:pt x="12613005" y="201930"/>
                  </a:lnTo>
                  <a:lnTo>
                    <a:pt x="12632055" y="201930"/>
                  </a:lnTo>
                  <a:lnTo>
                    <a:pt x="12632055" y="1818132"/>
                  </a:lnTo>
                  <a:lnTo>
                    <a:pt x="12613005" y="1818132"/>
                  </a:lnTo>
                  <a:lnTo>
                    <a:pt x="12632055" y="1818132"/>
                  </a:lnTo>
                  <a:cubicBezTo>
                    <a:pt x="12632055" y="1929892"/>
                    <a:pt x="12539980" y="2020062"/>
                    <a:pt x="12427204" y="2020062"/>
                  </a:cubicBezTo>
                  <a:lnTo>
                    <a:pt x="12427204" y="2001012"/>
                  </a:lnTo>
                  <a:lnTo>
                    <a:pt x="12427204" y="2020062"/>
                  </a:lnTo>
                  <a:lnTo>
                    <a:pt x="204851" y="2020062"/>
                  </a:lnTo>
                  <a:lnTo>
                    <a:pt x="204851" y="2001012"/>
                  </a:lnTo>
                  <a:lnTo>
                    <a:pt x="204851" y="2020062"/>
                  </a:lnTo>
                  <a:cubicBezTo>
                    <a:pt x="91948" y="2020062"/>
                    <a:pt x="0" y="1929892"/>
                    <a:pt x="0" y="1818132"/>
                  </a:cubicBezTo>
                  <a:lnTo>
                    <a:pt x="0" y="201930"/>
                  </a:lnTo>
                  <a:lnTo>
                    <a:pt x="19050" y="201930"/>
                  </a:lnTo>
                  <a:lnTo>
                    <a:pt x="0" y="201930"/>
                  </a:lnTo>
                  <a:moveTo>
                    <a:pt x="38100" y="201930"/>
                  </a:moveTo>
                  <a:lnTo>
                    <a:pt x="38100" y="1818132"/>
                  </a:lnTo>
                  <a:lnTo>
                    <a:pt x="19050" y="1818132"/>
                  </a:lnTo>
                  <a:lnTo>
                    <a:pt x="38100" y="1818132"/>
                  </a:lnTo>
                  <a:cubicBezTo>
                    <a:pt x="38100" y="1908302"/>
                    <a:pt x="112522" y="1981962"/>
                    <a:pt x="204851" y="1981962"/>
                  </a:cubicBezTo>
                  <a:lnTo>
                    <a:pt x="12427204" y="1981962"/>
                  </a:lnTo>
                  <a:cubicBezTo>
                    <a:pt x="12519661" y="1981962"/>
                    <a:pt x="12593955" y="1908302"/>
                    <a:pt x="12593955" y="1818132"/>
                  </a:cubicBezTo>
                  <a:lnTo>
                    <a:pt x="12593955" y="201930"/>
                  </a:lnTo>
                  <a:cubicBezTo>
                    <a:pt x="12593955" y="111760"/>
                    <a:pt x="12519533" y="38100"/>
                    <a:pt x="12427204" y="38100"/>
                  </a:cubicBezTo>
                  <a:lnTo>
                    <a:pt x="204851" y="38100"/>
                  </a:lnTo>
                  <a:lnTo>
                    <a:pt x="204851" y="19050"/>
                  </a:lnTo>
                  <a:lnTo>
                    <a:pt x="204851" y="38100"/>
                  </a:lnTo>
                  <a:cubicBezTo>
                    <a:pt x="112522" y="38100"/>
                    <a:pt x="38100" y="111760"/>
                    <a:pt x="38100" y="201930"/>
                  </a:cubicBezTo>
                  <a:close/>
                </a:path>
              </a:pathLst>
            </a:custGeom>
            <a:solidFill>
              <a:srgbClr val="C8CACF"/>
            </a:solidFill>
          </p:spPr>
        </p:sp>
      </p:grpSp>
      <p:grpSp>
        <p:nvGrpSpPr>
          <p:cNvPr name="Group 13" id="13"/>
          <p:cNvGrpSpPr/>
          <p:nvPr/>
        </p:nvGrpSpPr>
        <p:grpSpPr>
          <a:xfrm rot="0">
            <a:off x="963663" y="4037857"/>
            <a:ext cx="114300" cy="1486491"/>
            <a:chOff x="0" y="0"/>
            <a:chExt cx="152400" cy="1981987"/>
          </a:xfrm>
        </p:grpSpPr>
        <p:sp>
          <p:nvSpPr>
            <p:cNvPr name="Freeform 14" id="14"/>
            <p:cNvSpPr/>
            <p:nvPr/>
          </p:nvSpPr>
          <p:spPr>
            <a:xfrm flipH="false" flipV="false" rot="0">
              <a:off x="0" y="0"/>
              <a:ext cx="152400" cy="1981962"/>
            </a:xfrm>
            <a:custGeom>
              <a:avLst/>
              <a:gdLst/>
              <a:ahLst/>
              <a:cxnLst/>
              <a:rect r="r" b="b" t="t" l="l"/>
              <a:pathLst>
                <a:path h="1981962" w="152400">
                  <a:moveTo>
                    <a:pt x="0" y="76200"/>
                  </a:moveTo>
                  <a:cubicBezTo>
                    <a:pt x="0" y="34163"/>
                    <a:pt x="34163" y="0"/>
                    <a:pt x="76200" y="0"/>
                  </a:cubicBezTo>
                  <a:cubicBezTo>
                    <a:pt x="118237" y="0"/>
                    <a:pt x="152400" y="34163"/>
                    <a:pt x="152400" y="76200"/>
                  </a:cubicBezTo>
                  <a:lnTo>
                    <a:pt x="152400" y="1905762"/>
                  </a:lnTo>
                  <a:cubicBezTo>
                    <a:pt x="152400" y="1947799"/>
                    <a:pt x="118237" y="1981962"/>
                    <a:pt x="76200" y="1981962"/>
                  </a:cubicBezTo>
                  <a:cubicBezTo>
                    <a:pt x="34163" y="1981962"/>
                    <a:pt x="0" y="1947799"/>
                    <a:pt x="0" y="1905762"/>
                  </a:cubicBezTo>
                  <a:close/>
                </a:path>
              </a:pathLst>
            </a:custGeom>
            <a:solidFill>
              <a:srgbClr val="373B48"/>
            </a:solidFill>
          </p:spPr>
        </p:sp>
      </p:grpSp>
      <p:sp>
        <p:nvSpPr>
          <p:cNvPr name="TextBox 15" id="15"/>
          <p:cNvSpPr txBox="true"/>
          <p:nvPr/>
        </p:nvSpPr>
        <p:spPr>
          <a:xfrm rot="0">
            <a:off x="1354484" y="4304852"/>
            <a:ext cx="3101130"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For yourself</a:t>
            </a:r>
          </a:p>
        </p:txBody>
      </p:sp>
      <p:sp>
        <p:nvSpPr>
          <p:cNvPr name="TextBox 16" id="16"/>
          <p:cNvSpPr txBox="true"/>
          <p:nvPr/>
        </p:nvSpPr>
        <p:spPr>
          <a:xfrm rot="0">
            <a:off x="1354484" y="4755652"/>
            <a:ext cx="8806758" cy="492176"/>
          </a:xfrm>
          <a:prstGeom prst="rect">
            <a:avLst/>
          </a:prstGeom>
        </p:spPr>
        <p:txBody>
          <a:bodyPr anchor="t" rtlCol="false" tIns="0" lIns="0" bIns="0" rIns="0">
            <a:spAutoFit/>
          </a:bodyPr>
          <a:lstStyle/>
          <a:p>
            <a:pPr algn="l">
              <a:lnSpc>
                <a:spcPts val="3125"/>
              </a:lnSpc>
            </a:pPr>
            <a:r>
              <a:rPr lang="en-US" sz="1937">
                <a:solidFill>
                  <a:srgbClr val="52586B"/>
                </a:solidFill>
                <a:latin typeface="Arimo"/>
                <a:ea typeface="Arimo"/>
                <a:cs typeface="Arimo"/>
                <a:sym typeface="Arimo"/>
              </a:rPr>
              <a:t>Choose one recovery input. Track it as training data, not self-indulgence.</a:t>
            </a:r>
          </a:p>
        </p:txBody>
      </p:sp>
      <p:grpSp>
        <p:nvGrpSpPr>
          <p:cNvPr name="Group 17" id="17"/>
          <p:cNvGrpSpPr/>
          <p:nvPr/>
        </p:nvGrpSpPr>
        <p:grpSpPr>
          <a:xfrm rot="0">
            <a:off x="977951" y="5758015"/>
            <a:ext cx="9474098" cy="1515066"/>
            <a:chOff x="0" y="0"/>
            <a:chExt cx="12632131" cy="2020087"/>
          </a:xfrm>
        </p:grpSpPr>
        <p:sp>
          <p:nvSpPr>
            <p:cNvPr name="Freeform 18" id="18"/>
            <p:cNvSpPr/>
            <p:nvPr/>
          </p:nvSpPr>
          <p:spPr>
            <a:xfrm flipH="false" flipV="false" rot="0">
              <a:off x="19050" y="19050"/>
              <a:ext cx="12593955" cy="1981962"/>
            </a:xfrm>
            <a:custGeom>
              <a:avLst/>
              <a:gdLst/>
              <a:ahLst/>
              <a:cxnLst/>
              <a:rect r="r" b="b" t="t" l="l"/>
              <a:pathLst>
                <a:path h="1981962" w="12593955">
                  <a:moveTo>
                    <a:pt x="0" y="182880"/>
                  </a:moveTo>
                  <a:cubicBezTo>
                    <a:pt x="0" y="81915"/>
                    <a:pt x="83185" y="0"/>
                    <a:pt x="185801" y="0"/>
                  </a:cubicBezTo>
                  <a:lnTo>
                    <a:pt x="12408154" y="0"/>
                  </a:lnTo>
                  <a:cubicBezTo>
                    <a:pt x="12510770" y="0"/>
                    <a:pt x="12593955" y="81915"/>
                    <a:pt x="12593955" y="182880"/>
                  </a:cubicBezTo>
                  <a:lnTo>
                    <a:pt x="12593955" y="1799082"/>
                  </a:lnTo>
                  <a:cubicBezTo>
                    <a:pt x="12593955" y="1900047"/>
                    <a:pt x="12510770" y="1981962"/>
                    <a:pt x="12408154" y="1981962"/>
                  </a:cubicBezTo>
                  <a:lnTo>
                    <a:pt x="185801" y="1981962"/>
                  </a:lnTo>
                  <a:cubicBezTo>
                    <a:pt x="83185" y="1981962"/>
                    <a:pt x="0" y="1900047"/>
                    <a:pt x="0" y="1799082"/>
                  </a:cubicBezTo>
                  <a:close/>
                </a:path>
              </a:pathLst>
            </a:custGeom>
            <a:solidFill>
              <a:srgbClr val="FFFFFF">
                <a:alpha val="90196"/>
              </a:srgbClr>
            </a:solidFill>
          </p:spPr>
        </p:sp>
        <p:sp>
          <p:nvSpPr>
            <p:cNvPr name="Freeform 19" id="19"/>
            <p:cNvSpPr/>
            <p:nvPr/>
          </p:nvSpPr>
          <p:spPr>
            <a:xfrm flipH="false" flipV="false" rot="0">
              <a:off x="0" y="0"/>
              <a:ext cx="12632055" cy="2020062"/>
            </a:xfrm>
            <a:custGeom>
              <a:avLst/>
              <a:gdLst/>
              <a:ahLst/>
              <a:cxnLst/>
              <a:rect r="r" b="b" t="t" l="l"/>
              <a:pathLst>
                <a:path h="2020062" w="12632055">
                  <a:moveTo>
                    <a:pt x="0" y="201930"/>
                  </a:moveTo>
                  <a:cubicBezTo>
                    <a:pt x="0" y="90170"/>
                    <a:pt x="92075" y="0"/>
                    <a:pt x="204851" y="0"/>
                  </a:cubicBezTo>
                  <a:lnTo>
                    <a:pt x="12427204" y="0"/>
                  </a:lnTo>
                  <a:lnTo>
                    <a:pt x="12427204" y="19050"/>
                  </a:lnTo>
                  <a:lnTo>
                    <a:pt x="12427204" y="0"/>
                  </a:lnTo>
                  <a:cubicBezTo>
                    <a:pt x="12540107" y="0"/>
                    <a:pt x="12632055" y="90170"/>
                    <a:pt x="12632055" y="201930"/>
                  </a:cubicBezTo>
                  <a:lnTo>
                    <a:pt x="12613005" y="201930"/>
                  </a:lnTo>
                  <a:lnTo>
                    <a:pt x="12632055" y="201930"/>
                  </a:lnTo>
                  <a:lnTo>
                    <a:pt x="12632055" y="1818132"/>
                  </a:lnTo>
                  <a:lnTo>
                    <a:pt x="12613005" y="1818132"/>
                  </a:lnTo>
                  <a:lnTo>
                    <a:pt x="12632055" y="1818132"/>
                  </a:lnTo>
                  <a:cubicBezTo>
                    <a:pt x="12632055" y="1929892"/>
                    <a:pt x="12539980" y="2020062"/>
                    <a:pt x="12427204" y="2020062"/>
                  </a:cubicBezTo>
                  <a:lnTo>
                    <a:pt x="12427204" y="2001012"/>
                  </a:lnTo>
                  <a:lnTo>
                    <a:pt x="12427204" y="2020062"/>
                  </a:lnTo>
                  <a:lnTo>
                    <a:pt x="204851" y="2020062"/>
                  </a:lnTo>
                  <a:lnTo>
                    <a:pt x="204851" y="2001012"/>
                  </a:lnTo>
                  <a:lnTo>
                    <a:pt x="204851" y="2020062"/>
                  </a:lnTo>
                  <a:cubicBezTo>
                    <a:pt x="91948" y="2020062"/>
                    <a:pt x="0" y="1929892"/>
                    <a:pt x="0" y="1818132"/>
                  </a:cubicBezTo>
                  <a:lnTo>
                    <a:pt x="0" y="201930"/>
                  </a:lnTo>
                  <a:lnTo>
                    <a:pt x="19050" y="201930"/>
                  </a:lnTo>
                  <a:lnTo>
                    <a:pt x="0" y="201930"/>
                  </a:lnTo>
                  <a:moveTo>
                    <a:pt x="38100" y="201930"/>
                  </a:moveTo>
                  <a:lnTo>
                    <a:pt x="38100" y="1818132"/>
                  </a:lnTo>
                  <a:lnTo>
                    <a:pt x="19050" y="1818132"/>
                  </a:lnTo>
                  <a:lnTo>
                    <a:pt x="38100" y="1818132"/>
                  </a:lnTo>
                  <a:cubicBezTo>
                    <a:pt x="38100" y="1908302"/>
                    <a:pt x="112522" y="1981962"/>
                    <a:pt x="204851" y="1981962"/>
                  </a:cubicBezTo>
                  <a:lnTo>
                    <a:pt x="12427204" y="1981962"/>
                  </a:lnTo>
                  <a:cubicBezTo>
                    <a:pt x="12519661" y="1981962"/>
                    <a:pt x="12593955" y="1908302"/>
                    <a:pt x="12593955" y="1818132"/>
                  </a:cubicBezTo>
                  <a:lnTo>
                    <a:pt x="12593955" y="201930"/>
                  </a:lnTo>
                  <a:cubicBezTo>
                    <a:pt x="12593955" y="111760"/>
                    <a:pt x="12519533" y="38100"/>
                    <a:pt x="12427204" y="38100"/>
                  </a:cubicBezTo>
                  <a:lnTo>
                    <a:pt x="204851" y="38100"/>
                  </a:lnTo>
                  <a:lnTo>
                    <a:pt x="204851" y="19050"/>
                  </a:lnTo>
                  <a:lnTo>
                    <a:pt x="204851" y="38100"/>
                  </a:lnTo>
                  <a:cubicBezTo>
                    <a:pt x="112522" y="38100"/>
                    <a:pt x="38100" y="111760"/>
                    <a:pt x="38100" y="201930"/>
                  </a:cubicBezTo>
                  <a:close/>
                </a:path>
              </a:pathLst>
            </a:custGeom>
            <a:solidFill>
              <a:srgbClr val="C8CACF"/>
            </a:solidFill>
          </p:spPr>
        </p:sp>
      </p:grpSp>
      <p:grpSp>
        <p:nvGrpSpPr>
          <p:cNvPr name="Group 20" id="20"/>
          <p:cNvGrpSpPr/>
          <p:nvPr/>
        </p:nvGrpSpPr>
        <p:grpSpPr>
          <a:xfrm rot="0">
            <a:off x="963663" y="5772302"/>
            <a:ext cx="114300" cy="1486491"/>
            <a:chOff x="0" y="0"/>
            <a:chExt cx="152400" cy="1981987"/>
          </a:xfrm>
        </p:grpSpPr>
        <p:sp>
          <p:nvSpPr>
            <p:cNvPr name="Freeform 21" id="21"/>
            <p:cNvSpPr/>
            <p:nvPr/>
          </p:nvSpPr>
          <p:spPr>
            <a:xfrm flipH="false" flipV="false" rot="0">
              <a:off x="0" y="0"/>
              <a:ext cx="152400" cy="1981962"/>
            </a:xfrm>
            <a:custGeom>
              <a:avLst/>
              <a:gdLst/>
              <a:ahLst/>
              <a:cxnLst/>
              <a:rect r="r" b="b" t="t" l="l"/>
              <a:pathLst>
                <a:path h="1981962" w="152400">
                  <a:moveTo>
                    <a:pt x="0" y="76200"/>
                  </a:moveTo>
                  <a:cubicBezTo>
                    <a:pt x="0" y="34163"/>
                    <a:pt x="34163" y="0"/>
                    <a:pt x="76200" y="0"/>
                  </a:cubicBezTo>
                  <a:cubicBezTo>
                    <a:pt x="118237" y="0"/>
                    <a:pt x="152400" y="34163"/>
                    <a:pt x="152400" y="76200"/>
                  </a:cubicBezTo>
                  <a:lnTo>
                    <a:pt x="152400" y="1905762"/>
                  </a:lnTo>
                  <a:cubicBezTo>
                    <a:pt x="152400" y="1947799"/>
                    <a:pt x="118237" y="1981962"/>
                    <a:pt x="76200" y="1981962"/>
                  </a:cubicBezTo>
                  <a:cubicBezTo>
                    <a:pt x="34163" y="1981962"/>
                    <a:pt x="0" y="1947799"/>
                    <a:pt x="0" y="1905762"/>
                  </a:cubicBezTo>
                  <a:close/>
                </a:path>
              </a:pathLst>
            </a:custGeom>
            <a:solidFill>
              <a:srgbClr val="373B48"/>
            </a:solidFill>
          </p:spPr>
        </p:sp>
      </p:grpSp>
      <p:sp>
        <p:nvSpPr>
          <p:cNvPr name="TextBox 22" id="22"/>
          <p:cNvSpPr txBox="true"/>
          <p:nvPr/>
        </p:nvSpPr>
        <p:spPr>
          <a:xfrm rot="0">
            <a:off x="1354484" y="6039298"/>
            <a:ext cx="3101130"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For your team</a:t>
            </a:r>
          </a:p>
        </p:txBody>
      </p:sp>
      <p:sp>
        <p:nvSpPr>
          <p:cNvPr name="TextBox 23" id="23"/>
          <p:cNvSpPr txBox="true"/>
          <p:nvPr/>
        </p:nvSpPr>
        <p:spPr>
          <a:xfrm rot="0">
            <a:off x="1354484" y="6490097"/>
            <a:ext cx="8806758" cy="492176"/>
          </a:xfrm>
          <a:prstGeom prst="rect">
            <a:avLst/>
          </a:prstGeom>
        </p:spPr>
        <p:txBody>
          <a:bodyPr anchor="t" rtlCol="false" tIns="0" lIns="0" bIns="0" rIns="0">
            <a:spAutoFit/>
          </a:bodyPr>
          <a:lstStyle/>
          <a:p>
            <a:pPr algn="l">
              <a:lnSpc>
                <a:spcPts val="3125"/>
              </a:lnSpc>
            </a:pPr>
            <a:r>
              <a:rPr lang="en-US" sz="1937">
                <a:solidFill>
                  <a:srgbClr val="52586B"/>
                </a:solidFill>
                <a:latin typeface="Arimo"/>
                <a:ea typeface="Arimo"/>
                <a:cs typeface="Arimo"/>
                <a:sym typeface="Arimo"/>
              </a:rPr>
              <a:t>Name one OR environment variable you can change. Make the invisible visible.</a:t>
            </a:r>
          </a:p>
        </p:txBody>
      </p:sp>
      <p:grpSp>
        <p:nvGrpSpPr>
          <p:cNvPr name="Group 24" id="24"/>
          <p:cNvGrpSpPr/>
          <p:nvPr/>
        </p:nvGrpSpPr>
        <p:grpSpPr>
          <a:xfrm rot="0">
            <a:off x="977951" y="7492451"/>
            <a:ext cx="9474098" cy="1515066"/>
            <a:chOff x="0" y="0"/>
            <a:chExt cx="12632131" cy="2020087"/>
          </a:xfrm>
        </p:grpSpPr>
        <p:sp>
          <p:nvSpPr>
            <p:cNvPr name="Freeform 25" id="25"/>
            <p:cNvSpPr/>
            <p:nvPr/>
          </p:nvSpPr>
          <p:spPr>
            <a:xfrm flipH="false" flipV="false" rot="0">
              <a:off x="19050" y="19050"/>
              <a:ext cx="12593955" cy="1981962"/>
            </a:xfrm>
            <a:custGeom>
              <a:avLst/>
              <a:gdLst/>
              <a:ahLst/>
              <a:cxnLst/>
              <a:rect r="r" b="b" t="t" l="l"/>
              <a:pathLst>
                <a:path h="1981962" w="12593955">
                  <a:moveTo>
                    <a:pt x="0" y="182880"/>
                  </a:moveTo>
                  <a:cubicBezTo>
                    <a:pt x="0" y="81915"/>
                    <a:pt x="83185" y="0"/>
                    <a:pt x="185801" y="0"/>
                  </a:cubicBezTo>
                  <a:lnTo>
                    <a:pt x="12408154" y="0"/>
                  </a:lnTo>
                  <a:cubicBezTo>
                    <a:pt x="12510770" y="0"/>
                    <a:pt x="12593955" y="81915"/>
                    <a:pt x="12593955" y="182880"/>
                  </a:cubicBezTo>
                  <a:lnTo>
                    <a:pt x="12593955" y="1799082"/>
                  </a:lnTo>
                  <a:cubicBezTo>
                    <a:pt x="12593955" y="1900047"/>
                    <a:pt x="12510770" y="1981962"/>
                    <a:pt x="12408154" y="1981962"/>
                  </a:cubicBezTo>
                  <a:lnTo>
                    <a:pt x="185801" y="1981962"/>
                  </a:lnTo>
                  <a:cubicBezTo>
                    <a:pt x="83185" y="1981962"/>
                    <a:pt x="0" y="1900047"/>
                    <a:pt x="0" y="1799082"/>
                  </a:cubicBezTo>
                  <a:close/>
                </a:path>
              </a:pathLst>
            </a:custGeom>
            <a:solidFill>
              <a:srgbClr val="FFFFFF">
                <a:alpha val="90196"/>
              </a:srgbClr>
            </a:solidFill>
          </p:spPr>
        </p:sp>
        <p:sp>
          <p:nvSpPr>
            <p:cNvPr name="Freeform 26" id="26"/>
            <p:cNvSpPr/>
            <p:nvPr/>
          </p:nvSpPr>
          <p:spPr>
            <a:xfrm flipH="false" flipV="false" rot="0">
              <a:off x="0" y="0"/>
              <a:ext cx="12632055" cy="2020062"/>
            </a:xfrm>
            <a:custGeom>
              <a:avLst/>
              <a:gdLst/>
              <a:ahLst/>
              <a:cxnLst/>
              <a:rect r="r" b="b" t="t" l="l"/>
              <a:pathLst>
                <a:path h="2020062" w="12632055">
                  <a:moveTo>
                    <a:pt x="0" y="201930"/>
                  </a:moveTo>
                  <a:cubicBezTo>
                    <a:pt x="0" y="90170"/>
                    <a:pt x="92075" y="0"/>
                    <a:pt x="204851" y="0"/>
                  </a:cubicBezTo>
                  <a:lnTo>
                    <a:pt x="12427204" y="0"/>
                  </a:lnTo>
                  <a:lnTo>
                    <a:pt x="12427204" y="19050"/>
                  </a:lnTo>
                  <a:lnTo>
                    <a:pt x="12427204" y="0"/>
                  </a:lnTo>
                  <a:cubicBezTo>
                    <a:pt x="12540107" y="0"/>
                    <a:pt x="12632055" y="90170"/>
                    <a:pt x="12632055" y="201930"/>
                  </a:cubicBezTo>
                  <a:lnTo>
                    <a:pt x="12613005" y="201930"/>
                  </a:lnTo>
                  <a:lnTo>
                    <a:pt x="12632055" y="201930"/>
                  </a:lnTo>
                  <a:lnTo>
                    <a:pt x="12632055" y="1818132"/>
                  </a:lnTo>
                  <a:lnTo>
                    <a:pt x="12613005" y="1818132"/>
                  </a:lnTo>
                  <a:lnTo>
                    <a:pt x="12632055" y="1818132"/>
                  </a:lnTo>
                  <a:cubicBezTo>
                    <a:pt x="12632055" y="1929892"/>
                    <a:pt x="12539980" y="2020062"/>
                    <a:pt x="12427204" y="2020062"/>
                  </a:cubicBezTo>
                  <a:lnTo>
                    <a:pt x="12427204" y="2001012"/>
                  </a:lnTo>
                  <a:lnTo>
                    <a:pt x="12427204" y="2020062"/>
                  </a:lnTo>
                  <a:lnTo>
                    <a:pt x="204851" y="2020062"/>
                  </a:lnTo>
                  <a:lnTo>
                    <a:pt x="204851" y="2001012"/>
                  </a:lnTo>
                  <a:lnTo>
                    <a:pt x="204851" y="2020062"/>
                  </a:lnTo>
                  <a:cubicBezTo>
                    <a:pt x="91948" y="2020062"/>
                    <a:pt x="0" y="1929892"/>
                    <a:pt x="0" y="1818132"/>
                  </a:cubicBezTo>
                  <a:lnTo>
                    <a:pt x="0" y="201930"/>
                  </a:lnTo>
                  <a:lnTo>
                    <a:pt x="19050" y="201930"/>
                  </a:lnTo>
                  <a:lnTo>
                    <a:pt x="0" y="201930"/>
                  </a:lnTo>
                  <a:moveTo>
                    <a:pt x="38100" y="201930"/>
                  </a:moveTo>
                  <a:lnTo>
                    <a:pt x="38100" y="1818132"/>
                  </a:lnTo>
                  <a:lnTo>
                    <a:pt x="19050" y="1818132"/>
                  </a:lnTo>
                  <a:lnTo>
                    <a:pt x="38100" y="1818132"/>
                  </a:lnTo>
                  <a:cubicBezTo>
                    <a:pt x="38100" y="1908302"/>
                    <a:pt x="112522" y="1981962"/>
                    <a:pt x="204851" y="1981962"/>
                  </a:cubicBezTo>
                  <a:lnTo>
                    <a:pt x="12427204" y="1981962"/>
                  </a:lnTo>
                  <a:cubicBezTo>
                    <a:pt x="12519661" y="1981962"/>
                    <a:pt x="12593955" y="1908302"/>
                    <a:pt x="12593955" y="1818132"/>
                  </a:cubicBezTo>
                  <a:lnTo>
                    <a:pt x="12593955" y="201930"/>
                  </a:lnTo>
                  <a:cubicBezTo>
                    <a:pt x="12593955" y="111760"/>
                    <a:pt x="12519533" y="38100"/>
                    <a:pt x="12427204" y="38100"/>
                  </a:cubicBezTo>
                  <a:lnTo>
                    <a:pt x="204851" y="38100"/>
                  </a:lnTo>
                  <a:lnTo>
                    <a:pt x="204851" y="19050"/>
                  </a:lnTo>
                  <a:lnTo>
                    <a:pt x="204851" y="38100"/>
                  </a:lnTo>
                  <a:cubicBezTo>
                    <a:pt x="112522" y="38100"/>
                    <a:pt x="38100" y="111760"/>
                    <a:pt x="38100" y="201930"/>
                  </a:cubicBezTo>
                  <a:close/>
                </a:path>
              </a:pathLst>
            </a:custGeom>
            <a:solidFill>
              <a:srgbClr val="C8CACF"/>
            </a:solidFill>
          </p:spPr>
        </p:sp>
      </p:grpSp>
      <p:grpSp>
        <p:nvGrpSpPr>
          <p:cNvPr name="Group 27" id="27"/>
          <p:cNvGrpSpPr/>
          <p:nvPr/>
        </p:nvGrpSpPr>
        <p:grpSpPr>
          <a:xfrm rot="0">
            <a:off x="963663" y="7506738"/>
            <a:ext cx="114300" cy="1486491"/>
            <a:chOff x="0" y="0"/>
            <a:chExt cx="152400" cy="1981987"/>
          </a:xfrm>
        </p:grpSpPr>
        <p:sp>
          <p:nvSpPr>
            <p:cNvPr name="Freeform 28" id="28"/>
            <p:cNvSpPr/>
            <p:nvPr/>
          </p:nvSpPr>
          <p:spPr>
            <a:xfrm flipH="false" flipV="false" rot="0">
              <a:off x="0" y="0"/>
              <a:ext cx="152400" cy="1981962"/>
            </a:xfrm>
            <a:custGeom>
              <a:avLst/>
              <a:gdLst/>
              <a:ahLst/>
              <a:cxnLst/>
              <a:rect r="r" b="b" t="t" l="l"/>
              <a:pathLst>
                <a:path h="1981962" w="152400">
                  <a:moveTo>
                    <a:pt x="0" y="76200"/>
                  </a:moveTo>
                  <a:cubicBezTo>
                    <a:pt x="0" y="34163"/>
                    <a:pt x="34163" y="0"/>
                    <a:pt x="76200" y="0"/>
                  </a:cubicBezTo>
                  <a:cubicBezTo>
                    <a:pt x="118237" y="0"/>
                    <a:pt x="152400" y="34163"/>
                    <a:pt x="152400" y="76200"/>
                  </a:cubicBezTo>
                  <a:lnTo>
                    <a:pt x="152400" y="1905762"/>
                  </a:lnTo>
                  <a:cubicBezTo>
                    <a:pt x="152400" y="1947799"/>
                    <a:pt x="118237" y="1981962"/>
                    <a:pt x="76200" y="1981962"/>
                  </a:cubicBezTo>
                  <a:cubicBezTo>
                    <a:pt x="34163" y="1981962"/>
                    <a:pt x="0" y="1947799"/>
                    <a:pt x="0" y="1905762"/>
                  </a:cubicBezTo>
                  <a:close/>
                </a:path>
              </a:pathLst>
            </a:custGeom>
            <a:solidFill>
              <a:srgbClr val="373B48"/>
            </a:solidFill>
          </p:spPr>
        </p:sp>
      </p:grpSp>
      <p:sp>
        <p:nvSpPr>
          <p:cNvPr name="TextBox 29" id="29"/>
          <p:cNvSpPr txBox="true"/>
          <p:nvPr/>
        </p:nvSpPr>
        <p:spPr>
          <a:xfrm rot="0">
            <a:off x="1354484" y="7773743"/>
            <a:ext cx="3101130"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For your institution</a:t>
            </a:r>
          </a:p>
        </p:txBody>
      </p:sp>
      <p:sp>
        <p:nvSpPr>
          <p:cNvPr name="TextBox 30" id="30"/>
          <p:cNvSpPr txBox="true"/>
          <p:nvPr/>
        </p:nvSpPr>
        <p:spPr>
          <a:xfrm rot="0">
            <a:off x="1354484" y="8224542"/>
            <a:ext cx="8806758" cy="492176"/>
          </a:xfrm>
          <a:prstGeom prst="rect">
            <a:avLst/>
          </a:prstGeom>
        </p:spPr>
        <p:txBody>
          <a:bodyPr anchor="t" rtlCol="false" tIns="0" lIns="0" bIns="0" rIns="0">
            <a:spAutoFit/>
          </a:bodyPr>
          <a:lstStyle/>
          <a:p>
            <a:pPr algn="l">
              <a:lnSpc>
                <a:spcPts val="3125"/>
              </a:lnSpc>
            </a:pPr>
            <a:r>
              <a:rPr lang="en-US" sz="1937">
                <a:solidFill>
                  <a:srgbClr val="52586B"/>
                </a:solidFill>
                <a:latin typeface="Arimo"/>
                <a:ea typeface="Arimo"/>
                <a:cs typeface="Arimo"/>
                <a:sym typeface="Arimo"/>
              </a:rPr>
              <a:t>Ask for the infrastructure by name. Coaching. Monitoring. Ergonomic support.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816178"/>
            <a:ext cx="8131226" cy="1073648"/>
          </a:xfrm>
          <a:prstGeom prst="rect">
            <a:avLst/>
          </a:prstGeom>
        </p:spPr>
        <p:txBody>
          <a:bodyPr anchor="t" rtlCol="false" tIns="0" lIns="0" bIns="0" rIns="0">
            <a:spAutoFit/>
          </a:bodyPr>
          <a:lstStyle/>
          <a:p>
            <a:pPr algn="l">
              <a:lnSpc>
                <a:spcPts val="7999"/>
              </a:lnSpc>
            </a:pPr>
            <a:r>
              <a:rPr lang="en-US" sz="6374" b="true">
                <a:solidFill>
                  <a:srgbClr val="373B48"/>
                </a:solidFill>
                <a:latin typeface="Arimo Bold"/>
                <a:ea typeface="Arimo Bold"/>
                <a:cs typeface="Arimo Bold"/>
                <a:sym typeface="Arimo Bold"/>
              </a:rPr>
              <a:t>The Surgeon's Voice</a:t>
            </a:r>
          </a:p>
        </p:txBody>
      </p:sp>
      <p:grpSp>
        <p:nvGrpSpPr>
          <p:cNvPr name="Group 9" id="9"/>
          <p:cNvGrpSpPr/>
          <p:nvPr/>
        </p:nvGrpSpPr>
        <p:grpSpPr>
          <a:xfrm rot="0">
            <a:off x="7835951" y="2211286"/>
            <a:ext cx="9474098" cy="2397919"/>
            <a:chOff x="0" y="0"/>
            <a:chExt cx="12632131" cy="3197225"/>
          </a:xfrm>
        </p:grpSpPr>
        <p:sp>
          <p:nvSpPr>
            <p:cNvPr name="Freeform 10" id="10"/>
            <p:cNvSpPr/>
            <p:nvPr/>
          </p:nvSpPr>
          <p:spPr>
            <a:xfrm flipH="false" flipV="false" rot="0">
              <a:off x="19050" y="19050"/>
              <a:ext cx="12594082" cy="3159125"/>
            </a:xfrm>
            <a:custGeom>
              <a:avLst/>
              <a:gdLst/>
              <a:ahLst/>
              <a:cxnLst/>
              <a:rect r="r" b="b" t="t" l="l"/>
              <a:pathLst>
                <a:path h="3159125" w="12594082">
                  <a:moveTo>
                    <a:pt x="0" y="131953"/>
                  </a:moveTo>
                  <a:cubicBezTo>
                    <a:pt x="0" y="59055"/>
                    <a:pt x="59563" y="0"/>
                    <a:pt x="133223" y="0"/>
                  </a:cubicBezTo>
                  <a:lnTo>
                    <a:pt x="12460859" y="0"/>
                  </a:lnTo>
                  <a:cubicBezTo>
                    <a:pt x="12534392" y="0"/>
                    <a:pt x="12594082" y="59055"/>
                    <a:pt x="12594082" y="131953"/>
                  </a:cubicBezTo>
                  <a:lnTo>
                    <a:pt x="12594082" y="3027172"/>
                  </a:lnTo>
                  <a:cubicBezTo>
                    <a:pt x="12594082" y="3100070"/>
                    <a:pt x="12534519" y="3159125"/>
                    <a:pt x="12460859" y="3159125"/>
                  </a:cubicBezTo>
                  <a:lnTo>
                    <a:pt x="133223" y="3159125"/>
                  </a:lnTo>
                  <a:cubicBezTo>
                    <a:pt x="59690" y="3159125"/>
                    <a:pt x="0" y="3100070"/>
                    <a:pt x="0" y="3027172"/>
                  </a:cubicBezTo>
                  <a:close/>
                </a:path>
              </a:pathLst>
            </a:custGeom>
            <a:solidFill>
              <a:srgbClr val="FFFFFF">
                <a:alpha val="90196"/>
              </a:srgbClr>
            </a:solidFill>
          </p:spPr>
        </p:sp>
        <p:sp>
          <p:nvSpPr>
            <p:cNvPr name="Freeform 11" id="11"/>
            <p:cNvSpPr/>
            <p:nvPr/>
          </p:nvSpPr>
          <p:spPr>
            <a:xfrm flipH="false" flipV="false" rot="0">
              <a:off x="0" y="0"/>
              <a:ext cx="12632182" cy="3197225"/>
            </a:xfrm>
            <a:custGeom>
              <a:avLst/>
              <a:gdLst/>
              <a:ahLst/>
              <a:cxnLst/>
              <a:rect r="r" b="b" t="t" l="l"/>
              <a:pathLst>
                <a:path h="3197225" w="12632182">
                  <a:moveTo>
                    <a:pt x="0" y="151003"/>
                  </a:moveTo>
                  <a:cubicBezTo>
                    <a:pt x="0" y="67437"/>
                    <a:pt x="68326" y="0"/>
                    <a:pt x="152273" y="0"/>
                  </a:cubicBezTo>
                  <a:lnTo>
                    <a:pt x="12479909" y="0"/>
                  </a:lnTo>
                  <a:lnTo>
                    <a:pt x="12479909" y="19050"/>
                  </a:lnTo>
                  <a:lnTo>
                    <a:pt x="12479909" y="0"/>
                  </a:lnTo>
                  <a:cubicBezTo>
                    <a:pt x="12563856" y="0"/>
                    <a:pt x="12632182" y="67437"/>
                    <a:pt x="12632182" y="151003"/>
                  </a:cubicBezTo>
                  <a:lnTo>
                    <a:pt x="12613132" y="151003"/>
                  </a:lnTo>
                  <a:lnTo>
                    <a:pt x="12632182" y="151003"/>
                  </a:lnTo>
                  <a:lnTo>
                    <a:pt x="12632182" y="3046222"/>
                  </a:lnTo>
                  <a:lnTo>
                    <a:pt x="12613132" y="3046222"/>
                  </a:lnTo>
                  <a:lnTo>
                    <a:pt x="12632182" y="3046222"/>
                  </a:lnTo>
                  <a:cubicBezTo>
                    <a:pt x="12632182" y="3129788"/>
                    <a:pt x="12563856" y="3197225"/>
                    <a:pt x="12479909" y="3197225"/>
                  </a:cubicBezTo>
                  <a:lnTo>
                    <a:pt x="12479909" y="3178175"/>
                  </a:lnTo>
                  <a:lnTo>
                    <a:pt x="12479909" y="3197225"/>
                  </a:lnTo>
                  <a:lnTo>
                    <a:pt x="152273" y="3197225"/>
                  </a:lnTo>
                  <a:lnTo>
                    <a:pt x="152273" y="3178175"/>
                  </a:lnTo>
                  <a:lnTo>
                    <a:pt x="152273" y="3197225"/>
                  </a:lnTo>
                  <a:cubicBezTo>
                    <a:pt x="68326" y="3197225"/>
                    <a:pt x="0" y="3129788"/>
                    <a:pt x="0" y="3046222"/>
                  </a:cubicBezTo>
                  <a:lnTo>
                    <a:pt x="0" y="151003"/>
                  </a:lnTo>
                  <a:lnTo>
                    <a:pt x="19050" y="151003"/>
                  </a:lnTo>
                  <a:lnTo>
                    <a:pt x="0" y="151003"/>
                  </a:lnTo>
                  <a:moveTo>
                    <a:pt x="38100" y="151003"/>
                  </a:moveTo>
                  <a:lnTo>
                    <a:pt x="38100" y="3046222"/>
                  </a:lnTo>
                  <a:lnTo>
                    <a:pt x="19050" y="3046222"/>
                  </a:lnTo>
                  <a:lnTo>
                    <a:pt x="38100" y="3046222"/>
                  </a:lnTo>
                  <a:cubicBezTo>
                    <a:pt x="38100" y="3108452"/>
                    <a:pt x="89027" y="3159125"/>
                    <a:pt x="152273" y="3159125"/>
                  </a:cubicBezTo>
                  <a:lnTo>
                    <a:pt x="12479909" y="3159125"/>
                  </a:lnTo>
                  <a:cubicBezTo>
                    <a:pt x="12543155" y="3159125"/>
                    <a:pt x="12594082" y="3108452"/>
                    <a:pt x="12594082" y="3046222"/>
                  </a:cubicBezTo>
                  <a:lnTo>
                    <a:pt x="12594082" y="151003"/>
                  </a:lnTo>
                  <a:cubicBezTo>
                    <a:pt x="12594082" y="88773"/>
                    <a:pt x="12543155" y="38100"/>
                    <a:pt x="12479909" y="38100"/>
                  </a:cubicBezTo>
                  <a:lnTo>
                    <a:pt x="152273" y="38100"/>
                  </a:lnTo>
                  <a:lnTo>
                    <a:pt x="152273" y="19050"/>
                  </a:lnTo>
                  <a:lnTo>
                    <a:pt x="152273" y="38100"/>
                  </a:lnTo>
                  <a:cubicBezTo>
                    <a:pt x="89027" y="38100"/>
                    <a:pt x="38100" y="88773"/>
                    <a:pt x="38100" y="151003"/>
                  </a:cubicBezTo>
                  <a:close/>
                </a:path>
              </a:pathLst>
            </a:custGeom>
            <a:solidFill>
              <a:srgbClr val="C8CACF"/>
            </a:solidFill>
          </p:spPr>
        </p:sp>
      </p:grpSp>
      <p:grpSp>
        <p:nvGrpSpPr>
          <p:cNvPr name="Group 12" id="12"/>
          <p:cNvGrpSpPr/>
          <p:nvPr/>
        </p:nvGrpSpPr>
        <p:grpSpPr>
          <a:xfrm rot="0">
            <a:off x="7737424" y="2112759"/>
            <a:ext cx="282778" cy="282778"/>
            <a:chOff x="0" y="0"/>
            <a:chExt cx="377038" cy="377038"/>
          </a:xfrm>
        </p:grpSpPr>
        <p:sp>
          <p:nvSpPr>
            <p:cNvPr name="Freeform 13" id="13" descr="preencoded.png"/>
            <p:cNvSpPr/>
            <p:nvPr/>
          </p:nvSpPr>
          <p:spPr>
            <a:xfrm flipH="false" flipV="false" rot="0">
              <a:off x="0" y="0"/>
              <a:ext cx="377063" cy="377063"/>
            </a:xfrm>
            <a:custGeom>
              <a:avLst/>
              <a:gdLst/>
              <a:ahLst/>
              <a:cxnLst/>
              <a:rect r="r" b="b" t="t" l="l"/>
              <a:pathLst>
                <a:path h="377063" w="377063">
                  <a:moveTo>
                    <a:pt x="0" y="0"/>
                  </a:moveTo>
                  <a:lnTo>
                    <a:pt x="377063" y="0"/>
                  </a:lnTo>
                  <a:lnTo>
                    <a:pt x="377063" y="377063"/>
                  </a:lnTo>
                  <a:lnTo>
                    <a:pt x="0" y="377063"/>
                  </a:lnTo>
                  <a:lnTo>
                    <a:pt x="0" y="0"/>
                  </a:lnTo>
                  <a:close/>
                </a:path>
              </a:pathLst>
            </a:custGeom>
            <a:blipFill>
              <a:blip r:embed="rId5"/>
              <a:stretch>
                <a:fillRect l="0" t="0" r="6" b="6"/>
              </a:stretch>
            </a:blipFill>
          </p:spPr>
        </p:sp>
      </p:grpSp>
      <p:grpSp>
        <p:nvGrpSpPr>
          <p:cNvPr name="Group 14" id="14"/>
          <p:cNvGrpSpPr/>
          <p:nvPr/>
        </p:nvGrpSpPr>
        <p:grpSpPr>
          <a:xfrm rot="0">
            <a:off x="17125798" y="4424953"/>
            <a:ext cx="282778" cy="282778"/>
            <a:chOff x="0" y="0"/>
            <a:chExt cx="377038" cy="377038"/>
          </a:xfrm>
        </p:grpSpPr>
        <p:sp>
          <p:nvSpPr>
            <p:cNvPr name="Freeform 15" id="15" descr="preencoded.png"/>
            <p:cNvSpPr/>
            <p:nvPr/>
          </p:nvSpPr>
          <p:spPr>
            <a:xfrm flipH="false" flipV="false" rot="0">
              <a:off x="0" y="0"/>
              <a:ext cx="377063" cy="377063"/>
            </a:xfrm>
            <a:custGeom>
              <a:avLst/>
              <a:gdLst/>
              <a:ahLst/>
              <a:cxnLst/>
              <a:rect r="r" b="b" t="t" l="l"/>
              <a:pathLst>
                <a:path h="377063" w="377063">
                  <a:moveTo>
                    <a:pt x="0" y="0"/>
                  </a:moveTo>
                  <a:lnTo>
                    <a:pt x="377063" y="0"/>
                  </a:lnTo>
                  <a:lnTo>
                    <a:pt x="377063" y="377063"/>
                  </a:lnTo>
                  <a:lnTo>
                    <a:pt x="0" y="377063"/>
                  </a:lnTo>
                  <a:lnTo>
                    <a:pt x="0" y="0"/>
                  </a:lnTo>
                  <a:close/>
                </a:path>
              </a:pathLst>
            </a:custGeom>
            <a:blipFill>
              <a:blip r:embed="rId6"/>
              <a:stretch>
                <a:fillRect l="0" t="0" r="6" b="6"/>
              </a:stretch>
            </a:blipFill>
          </p:spPr>
        </p:sp>
      </p:grpSp>
      <p:sp>
        <p:nvSpPr>
          <p:cNvPr name="TextBox 16" id="16"/>
          <p:cNvSpPr txBox="true"/>
          <p:nvPr/>
        </p:nvSpPr>
        <p:spPr>
          <a:xfrm rot="0">
            <a:off x="8232277" y="2521896"/>
            <a:ext cx="8681447" cy="1188987"/>
          </a:xfrm>
          <a:prstGeom prst="rect">
            <a:avLst/>
          </a:prstGeom>
        </p:spPr>
        <p:txBody>
          <a:bodyPr anchor="t" rtlCol="false" tIns="0" lIns="0" bIns="0" rIns="0">
            <a:spAutoFit/>
          </a:bodyPr>
          <a:lstStyle/>
          <a:p>
            <a:pPr algn="l">
              <a:lnSpc>
                <a:spcPts val="2875"/>
              </a:lnSpc>
            </a:pPr>
            <a:r>
              <a:rPr lang="en-US" sz="1812" i="true">
                <a:solidFill>
                  <a:srgbClr val="52586B"/>
                </a:solidFill>
                <a:latin typeface="Arimo Italics"/>
                <a:ea typeface="Arimo Italics"/>
                <a:cs typeface="Arimo Italics"/>
                <a:sym typeface="Arimo Italics"/>
              </a:rPr>
              <a:t>"When I started treating my preparation and recovery with the same seriousness as my technical training, I noticed an immediate difference in focus, endurance, and decision-making. Human performance science is the missing link in surgery."</a:t>
            </a:r>
          </a:p>
        </p:txBody>
      </p:sp>
      <p:sp>
        <p:nvSpPr>
          <p:cNvPr name="TextBox 17" id="17"/>
          <p:cNvSpPr txBox="true"/>
          <p:nvPr/>
        </p:nvSpPr>
        <p:spPr>
          <a:xfrm rot="0">
            <a:off x="8232277" y="3759403"/>
            <a:ext cx="8681447" cy="453476"/>
          </a:xfrm>
          <a:prstGeom prst="rect">
            <a:avLst/>
          </a:prstGeom>
        </p:spPr>
        <p:txBody>
          <a:bodyPr anchor="t" rtlCol="false" tIns="0" lIns="0" bIns="0" rIns="0">
            <a:spAutoFit/>
          </a:bodyPr>
          <a:lstStyle/>
          <a:p>
            <a:pPr algn="l">
              <a:lnSpc>
                <a:spcPts val="2875"/>
              </a:lnSpc>
            </a:pPr>
            <a:r>
              <a:rPr lang="en-US" sz="1812">
                <a:solidFill>
                  <a:srgbClr val="52586B"/>
                </a:solidFill>
                <a:latin typeface="Arimo"/>
                <a:ea typeface="Arimo"/>
                <a:cs typeface="Arimo"/>
                <a:sym typeface="Arimo"/>
              </a:rPr>
              <a:t>— </a:t>
            </a:r>
            <a:r>
              <a:rPr lang="en-US" sz="1812" b="true">
                <a:solidFill>
                  <a:srgbClr val="52586B"/>
                </a:solidFill>
                <a:latin typeface="Arimo Bold"/>
                <a:ea typeface="Arimo Bold"/>
                <a:cs typeface="Arimo Bold"/>
                <a:sym typeface="Arimo Bold"/>
              </a:rPr>
              <a:t>Dr Stefan Kreuzer</a:t>
            </a:r>
          </a:p>
        </p:txBody>
      </p:sp>
      <p:grpSp>
        <p:nvGrpSpPr>
          <p:cNvPr name="Group 18" id="18"/>
          <p:cNvGrpSpPr/>
          <p:nvPr/>
        </p:nvGrpSpPr>
        <p:grpSpPr>
          <a:xfrm rot="0">
            <a:off x="7835951" y="4804467"/>
            <a:ext cx="9474098" cy="2397919"/>
            <a:chOff x="0" y="0"/>
            <a:chExt cx="12632131" cy="3197225"/>
          </a:xfrm>
        </p:grpSpPr>
        <p:sp>
          <p:nvSpPr>
            <p:cNvPr name="Freeform 19" id="19"/>
            <p:cNvSpPr/>
            <p:nvPr/>
          </p:nvSpPr>
          <p:spPr>
            <a:xfrm flipH="false" flipV="false" rot="0">
              <a:off x="19050" y="19050"/>
              <a:ext cx="12594082" cy="3159125"/>
            </a:xfrm>
            <a:custGeom>
              <a:avLst/>
              <a:gdLst/>
              <a:ahLst/>
              <a:cxnLst/>
              <a:rect r="r" b="b" t="t" l="l"/>
              <a:pathLst>
                <a:path h="3159125" w="12594082">
                  <a:moveTo>
                    <a:pt x="0" y="131953"/>
                  </a:moveTo>
                  <a:cubicBezTo>
                    <a:pt x="0" y="59055"/>
                    <a:pt x="59563" y="0"/>
                    <a:pt x="133223" y="0"/>
                  </a:cubicBezTo>
                  <a:lnTo>
                    <a:pt x="12460859" y="0"/>
                  </a:lnTo>
                  <a:cubicBezTo>
                    <a:pt x="12534392" y="0"/>
                    <a:pt x="12594082" y="59055"/>
                    <a:pt x="12594082" y="131953"/>
                  </a:cubicBezTo>
                  <a:lnTo>
                    <a:pt x="12594082" y="3027172"/>
                  </a:lnTo>
                  <a:cubicBezTo>
                    <a:pt x="12594082" y="3100070"/>
                    <a:pt x="12534519" y="3159125"/>
                    <a:pt x="12460859" y="3159125"/>
                  </a:cubicBezTo>
                  <a:lnTo>
                    <a:pt x="133223" y="3159125"/>
                  </a:lnTo>
                  <a:cubicBezTo>
                    <a:pt x="59690" y="3159125"/>
                    <a:pt x="0" y="3100070"/>
                    <a:pt x="0" y="3027172"/>
                  </a:cubicBezTo>
                  <a:close/>
                </a:path>
              </a:pathLst>
            </a:custGeom>
            <a:solidFill>
              <a:srgbClr val="FFFFFF">
                <a:alpha val="90196"/>
              </a:srgbClr>
            </a:solidFill>
          </p:spPr>
        </p:sp>
        <p:sp>
          <p:nvSpPr>
            <p:cNvPr name="Freeform 20" id="20"/>
            <p:cNvSpPr/>
            <p:nvPr/>
          </p:nvSpPr>
          <p:spPr>
            <a:xfrm flipH="false" flipV="false" rot="0">
              <a:off x="0" y="0"/>
              <a:ext cx="12632182" cy="3197225"/>
            </a:xfrm>
            <a:custGeom>
              <a:avLst/>
              <a:gdLst/>
              <a:ahLst/>
              <a:cxnLst/>
              <a:rect r="r" b="b" t="t" l="l"/>
              <a:pathLst>
                <a:path h="3197225" w="12632182">
                  <a:moveTo>
                    <a:pt x="0" y="151003"/>
                  </a:moveTo>
                  <a:cubicBezTo>
                    <a:pt x="0" y="67437"/>
                    <a:pt x="68326" y="0"/>
                    <a:pt x="152273" y="0"/>
                  </a:cubicBezTo>
                  <a:lnTo>
                    <a:pt x="12479909" y="0"/>
                  </a:lnTo>
                  <a:lnTo>
                    <a:pt x="12479909" y="19050"/>
                  </a:lnTo>
                  <a:lnTo>
                    <a:pt x="12479909" y="0"/>
                  </a:lnTo>
                  <a:cubicBezTo>
                    <a:pt x="12563856" y="0"/>
                    <a:pt x="12632182" y="67437"/>
                    <a:pt x="12632182" y="151003"/>
                  </a:cubicBezTo>
                  <a:lnTo>
                    <a:pt x="12613132" y="151003"/>
                  </a:lnTo>
                  <a:lnTo>
                    <a:pt x="12632182" y="151003"/>
                  </a:lnTo>
                  <a:lnTo>
                    <a:pt x="12632182" y="3046222"/>
                  </a:lnTo>
                  <a:lnTo>
                    <a:pt x="12613132" y="3046222"/>
                  </a:lnTo>
                  <a:lnTo>
                    <a:pt x="12632182" y="3046222"/>
                  </a:lnTo>
                  <a:cubicBezTo>
                    <a:pt x="12632182" y="3129788"/>
                    <a:pt x="12563856" y="3197225"/>
                    <a:pt x="12479909" y="3197225"/>
                  </a:cubicBezTo>
                  <a:lnTo>
                    <a:pt x="12479909" y="3178175"/>
                  </a:lnTo>
                  <a:lnTo>
                    <a:pt x="12479909" y="3197225"/>
                  </a:lnTo>
                  <a:lnTo>
                    <a:pt x="152273" y="3197225"/>
                  </a:lnTo>
                  <a:lnTo>
                    <a:pt x="152273" y="3178175"/>
                  </a:lnTo>
                  <a:lnTo>
                    <a:pt x="152273" y="3197225"/>
                  </a:lnTo>
                  <a:cubicBezTo>
                    <a:pt x="68326" y="3197225"/>
                    <a:pt x="0" y="3129788"/>
                    <a:pt x="0" y="3046222"/>
                  </a:cubicBezTo>
                  <a:lnTo>
                    <a:pt x="0" y="151003"/>
                  </a:lnTo>
                  <a:lnTo>
                    <a:pt x="19050" y="151003"/>
                  </a:lnTo>
                  <a:lnTo>
                    <a:pt x="0" y="151003"/>
                  </a:lnTo>
                  <a:moveTo>
                    <a:pt x="38100" y="151003"/>
                  </a:moveTo>
                  <a:lnTo>
                    <a:pt x="38100" y="3046222"/>
                  </a:lnTo>
                  <a:lnTo>
                    <a:pt x="19050" y="3046222"/>
                  </a:lnTo>
                  <a:lnTo>
                    <a:pt x="38100" y="3046222"/>
                  </a:lnTo>
                  <a:cubicBezTo>
                    <a:pt x="38100" y="3108452"/>
                    <a:pt x="89027" y="3159125"/>
                    <a:pt x="152273" y="3159125"/>
                  </a:cubicBezTo>
                  <a:lnTo>
                    <a:pt x="12479909" y="3159125"/>
                  </a:lnTo>
                  <a:cubicBezTo>
                    <a:pt x="12543155" y="3159125"/>
                    <a:pt x="12594082" y="3108452"/>
                    <a:pt x="12594082" y="3046222"/>
                  </a:cubicBezTo>
                  <a:lnTo>
                    <a:pt x="12594082" y="151003"/>
                  </a:lnTo>
                  <a:cubicBezTo>
                    <a:pt x="12594082" y="88773"/>
                    <a:pt x="12543155" y="38100"/>
                    <a:pt x="12479909" y="38100"/>
                  </a:cubicBezTo>
                  <a:lnTo>
                    <a:pt x="152273" y="38100"/>
                  </a:lnTo>
                  <a:lnTo>
                    <a:pt x="152273" y="19050"/>
                  </a:lnTo>
                  <a:lnTo>
                    <a:pt x="152273" y="38100"/>
                  </a:lnTo>
                  <a:cubicBezTo>
                    <a:pt x="89027" y="38100"/>
                    <a:pt x="38100" y="88773"/>
                    <a:pt x="38100" y="151003"/>
                  </a:cubicBezTo>
                  <a:close/>
                </a:path>
              </a:pathLst>
            </a:custGeom>
            <a:solidFill>
              <a:srgbClr val="C8CACF"/>
            </a:solidFill>
          </p:spPr>
        </p:sp>
      </p:grpSp>
      <p:grpSp>
        <p:nvGrpSpPr>
          <p:cNvPr name="Group 21" id="21"/>
          <p:cNvGrpSpPr/>
          <p:nvPr/>
        </p:nvGrpSpPr>
        <p:grpSpPr>
          <a:xfrm rot="0">
            <a:off x="7737424" y="4705941"/>
            <a:ext cx="282778" cy="282778"/>
            <a:chOff x="0" y="0"/>
            <a:chExt cx="377038" cy="377038"/>
          </a:xfrm>
        </p:grpSpPr>
        <p:sp>
          <p:nvSpPr>
            <p:cNvPr name="Freeform 22" id="22" descr="preencoded.png"/>
            <p:cNvSpPr/>
            <p:nvPr/>
          </p:nvSpPr>
          <p:spPr>
            <a:xfrm flipH="false" flipV="false" rot="0">
              <a:off x="0" y="0"/>
              <a:ext cx="377063" cy="377063"/>
            </a:xfrm>
            <a:custGeom>
              <a:avLst/>
              <a:gdLst/>
              <a:ahLst/>
              <a:cxnLst/>
              <a:rect r="r" b="b" t="t" l="l"/>
              <a:pathLst>
                <a:path h="377063" w="377063">
                  <a:moveTo>
                    <a:pt x="0" y="0"/>
                  </a:moveTo>
                  <a:lnTo>
                    <a:pt x="377063" y="0"/>
                  </a:lnTo>
                  <a:lnTo>
                    <a:pt x="377063" y="377063"/>
                  </a:lnTo>
                  <a:lnTo>
                    <a:pt x="0" y="377063"/>
                  </a:lnTo>
                  <a:lnTo>
                    <a:pt x="0" y="0"/>
                  </a:lnTo>
                  <a:close/>
                </a:path>
              </a:pathLst>
            </a:custGeom>
            <a:blipFill>
              <a:blip r:embed="rId5"/>
              <a:stretch>
                <a:fillRect l="0" t="0" r="6" b="6"/>
              </a:stretch>
            </a:blipFill>
          </p:spPr>
        </p:sp>
      </p:grpSp>
      <p:grpSp>
        <p:nvGrpSpPr>
          <p:cNvPr name="Group 23" id="23"/>
          <p:cNvGrpSpPr/>
          <p:nvPr/>
        </p:nvGrpSpPr>
        <p:grpSpPr>
          <a:xfrm rot="0">
            <a:off x="17125798" y="7018134"/>
            <a:ext cx="282778" cy="282778"/>
            <a:chOff x="0" y="0"/>
            <a:chExt cx="377038" cy="377038"/>
          </a:xfrm>
        </p:grpSpPr>
        <p:sp>
          <p:nvSpPr>
            <p:cNvPr name="Freeform 24" id="24" descr="preencoded.png"/>
            <p:cNvSpPr/>
            <p:nvPr/>
          </p:nvSpPr>
          <p:spPr>
            <a:xfrm flipH="false" flipV="false" rot="0">
              <a:off x="0" y="0"/>
              <a:ext cx="377063" cy="377063"/>
            </a:xfrm>
            <a:custGeom>
              <a:avLst/>
              <a:gdLst/>
              <a:ahLst/>
              <a:cxnLst/>
              <a:rect r="r" b="b" t="t" l="l"/>
              <a:pathLst>
                <a:path h="377063" w="377063">
                  <a:moveTo>
                    <a:pt x="0" y="0"/>
                  </a:moveTo>
                  <a:lnTo>
                    <a:pt x="377063" y="0"/>
                  </a:lnTo>
                  <a:lnTo>
                    <a:pt x="377063" y="377063"/>
                  </a:lnTo>
                  <a:lnTo>
                    <a:pt x="0" y="377063"/>
                  </a:lnTo>
                  <a:lnTo>
                    <a:pt x="0" y="0"/>
                  </a:lnTo>
                  <a:close/>
                </a:path>
              </a:pathLst>
            </a:custGeom>
            <a:blipFill>
              <a:blip r:embed="rId6"/>
              <a:stretch>
                <a:fillRect l="0" t="0" r="6" b="6"/>
              </a:stretch>
            </a:blipFill>
          </p:spPr>
        </p:sp>
      </p:grpSp>
      <p:sp>
        <p:nvSpPr>
          <p:cNvPr name="TextBox 25" id="25"/>
          <p:cNvSpPr txBox="true"/>
          <p:nvPr/>
        </p:nvSpPr>
        <p:spPr>
          <a:xfrm rot="0">
            <a:off x="8232277" y="5115077"/>
            <a:ext cx="8681447" cy="1188987"/>
          </a:xfrm>
          <a:prstGeom prst="rect">
            <a:avLst/>
          </a:prstGeom>
        </p:spPr>
        <p:txBody>
          <a:bodyPr anchor="t" rtlCol="false" tIns="0" lIns="0" bIns="0" rIns="0">
            <a:spAutoFit/>
          </a:bodyPr>
          <a:lstStyle/>
          <a:p>
            <a:pPr algn="l">
              <a:lnSpc>
                <a:spcPts val="2875"/>
              </a:lnSpc>
            </a:pPr>
            <a:r>
              <a:rPr lang="en-US" sz="1812" i="true">
                <a:solidFill>
                  <a:srgbClr val="52586B"/>
                </a:solidFill>
                <a:latin typeface="Arimo Italics"/>
                <a:ea typeface="Arimo Italics"/>
                <a:cs typeface="Arimo Italics"/>
                <a:sym typeface="Arimo Italics"/>
              </a:rPr>
              <a:t>"For years we have optimised instruments, workflows, and operating theatres, but not ourselves. This approach reframes the surgeon as a high performer and it is exactly the mindset shift our profession needs."</a:t>
            </a:r>
          </a:p>
        </p:txBody>
      </p:sp>
      <p:sp>
        <p:nvSpPr>
          <p:cNvPr name="TextBox 26" id="26"/>
          <p:cNvSpPr txBox="true"/>
          <p:nvPr/>
        </p:nvSpPr>
        <p:spPr>
          <a:xfrm rot="0">
            <a:off x="8232277" y="6352584"/>
            <a:ext cx="8681447" cy="453476"/>
          </a:xfrm>
          <a:prstGeom prst="rect">
            <a:avLst/>
          </a:prstGeom>
        </p:spPr>
        <p:txBody>
          <a:bodyPr anchor="t" rtlCol="false" tIns="0" lIns="0" bIns="0" rIns="0">
            <a:spAutoFit/>
          </a:bodyPr>
          <a:lstStyle/>
          <a:p>
            <a:pPr algn="l">
              <a:lnSpc>
                <a:spcPts val="2875"/>
              </a:lnSpc>
            </a:pPr>
            <a:r>
              <a:rPr lang="en-US" sz="1812">
                <a:solidFill>
                  <a:srgbClr val="52586B"/>
                </a:solidFill>
                <a:latin typeface="Arimo"/>
                <a:ea typeface="Arimo"/>
                <a:cs typeface="Arimo"/>
                <a:sym typeface="Arimo"/>
              </a:rPr>
              <a:t>— </a:t>
            </a:r>
            <a:r>
              <a:rPr lang="en-US" sz="1812" b="true">
                <a:solidFill>
                  <a:srgbClr val="52586B"/>
                </a:solidFill>
                <a:latin typeface="Arimo Bold"/>
                <a:ea typeface="Arimo Bold"/>
                <a:cs typeface="Arimo Bold"/>
                <a:sym typeface="Arimo Bold"/>
              </a:rPr>
              <a:t>Prof Bill Walter</a:t>
            </a:r>
          </a:p>
        </p:txBody>
      </p:sp>
      <p:grpSp>
        <p:nvGrpSpPr>
          <p:cNvPr name="Group 27" id="27"/>
          <p:cNvGrpSpPr/>
          <p:nvPr/>
        </p:nvGrpSpPr>
        <p:grpSpPr>
          <a:xfrm rot="0">
            <a:off x="7835951" y="7397648"/>
            <a:ext cx="9474098" cy="2030168"/>
            <a:chOff x="0" y="0"/>
            <a:chExt cx="12632131" cy="2706891"/>
          </a:xfrm>
        </p:grpSpPr>
        <p:sp>
          <p:nvSpPr>
            <p:cNvPr name="Freeform 28" id="28"/>
            <p:cNvSpPr/>
            <p:nvPr/>
          </p:nvSpPr>
          <p:spPr>
            <a:xfrm flipH="false" flipV="false" rot="0">
              <a:off x="19050" y="19050"/>
              <a:ext cx="12594082" cy="2668778"/>
            </a:xfrm>
            <a:custGeom>
              <a:avLst/>
              <a:gdLst/>
              <a:ahLst/>
              <a:cxnLst/>
              <a:rect r="r" b="b" t="t" l="l"/>
              <a:pathLst>
                <a:path h="2668778" w="12594082">
                  <a:moveTo>
                    <a:pt x="0" y="131953"/>
                  </a:moveTo>
                  <a:cubicBezTo>
                    <a:pt x="0" y="59055"/>
                    <a:pt x="59817" y="0"/>
                    <a:pt x="133477" y="0"/>
                  </a:cubicBezTo>
                  <a:lnTo>
                    <a:pt x="12460605" y="0"/>
                  </a:lnTo>
                  <a:cubicBezTo>
                    <a:pt x="12534265" y="0"/>
                    <a:pt x="12594082" y="59055"/>
                    <a:pt x="12594082" y="131953"/>
                  </a:cubicBezTo>
                  <a:lnTo>
                    <a:pt x="12594082" y="2536825"/>
                  </a:lnTo>
                  <a:cubicBezTo>
                    <a:pt x="12594082" y="2609723"/>
                    <a:pt x="12534265" y="2668778"/>
                    <a:pt x="12460605" y="2668778"/>
                  </a:cubicBezTo>
                  <a:lnTo>
                    <a:pt x="133477" y="2668778"/>
                  </a:lnTo>
                  <a:cubicBezTo>
                    <a:pt x="59817" y="2668778"/>
                    <a:pt x="0" y="2609723"/>
                    <a:pt x="0" y="2536825"/>
                  </a:cubicBezTo>
                  <a:close/>
                </a:path>
              </a:pathLst>
            </a:custGeom>
            <a:solidFill>
              <a:srgbClr val="FFFFFF">
                <a:alpha val="90196"/>
              </a:srgbClr>
            </a:solidFill>
          </p:spPr>
        </p:sp>
        <p:sp>
          <p:nvSpPr>
            <p:cNvPr name="Freeform 29" id="29"/>
            <p:cNvSpPr/>
            <p:nvPr/>
          </p:nvSpPr>
          <p:spPr>
            <a:xfrm flipH="false" flipV="false" rot="0">
              <a:off x="0" y="0"/>
              <a:ext cx="12632182" cy="2706878"/>
            </a:xfrm>
            <a:custGeom>
              <a:avLst/>
              <a:gdLst/>
              <a:ahLst/>
              <a:cxnLst/>
              <a:rect r="r" b="b" t="t" l="l"/>
              <a:pathLst>
                <a:path h="2706878" w="12632182">
                  <a:moveTo>
                    <a:pt x="0" y="151003"/>
                  </a:moveTo>
                  <a:cubicBezTo>
                    <a:pt x="0" y="67437"/>
                    <a:pt x="68453" y="0"/>
                    <a:pt x="152527" y="0"/>
                  </a:cubicBezTo>
                  <a:lnTo>
                    <a:pt x="12479655" y="0"/>
                  </a:lnTo>
                  <a:lnTo>
                    <a:pt x="12479655" y="19050"/>
                  </a:lnTo>
                  <a:lnTo>
                    <a:pt x="12479655" y="0"/>
                  </a:lnTo>
                  <a:cubicBezTo>
                    <a:pt x="12563729" y="0"/>
                    <a:pt x="12632182" y="67437"/>
                    <a:pt x="12632182" y="151003"/>
                  </a:cubicBezTo>
                  <a:lnTo>
                    <a:pt x="12613132" y="151003"/>
                  </a:lnTo>
                  <a:lnTo>
                    <a:pt x="12632182" y="151003"/>
                  </a:lnTo>
                  <a:lnTo>
                    <a:pt x="12632182" y="2555875"/>
                  </a:lnTo>
                  <a:lnTo>
                    <a:pt x="12613132" y="2555875"/>
                  </a:lnTo>
                  <a:lnTo>
                    <a:pt x="12632182" y="2555875"/>
                  </a:lnTo>
                  <a:cubicBezTo>
                    <a:pt x="12632182" y="2639441"/>
                    <a:pt x="12563729" y="2706878"/>
                    <a:pt x="12479655" y="2706878"/>
                  </a:cubicBezTo>
                  <a:lnTo>
                    <a:pt x="12479655" y="2687828"/>
                  </a:lnTo>
                  <a:lnTo>
                    <a:pt x="12479655" y="2706878"/>
                  </a:lnTo>
                  <a:lnTo>
                    <a:pt x="152527" y="2706878"/>
                  </a:lnTo>
                  <a:lnTo>
                    <a:pt x="152527" y="2687828"/>
                  </a:lnTo>
                  <a:lnTo>
                    <a:pt x="152527" y="2706878"/>
                  </a:lnTo>
                  <a:cubicBezTo>
                    <a:pt x="68453" y="2706878"/>
                    <a:pt x="0" y="2639441"/>
                    <a:pt x="0" y="2555875"/>
                  </a:cubicBezTo>
                  <a:lnTo>
                    <a:pt x="0" y="151003"/>
                  </a:lnTo>
                  <a:lnTo>
                    <a:pt x="19050" y="151003"/>
                  </a:lnTo>
                  <a:lnTo>
                    <a:pt x="0" y="151003"/>
                  </a:lnTo>
                  <a:moveTo>
                    <a:pt x="38100" y="151003"/>
                  </a:moveTo>
                  <a:lnTo>
                    <a:pt x="38100" y="2555875"/>
                  </a:lnTo>
                  <a:lnTo>
                    <a:pt x="19050" y="2555875"/>
                  </a:lnTo>
                  <a:lnTo>
                    <a:pt x="38100" y="2555875"/>
                  </a:lnTo>
                  <a:cubicBezTo>
                    <a:pt x="38100" y="2618105"/>
                    <a:pt x="89154" y="2668778"/>
                    <a:pt x="152527" y="2668778"/>
                  </a:cubicBezTo>
                  <a:lnTo>
                    <a:pt x="12479655" y="2668778"/>
                  </a:lnTo>
                  <a:cubicBezTo>
                    <a:pt x="12543028" y="2668778"/>
                    <a:pt x="12594082" y="2617978"/>
                    <a:pt x="12594082" y="2555875"/>
                  </a:cubicBezTo>
                  <a:lnTo>
                    <a:pt x="12594082" y="151003"/>
                  </a:lnTo>
                  <a:cubicBezTo>
                    <a:pt x="12594082" y="88773"/>
                    <a:pt x="12543028" y="38100"/>
                    <a:pt x="12479655" y="38100"/>
                  </a:cubicBezTo>
                  <a:lnTo>
                    <a:pt x="152527" y="38100"/>
                  </a:lnTo>
                  <a:lnTo>
                    <a:pt x="152527" y="19050"/>
                  </a:lnTo>
                  <a:lnTo>
                    <a:pt x="152527" y="38100"/>
                  </a:lnTo>
                  <a:cubicBezTo>
                    <a:pt x="89154" y="38100"/>
                    <a:pt x="38100" y="88900"/>
                    <a:pt x="38100" y="151003"/>
                  </a:cubicBezTo>
                  <a:close/>
                </a:path>
              </a:pathLst>
            </a:custGeom>
            <a:solidFill>
              <a:srgbClr val="C8CACF"/>
            </a:solidFill>
          </p:spPr>
        </p:sp>
      </p:grpSp>
      <p:grpSp>
        <p:nvGrpSpPr>
          <p:cNvPr name="Group 30" id="30"/>
          <p:cNvGrpSpPr/>
          <p:nvPr/>
        </p:nvGrpSpPr>
        <p:grpSpPr>
          <a:xfrm rot="0">
            <a:off x="7737424" y="7299122"/>
            <a:ext cx="282778" cy="282778"/>
            <a:chOff x="0" y="0"/>
            <a:chExt cx="377038" cy="377038"/>
          </a:xfrm>
        </p:grpSpPr>
        <p:sp>
          <p:nvSpPr>
            <p:cNvPr name="Freeform 31" id="31" descr="preencoded.png"/>
            <p:cNvSpPr/>
            <p:nvPr/>
          </p:nvSpPr>
          <p:spPr>
            <a:xfrm flipH="false" flipV="false" rot="0">
              <a:off x="0" y="0"/>
              <a:ext cx="377063" cy="377063"/>
            </a:xfrm>
            <a:custGeom>
              <a:avLst/>
              <a:gdLst/>
              <a:ahLst/>
              <a:cxnLst/>
              <a:rect r="r" b="b" t="t" l="l"/>
              <a:pathLst>
                <a:path h="377063" w="377063">
                  <a:moveTo>
                    <a:pt x="0" y="0"/>
                  </a:moveTo>
                  <a:lnTo>
                    <a:pt x="377063" y="0"/>
                  </a:lnTo>
                  <a:lnTo>
                    <a:pt x="377063" y="377063"/>
                  </a:lnTo>
                  <a:lnTo>
                    <a:pt x="0" y="377063"/>
                  </a:lnTo>
                  <a:lnTo>
                    <a:pt x="0" y="0"/>
                  </a:lnTo>
                  <a:close/>
                </a:path>
              </a:pathLst>
            </a:custGeom>
            <a:blipFill>
              <a:blip r:embed="rId5"/>
              <a:stretch>
                <a:fillRect l="0" t="0" r="6" b="6"/>
              </a:stretch>
            </a:blipFill>
          </p:spPr>
        </p:sp>
      </p:grpSp>
      <p:grpSp>
        <p:nvGrpSpPr>
          <p:cNvPr name="Group 32" id="32"/>
          <p:cNvGrpSpPr/>
          <p:nvPr/>
        </p:nvGrpSpPr>
        <p:grpSpPr>
          <a:xfrm rot="0">
            <a:off x="17125798" y="9243565"/>
            <a:ext cx="282778" cy="282778"/>
            <a:chOff x="0" y="0"/>
            <a:chExt cx="377038" cy="377038"/>
          </a:xfrm>
        </p:grpSpPr>
        <p:sp>
          <p:nvSpPr>
            <p:cNvPr name="Freeform 33" id="33" descr="preencoded.png"/>
            <p:cNvSpPr/>
            <p:nvPr/>
          </p:nvSpPr>
          <p:spPr>
            <a:xfrm flipH="false" flipV="false" rot="0">
              <a:off x="0" y="0"/>
              <a:ext cx="377063" cy="377063"/>
            </a:xfrm>
            <a:custGeom>
              <a:avLst/>
              <a:gdLst/>
              <a:ahLst/>
              <a:cxnLst/>
              <a:rect r="r" b="b" t="t" l="l"/>
              <a:pathLst>
                <a:path h="377063" w="377063">
                  <a:moveTo>
                    <a:pt x="0" y="0"/>
                  </a:moveTo>
                  <a:lnTo>
                    <a:pt x="377063" y="0"/>
                  </a:lnTo>
                  <a:lnTo>
                    <a:pt x="377063" y="377063"/>
                  </a:lnTo>
                  <a:lnTo>
                    <a:pt x="0" y="377063"/>
                  </a:lnTo>
                  <a:lnTo>
                    <a:pt x="0" y="0"/>
                  </a:lnTo>
                  <a:close/>
                </a:path>
              </a:pathLst>
            </a:custGeom>
            <a:blipFill>
              <a:blip r:embed="rId6"/>
              <a:stretch>
                <a:fillRect l="0" t="0" r="6" b="6"/>
              </a:stretch>
            </a:blipFill>
          </p:spPr>
        </p:sp>
      </p:grpSp>
      <p:sp>
        <p:nvSpPr>
          <p:cNvPr name="TextBox 34" id="34"/>
          <p:cNvSpPr txBox="true"/>
          <p:nvPr/>
        </p:nvSpPr>
        <p:spPr>
          <a:xfrm rot="0">
            <a:off x="8232277" y="7708259"/>
            <a:ext cx="8681447" cy="821236"/>
          </a:xfrm>
          <a:prstGeom prst="rect">
            <a:avLst/>
          </a:prstGeom>
        </p:spPr>
        <p:txBody>
          <a:bodyPr anchor="t" rtlCol="false" tIns="0" lIns="0" bIns="0" rIns="0">
            <a:spAutoFit/>
          </a:bodyPr>
          <a:lstStyle/>
          <a:p>
            <a:pPr algn="l">
              <a:lnSpc>
                <a:spcPts val="2875"/>
              </a:lnSpc>
            </a:pPr>
            <a:r>
              <a:rPr lang="en-US" sz="1812" i="true">
                <a:solidFill>
                  <a:srgbClr val="52586B"/>
                </a:solidFill>
                <a:latin typeface="Arimo Italics"/>
                <a:ea typeface="Arimo Italics"/>
                <a:cs typeface="Arimo Italics"/>
                <a:sym typeface="Arimo Italics"/>
              </a:rPr>
              <a:t>"Every surgeon in this room already performs like an elite athlete. They just have not been supported like one"</a:t>
            </a:r>
          </a:p>
        </p:txBody>
      </p:sp>
      <p:sp>
        <p:nvSpPr>
          <p:cNvPr name="TextBox 35" id="35"/>
          <p:cNvSpPr txBox="true"/>
          <p:nvPr/>
        </p:nvSpPr>
        <p:spPr>
          <a:xfrm rot="0">
            <a:off x="8232277" y="8578005"/>
            <a:ext cx="8681447" cy="453476"/>
          </a:xfrm>
          <a:prstGeom prst="rect">
            <a:avLst/>
          </a:prstGeom>
        </p:spPr>
        <p:txBody>
          <a:bodyPr anchor="t" rtlCol="false" tIns="0" lIns="0" bIns="0" rIns="0">
            <a:spAutoFit/>
          </a:bodyPr>
          <a:lstStyle/>
          <a:p>
            <a:pPr algn="l">
              <a:lnSpc>
                <a:spcPts val="2875"/>
              </a:lnSpc>
            </a:pPr>
            <a:r>
              <a:rPr lang="en-US" sz="1812">
                <a:solidFill>
                  <a:srgbClr val="52586B"/>
                </a:solidFill>
                <a:latin typeface="Arimo"/>
                <a:ea typeface="Arimo"/>
                <a:cs typeface="Arimo"/>
                <a:sym typeface="Arimo"/>
              </a:rPr>
              <a:t>— </a:t>
            </a:r>
            <a:r>
              <a:rPr lang="en-US" sz="1812" b="true">
                <a:solidFill>
                  <a:srgbClr val="52586B"/>
                </a:solidFill>
                <a:latin typeface="Arimo Bold"/>
                <a:ea typeface="Arimo Bold"/>
                <a:cs typeface="Arimo Bold"/>
                <a:sym typeface="Arimo Bold"/>
              </a:rPr>
              <a:t>Dr Jit Balakumar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grpSp>
        <p:nvGrpSpPr>
          <p:cNvPr name="Group 6" id="6"/>
          <p:cNvGrpSpPr/>
          <p:nvPr/>
        </p:nvGrpSpPr>
        <p:grpSpPr>
          <a:xfrm rot="0">
            <a:off x="0" y="0"/>
            <a:ext cx="18288000" cy="10287000"/>
            <a:chOff x="0" y="0"/>
            <a:chExt cx="24384000" cy="13716000"/>
          </a:xfrm>
        </p:grpSpPr>
        <p:sp>
          <p:nvSpPr>
            <p:cNvPr name="Freeform 7" id="7"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1364304" y="4318845"/>
            <a:ext cx="15931458" cy="2196703"/>
          </a:xfrm>
          <a:prstGeom prst="rect">
            <a:avLst/>
          </a:prstGeom>
        </p:spPr>
        <p:txBody>
          <a:bodyPr anchor="t" rtlCol="false" tIns="0" lIns="0" bIns="0" rIns="0">
            <a:spAutoFit/>
          </a:bodyPr>
          <a:lstStyle/>
          <a:p>
            <a:pPr algn="l">
              <a:lnSpc>
                <a:spcPts val="8375"/>
              </a:lnSpc>
            </a:pPr>
            <a:r>
              <a:rPr lang="en-US" b="true" sz="6687" i="true">
                <a:solidFill>
                  <a:srgbClr val="FFFFFF"/>
                </a:solidFill>
                <a:latin typeface="Arimo Bold Italics"/>
                <a:ea typeface="Arimo Bold Italics"/>
                <a:cs typeface="Arimo Bold Italics"/>
                <a:sym typeface="Arimo Bold Italics"/>
              </a:rPr>
              <a:t>"The most advanced tool in the OR will always be the surgeon."</a:t>
            </a:r>
          </a:p>
        </p:txBody>
      </p:sp>
      <p:sp>
        <p:nvSpPr>
          <p:cNvPr name="TextBox 9" id="9"/>
          <p:cNvSpPr txBox="true"/>
          <p:nvPr/>
        </p:nvSpPr>
        <p:spPr>
          <a:xfrm rot="0">
            <a:off x="1364304" y="6859038"/>
            <a:ext cx="3721303" cy="493662"/>
          </a:xfrm>
          <a:prstGeom prst="rect">
            <a:avLst/>
          </a:prstGeom>
        </p:spPr>
        <p:txBody>
          <a:bodyPr anchor="t" rtlCol="false" tIns="0" lIns="0" bIns="0" rIns="0">
            <a:spAutoFit/>
          </a:bodyPr>
          <a:lstStyle/>
          <a:p>
            <a:pPr algn="l">
              <a:lnSpc>
                <a:spcPts val="3625"/>
              </a:lnSpc>
            </a:pPr>
            <a:r>
              <a:rPr lang="en-US" sz="2874" b="true">
                <a:solidFill>
                  <a:srgbClr val="FFFFFF"/>
                </a:solidFill>
                <a:latin typeface="Arimo Bold"/>
                <a:ea typeface="Arimo Bold"/>
                <a:cs typeface="Arimo Bold"/>
                <a:sym typeface="Arimo Bold"/>
              </a:rPr>
              <a:t>— Rachel Neylan</a:t>
            </a:r>
          </a:p>
        </p:txBody>
      </p:sp>
      <p:grpSp>
        <p:nvGrpSpPr>
          <p:cNvPr name="Group 10" id="10"/>
          <p:cNvGrpSpPr/>
          <p:nvPr/>
        </p:nvGrpSpPr>
        <p:grpSpPr>
          <a:xfrm rot="0">
            <a:off x="992238" y="2562073"/>
            <a:ext cx="28575" cy="5162702"/>
            <a:chOff x="0" y="0"/>
            <a:chExt cx="38100" cy="6883603"/>
          </a:xfrm>
        </p:grpSpPr>
        <p:sp>
          <p:nvSpPr>
            <p:cNvPr name="Freeform 11" id="11"/>
            <p:cNvSpPr/>
            <p:nvPr/>
          </p:nvSpPr>
          <p:spPr>
            <a:xfrm flipH="false" flipV="false" rot="0">
              <a:off x="0" y="0"/>
              <a:ext cx="38100" cy="6883654"/>
            </a:xfrm>
            <a:custGeom>
              <a:avLst/>
              <a:gdLst/>
              <a:ahLst/>
              <a:cxnLst/>
              <a:rect r="r" b="b" t="t" l="l"/>
              <a:pathLst>
                <a:path h="6883654" w="38100">
                  <a:moveTo>
                    <a:pt x="0" y="0"/>
                  </a:moveTo>
                  <a:lnTo>
                    <a:pt x="38100" y="0"/>
                  </a:lnTo>
                  <a:lnTo>
                    <a:pt x="38100" y="6883654"/>
                  </a:lnTo>
                  <a:lnTo>
                    <a:pt x="0" y="6883654"/>
                  </a:lnTo>
                  <a:close/>
                </a:path>
              </a:pathLst>
            </a:custGeom>
            <a:solidFill>
              <a:srgbClr val="373B48"/>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90196"/>
              </a:srgbClr>
            </a:solidFill>
          </p:spPr>
        </p:sp>
      </p:grpSp>
      <p:sp>
        <p:nvSpPr>
          <p:cNvPr name="TextBox 6" id="6"/>
          <p:cNvSpPr txBox="true"/>
          <p:nvPr/>
        </p:nvSpPr>
        <p:spPr>
          <a:xfrm rot="0">
            <a:off x="992238" y="2440629"/>
            <a:ext cx="8730407" cy="2172023"/>
          </a:xfrm>
          <a:prstGeom prst="rect">
            <a:avLst/>
          </a:prstGeom>
        </p:spPr>
        <p:txBody>
          <a:bodyPr anchor="t" rtlCol="false" tIns="0" lIns="0" bIns="0" rIns="0">
            <a:spAutoFit/>
          </a:bodyPr>
          <a:lstStyle/>
          <a:p>
            <a:pPr algn="l">
              <a:lnSpc>
                <a:spcPts val="16811"/>
              </a:lnSpc>
            </a:pPr>
            <a:r>
              <a:rPr lang="en-US" sz="13449" b="true">
                <a:solidFill>
                  <a:srgbClr val="373B48"/>
                </a:solidFill>
                <a:latin typeface="Arimo Bold"/>
                <a:ea typeface="Arimo Bold"/>
                <a:cs typeface="Arimo Bold"/>
                <a:sym typeface="Arimo Bold"/>
              </a:rPr>
              <a:t>Thank You</a:t>
            </a:r>
          </a:p>
        </p:txBody>
      </p:sp>
      <p:sp>
        <p:nvSpPr>
          <p:cNvPr name="TextBox 7" id="7"/>
          <p:cNvSpPr txBox="true"/>
          <p:nvPr/>
        </p:nvSpPr>
        <p:spPr>
          <a:xfrm rot="0">
            <a:off x="1028700" y="4982159"/>
            <a:ext cx="9445523" cy="774811"/>
          </a:xfrm>
          <a:prstGeom prst="rect">
            <a:avLst/>
          </a:prstGeom>
        </p:spPr>
        <p:txBody>
          <a:bodyPr anchor="t" rtlCol="false" tIns="0" lIns="0" bIns="0" rIns="0">
            <a:spAutoFit/>
          </a:bodyPr>
          <a:lstStyle/>
          <a:p>
            <a:pPr algn="l">
              <a:lnSpc>
                <a:spcPts val="3123"/>
              </a:lnSpc>
            </a:pPr>
            <a:r>
              <a:rPr lang="en-US" sz="1937" b="true">
                <a:solidFill>
                  <a:srgbClr val="52586B"/>
                </a:solidFill>
                <a:latin typeface="Arimo Bold"/>
                <a:ea typeface="Arimo Bold"/>
                <a:cs typeface="Arimo Bold"/>
                <a:sym typeface="Arimo Bold"/>
              </a:rPr>
              <a:t>Rachel Neylan (OLY, MSc, BAppSc)</a:t>
            </a:r>
          </a:p>
          <a:p>
            <a:pPr algn="l">
              <a:lnSpc>
                <a:spcPts val="3125"/>
              </a:lnSpc>
            </a:pPr>
            <a:r>
              <a:rPr lang="en-US" sz="1937">
                <a:solidFill>
                  <a:srgbClr val="52586B"/>
                </a:solidFill>
                <a:latin typeface="Arimo"/>
                <a:ea typeface="Arimo"/>
                <a:cs typeface="Arimo"/>
                <a:sym typeface="Arimo"/>
              </a:rPr>
              <a:t>Human Performance Consultant · Olympian · Physiotherapist</a:t>
            </a:r>
          </a:p>
        </p:txBody>
      </p:sp>
      <p:grpSp>
        <p:nvGrpSpPr>
          <p:cNvPr name="Group 8" id="8"/>
          <p:cNvGrpSpPr/>
          <p:nvPr/>
        </p:nvGrpSpPr>
        <p:grpSpPr>
          <a:xfrm rot="0">
            <a:off x="977951" y="6221616"/>
            <a:ext cx="4627359" cy="1515066"/>
            <a:chOff x="0" y="0"/>
            <a:chExt cx="6169812" cy="2020087"/>
          </a:xfrm>
        </p:grpSpPr>
        <p:sp>
          <p:nvSpPr>
            <p:cNvPr name="Freeform 9" id="9"/>
            <p:cNvSpPr/>
            <p:nvPr/>
          </p:nvSpPr>
          <p:spPr>
            <a:xfrm flipH="false" flipV="false" rot="0">
              <a:off x="19050" y="19050"/>
              <a:ext cx="6131687" cy="1981962"/>
            </a:xfrm>
            <a:custGeom>
              <a:avLst/>
              <a:gdLst/>
              <a:ahLst/>
              <a:cxnLst/>
              <a:rect r="r" b="b" t="t" l="l"/>
              <a:pathLst>
                <a:path h="1981962" w="6131687">
                  <a:moveTo>
                    <a:pt x="0" y="138938"/>
                  </a:moveTo>
                  <a:cubicBezTo>
                    <a:pt x="0" y="62230"/>
                    <a:pt x="62992" y="0"/>
                    <a:pt x="140716" y="0"/>
                  </a:cubicBezTo>
                  <a:lnTo>
                    <a:pt x="5990971" y="0"/>
                  </a:lnTo>
                  <a:cubicBezTo>
                    <a:pt x="6068695" y="0"/>
                    <a:pt x="6131687" y="62230"/>
                    <a:pt x="6131687" y="138938"/>
                  </a:cubicBezTo>
                  <a:lnTo>
                    <a:pt x="6131687" y="1843024"/>
                  </a:lnTo>
                  <a:cubicBezTo>
                    <a:pt x="6131687" y="1919732"/>
                    <a:pt x="6068695" y="1981962"/>
                    <a:pt x="5990971" y="1981962"/>
                  </a:cubicBezTo>
                  <a:lnTo>
                    <a:pt x="140716" y="1981962"/>
                  </a:lnTo>
                  <a:cubicBezTo>
                    <a:pt x="62992" y="1981962"/>
                    <a:pt x="0" y="1919732"/>
                    <a:pt x="0" y="1843024"/>
                  </a:cubicBezTo>
                  <a:close/>
                </a:path>
              </a:pathLst>
            </a:custGeom>
            <a:solidFill>
              <a:srgbClr val="FFFFFF">
                <a:alpha val="90196"/>
              </a:srgbClr>
            </a:solidFill>
          </p:spPr>
        </p:sp>
        <p:sp>
          <p:nvSpPr>
            <p:cNvPr name="Freeform 10" id="10"/>
            <p:cNvSpPr/>
            <p:nvPr/>
          </p:nvSpPr>
          <p:spPr>
            <a:xfrm flipH="false" flipV="false" rot="0">
              <a:off x="0" y="0"/>
              <a:ext cx="6169787" cy="2020062"/>
            </a:xfrm>
            <a:custGeom>
              <a:avLst/>
              <a:gdLst/>
              <a:ahLst/>
              <a:cxnLst/>
              <a:rect r="r" b="b" t="t" l="l"/>
              <a:pathLst>
                <a:path h="2020062" w="6169787">
                  <a:moveTo>
                    <a:pt x="0" y="157988"/>
                  </a:moveTo>
                  <a:cubicBezTo>
                    <a:pt x="0" y="70485"/>
                    <a:pt x="71755" y="0"/>
                    <a:pt x="159766" y="0"/>
                  </a:cubicBezTo>
                  <a:lnTo>
                    <a:pt x="6010021" y="0"/>
                  </a:lnTo>
                  <a:lnTo>
                    <a:pt x="6010021" y="19050"/>
                  </a:lnTo>
                  <a:lnTo>
                    <a:pt x="6010021" y="0"/>
                  </a:lnTo>
                  <a:cubicBezTo>
                    <a:pt x="6098032" y="0"/>
                    <a:pt x="6169787" y="70485"/>
                    <a:pt x="6169787" y="157988"/>
                  </a:cubicBezTo>
                  <a:lnTo>
                    <a:pt x="6150737" y="157988"/>
                  </a:lnTo>
                  <a:lnTo>
                    <a:pt x="6169787" y="157988"/>
                  </a:lnTo>
                  <a:lnTo>
                    <a:pt x="6169787" y="1862074"/>
                  </a:lnTo>
                  <a:lnTo>
                    <a:pt x="6150737" y="1862074"/>
                  </a:lnTo>
                  <a:lnTo>
                    <a:pt x="6169787" y="1862074"/>
                  </a:lnTo>
                  <a:cubicBezTo>
                    <a:pt x="6169787" y="1949577"/>
                    <a:pt x="6098032" y="2020062"/>
                    <a:pt x="6010021" y="2020062"/>
                  </a:cubicBezTo>
                  <a:lnTo>
                    <a:pt x="6010021" y="2001012"/>
                  </a:lnTo>
                  <a:lnTo>
                    <a:pt x="6010021" y="2020062"/>
                  </a:lnTo>
                  <a:lnTo>
                    <a:pt x="159766" y="2020062"/>
                  </a:lnTo>
                  <a:lnTo>
                    <a:pt x="159766" y="2001012"/>
                  </a:lnTo>
                  <a:lnTo>
                    <a:pt x="159766" y="2020062"/>
                  </a:lnTo>
                  <a:cubicBezTo>
                    <a:pt x="71755" y="2020062"/>
                    <a:pt x="0" y="1949577"/>
                    <a:pt x="0" y="1862074"/>
                  </a:cubicBezTo>
                  <a:lnTo>
                    <a:pt x="0" y="157988"/>
                  </a:lnTo>
                  <a:lnTo>
                    <a:pt x="19050" y="157988"/>
                  </a:lnTo>
                  <a:lnTo>
                    <a:pt x="0" y="157988"/>
                  </a:lnTo>
                  <a:moveTo>
                    <a:pt x="38100" y="157988"/>
                  </a:moveTo>
                  <a:lnTo>
                    <a:pt x="38100" y="1862074"/>
                  </a:lnTo>
                  <a:lnTo>
                    <a:pt x="19050" y="1862074"/>
                  </a:lnTo>
                  <a:lnTo>
                    <a:pt x="38100" y="1862074"/>
                  </a:lnTo>
                  <a:cubicBezTo>
                    <a:pt x="38100" y="1928114"/>
                    <a:pt x="92329" y="1981962"/>
                    <a:pt x="159766" y="1981962"/>
                  </a:cubicBezTo>
                  <a:lnTo>
                    <a:pt x="6010021" y="1981962"/>
                  </a:lnTo>
                  <a:cubicBezTo>
                    <a:pt x="6077458" y="1981962"/>
                    <a:pt x="6131687" y="1928114"/>
                    <a:pt x="6131687" y="1862074"/>
                  </a:cubicBezTo>
                  <a:lnTo>
                    <a:pt x="6131687" y="157988"/>
                  </a:lnTo>
                  <a:cubicBezTo>
                    <a:pt x="6131687" y="91948"/>
                    <a:pt x="6077458" y="38100"/>
                    <a:pt x="6010021" y="38100"/>
                  </a:cubicBezTo>
                  <a:lnTo>
                    <a:pt x="159766" y="38100"/>
                  </a:lnTo>
                  <a:lnTo>
                    <a:pt x="159766" y="19050"/>
                  </a:lnTo>
                  <a:lnTo>
                    <a:pt x="159766" y="38100"/>
                  </a:lnTo>
                  <a:cubicBezTo>
                    <a:pt x="92329" y="38100"/>
                    <a:pt x="38100" y="91948"/>
                    <a:pt x="38100" y="157988"/>
                  </a:cubicBezTo>
                  <a:close/>
                </a:path>
              </a:pathLst>
            </a:custGeom>
            <a:solidFill>
              <a:srgbClr val="C8CACF"/>
            </a:solidFill>
          </p:spPr>
        </p:sp>
      </p:grpSp>
      <p:sp>
        <p:nvSpPr>
          <p:cNvPr name="TextBox 11" id="11"/>
          <p:cNvSpPr txBox="true"/>
          <p:nvPr/>
        </p:nvSpPr>
        <p:spPr>
          <a:xfrm rot="0">
            <a:off x="1268759" y="6502898"/>
            <a:ext cx="3101130"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Website</a:t>
            </a:r>
          </a:p>
        </p:txBody>
      </p:sp>
      <p:sp>
        <p:nvSpPr>
          <p:cNvPr name="TextBox 12" id="12"/>
          <p:cNvSpPr txBox="true"/>
          <p:nvPr/>
        </p:nvSpPr>
        <p:spPr>
          <a:xfrm rot="0">
            <a:off x="1268759" y="6953698"/>
            <a:ext cx="4045744" cy="492176"/>
          </a:xfrm>
          <a:prstGeom prst="rect">
            <a:avLst/>
          </a:prstGeom>
        </p:spPr>
        <p:txBody>
          <a:bodyPr anchor="t" rtlCol="false" tIns="0" lIns="0" bIns="0" rIns="0">
            <a:spAutoFit/>
          </a:bodyPr>
          <a:lstStyle/>
          <a:p>
            <a:pPr algn="l">
              <a:lnSpc>
                <a:spcPts val="3125"/>
              </a:lnSpc>
            </a:pPr>
            <a:r>
              <a:rPr lang="en-US" sz="1937" u="sng">
                <a:solidFill>
                  <a:srgbClr val="373B48"/>
                </a:solidFill>
                <a:latin typeface="Arimo"/>
                <a:ea typeface="Arimo"/>
                <a:cs typeface="Arimo"/>
                <a:sym typeface="Arimo"/>
                <a:hlinkClick r:id="rId4" tooltip="http://www.rachelneylan.com"/>
              </a:rPr>
              <a:t>www.rachelneylan.com</a:t>
            </a:r>
          </a:p>
        </p:txBody>
      </p:sp>
      <p:grpSp>
        <p:nvGrpSpPr>
          <p:cNvPr name="Group 13" id="13"/>
          <p:cNvGrpSpPr/>
          <p:nvPr/>
        </p:nvGrpSpPr>
        <p:grpSpPr>
          <a:xfrm rot="0">
            <a:off x="992238" y="8203406"/>
            <a:ext cx="4627359" cy="1515066"/>
            <a:chOff x="0" y="0"/>
            <a:chExt cx="6169812" cy="2020087"/>
          </a:xfrm>
        </p:grpSpPr>
        <p:sp>
          <p:nvSpPr>
            <p:cNvPr name="Freeform 14" id="14"/>
            <p:cNvSpPr/>
            <p:nvPr/>
          </p:nvSpPr>
          <p:spPr>
            <a:xfrm flipH="false" flipV="false" rot="0">
              <a:off x="19050" y="19050"/>
              <a:ext cx="6131687" cy="1981962"/>
            </a:xfrm>
            <a:custGeom>
              <a:avLst/>
              <a:gdLst/>
              <a:ahLst/>
              <a:cxnLst/>
              <a:rect r="r" b="b" t="t" l="l"/>
              <a:pathLst>
                <a:path h="1981962" w="6131687">
                  <a:moveTo>
                    <a:pt x="0" y="138938"/>
                  </a:moveTo>
                  <a:cubicBezTo>
                    <a:pt x="0" y="62230"/>
                    <a:pt x="62992" y="0"/>
                    <a:pt x="140716" y="0"/>
                  </a:cubicBezTo>
                  <a:lnTo>
                    <a:pt x="5990971" y="0"/>
                  </a:lnTo>
                  <a:cubicBezTo>
                    <a:pt x="6068695" y="0"/>
                    <a:pt x="6131687" y="62230"/>
                    <a:pt x="6131687" y="138938"/>
                  </a:cubicBezTo>
                  <a:lnTo>
                    <a:pt x="6131687" y="1843024"/>
                  </a:lnTo>
                  <a:cubicBezTo>
                    <a:pt x="6131687" y="1919732"/>
                    <a:pt x="6068695" y="1981962"/>
                    <a:pt x="5990971" y="1981962"/>
                  </a:cubicBezTo>
                  <a:lnTo>
                    <a:pt x="140716" y="1981962"/>
                  </a:lnTo>
                  <a:cubicBezTo>
                    <a:pt x="62992" y="1981962"/>
                    <a:pt x="0" y="1919732"/>
                    <a:pt x="0" y="1843024"/>
                  </a:cubicBezTo>
                  <a:close/>
                </a:path>
              </a:pathLst>
            </a:custGeom>
            <a:solidFill>
              <a:srgbClr val="FFFFFF">
                <a:alpha val="90196"/>
              </a:srgbClr>
            </a:solidFill>
          </p:spPr>
        </p:sp>
        <p:sp>
          <p:nvSpPr>
            <p:cNvPr name="Freeform 15" id="15"/>
            <p:cNvSpPr/>
            <p:nvPr/>
          </p:nvSpPr>
          <p:spPr>
            <a:xfrm flipH="false" flipV="false" rot="0">
              <a:off x="0" y="0"/>
              <a:ext cx="6169787" cy="2020062"/>
            </a:xfrm>
            <a:custGeom>
              <a:avLst/>
              <a:gdLst/>
              <a:ahLst/>
              <a:cxnLst/>
              <a:rect r="r" b="b" t="t" l="l"/>
              <a:pathLst>
                <a:path h="2020062" w="6169787">
                  <a:moveTo>
                    <a:pt x="0" y="157988"/>
                  </a:moveTo>
                  <a:cubicBezTo>
                    <a:pt x="0" y="70485"/>
                    <a:pt x="71755" y="0"/>
                    <a:pt x="159766" y="0"/>
                  </a:cubicBezTo>
                  <a:lnTo>
                    <a:pt x="6010021" y="0"/>
                  </a:lnTo>
                  <a:lnTo>
                    <a:pt x="6010021" y="19050"/>
                  </a:lnTo>
                  <a:lnTo>
                    <a:pt x="6010021" y="0"/>
                  </a:lnTo>
                  <a:cubicBezTo>
                    <a:pt x="6098032" y="0"/>
                    <a:pt x="6169787" y="70485"/>
                    <a:pt x="6169787" y="157988"/>
                  </a:cubicBezTo>
                  <a:lnTo>
                    <a:pt x="6150737" y="157988"/>
                  </a:lnTo>
                  <a:lnTo>
                    <a:pt x="6169787" y="157988"/>
                  </a:lnTo>
                  <a:lnTo>
                    <a:pt x="6169787" y="1862074"/>
                  </a:lnTo>
                  <a:lnTo>
                    <a:pt x="6150737" y="1862074"/>
                  </a:lnTo>
                  <a:lnTo>
                    <a:pt x="6169787" y="1862074"/>
                  </a:lnTo>
                  <a:cubicBezTo>
                    <a:pt x="6169787" y="1949577"/>
                    <a:pt x="6098032" y="2020062"/>
                    <a:pt x="6010021" y="2020062"/>
                  </a:cubicBezTo>
                  <a:lnTo>
                    <a:pt x="6010021" y="2001012"/>
                  </a:lnTo>
                  <a:lnTo>
                    <a:pt x="6010021" y="2020062"/>
                  </a:lnTo>
                  <a:lnTo>
                    <a:pt x="159766" y="2020062"/>
                  </a:lnTo>
                  <a:lnTo>
                    <a:pt x="159766" y="2001012"/>
                  </a:lnTo>
                  <a:lnTo>
                    <a:pt x="159766" y="2020062"/>
                  </a:lnTo>
                  <a:cubicBezTo>
                    <a:pt x="71755" y="2020062"/>
                    <a:pt x="0" y="1949577"/>
                    <a:pt x="0" y="1862074"/>
                  </a:cubicBezTo>
                  <a:lnTo>
                    <a:pt x="0" y="157988"/>
                  </a:lnTo>
                  <a:lnTo>
                    <a:pt x="19050" y="157988"/>
                  </a:lnTo>
                  <a:lnTo>
                    <a:pt x="0" y="157988"/>
                  </a:lnTo>
                  <a:moveTo>
                    <a:pt x="38100" y="157988"/>
                  </a:moveTo>
                  <a:lnTo>
                    <a:pt x="38100" y="1862074"/>
                  </a:lnTo>
                  <a:lnTo>
                    <a:pt x="19050" y="1862074"/>
                  </a:lnTo>
                  <a:lnTo>
                    <a:pt x="38100" y="1862074"/>
                  </a:lnTo>
                  <a:cubicBezTo>
                    <a:pt x="38100" y="1928114"/>
                    <a:pt x="92329" y="1981962"/>
                    <a:pt x="159766" y="1981962"/>
                  </a:cubicBezTo>
                  <a:lnTo>
                    <a:pt x="6010021" y="1981962"/>
                  </a:lnTo>
                  <a:cubicBezTo>
                    <a:pt x="6077458" y="1981962"/>
                    <a:pt x="6131687" y="1928114"/>
                    <a:pt x="6131687" y="1862074"/>
                  </a:cubicBezTo>
                  <a:lnTo>
                    <a:pt x="6131687" y="157988"/>
                  </a:lnTo>
                  <a:cubicBezTo>
                    <a:pt x="6131687" y="91948"/>
                    <a:pt x="6077458" y="38100"/>
                    <a:pt x="6010021" y="38100"/>
                  </a:cubicBezTo>
                  <a:lnTo>
                    <a:pt x="159766" y="38100"/>
                  </a:lnTo>
                  <a:lnTo>
                    <a:pt x="159766" y="19050"/>
                  </a:lnTo>
                  <a:lnTo>
                    <a:pt x="159766" y="38100"/>
                  </a:lnTo>
                  <a:cubicBezTo>
                    <a:pt x="92329" y="38100"/>
                    <a:pt x="38100" y="91948"/>
                    <a:pt x="38100" y="157988"/>
                  </a:cubicBezTo>
                  <a:close/>
                </a:path>
              </a:pathLst>
            </a:custGeom>
            <a:solidFill>
              <a:srgbClr val="C8CACF"/>
            </a:solidFill>
          </p:spPr>
        </p:sp>
      </p:grpSp>
      <p:sp>
        <p:nvSpPr>
          <p:cNvPr name="TextBox 16" id="16"/>
          <p:cNvSpPr txBox="true"/>
          <p:nvPr/>
        </p:nvSpPr>
        <p:spPr>
          <a:xfrm rot="0">
            <a:off x="1268759" y="8563718"/>
            <a:ext cx="3101130" cy="397221"/>
          </a:xfrm>
          <a:prstGeom prst="rect">
            <a:avLst/>
          </a:prstGeom>
        </p:spPr>
        <p:txBody>
          <a:bodyPr anchor="t" rtlCol="false" tIns="0" lIns="0" bIns="0" rIns="0">
            <a:spAutoFit/>
          </a:bodyPr>
          <a:lstStyle/>
          <a:p>
            <a:pPr algn="l">
              <a:lnSpc>
                <a:spcPts val="2999"/>
              </a:lnSpc>
            </a:pPr>
            <a:r>
              <a:rPr lang="en-US" sz="2437" b="true">
                <a:solidFill>
                  <a:srgbClr val="52586B"/>
                </a:solidFill>
                <a:latin typeface="Arimo Bold"/>
                <a:ea typeface="Arimo Bold"/>
                <a:cs typeface="Arimo Bold"/>
                <a:sym typeface="Arimo Bold"/>
              </a:rPr>
              <a:t>Email</a:t>
            </a:r>
          </a:p>
        </p:txBody>
      </p:sp>
      <p:sp>
        <p:nvSpPr>
          <p:cNvPr name="TextBox 17" id="17"/>
          <p:cNvSpPr txBox="true"/>
          <p:nvPr/>
        </p:nvSpPr>
        <p:spPr>
          <a:xfrm rot="0">
            <a:off x="1268759" y="9018089"/>
            <a:ext cx="4045744" cy="492176"/>
          </a:xfrm>
          <a:prstGeom prst="rect">
            <a:avLst/>
          </a:prstGeom>
        </p:spPr>
        <p:txBody>
          <a:bodyPr anchor="t" rtlCol="false" tIns="0" lIns="0" bIns="0" rIns="0">
            <a:spAutoFit/>
          </a:bodyPr>
          <a:lstStyle/>
          <a:p>
            <a:pPr algn="l">
              <a:lnSpc>
                <a:spcPts val="3125"/>
              </a:lnSpc>
            </a:pPr>
            <a:r>
              <a:rPr lang="en-US" sz="1937" u="sng">
                <a:solidFill>
                  <a:srgbClr val="373B48"/>
                </a:solidFill>
                <a:latin typeface="Arimo"/>
                <a:ea typeface="Arimo"/>
                <a:cs typeface="Arimo"/>
                <a:sym typeface="Arimo"/>
                <a:hlinkClick r:id="rId5" tooltip="mailto:rachel@rachelneylan.com"/>
              </a:rPr>
              <a:t>rachel@rachelneylan.com</a:t>
            </a:r>
          </a:p>
        </p:txBody>
      </p:sp>
      <p:grpSp>
        <p:nvGrpSpPr>
          <p:cNvPr name="Group 18" id="18"/>
          <p:cNvGrpSpPr/>
          <p:nvPr/>
        </p:nvGrpSpPr>
        <p:grpSpPr>
          <a:xfrm rot="0">
            <a:off x="10966399" y="0"/>
            <a:ext cx="7321601" cy="10287000"/>
            <a:chOff x="0" y="0"/>
            <a:chExt cx="9762134" cy="13716000"/>
          </a:xfrm>
        </p:grpSpPr>
        <p:sp>
          <p:nvSpPr>
            <p:cNvPr name="Freeform 19" id="19" descr="preencoded.png"/>
            <p:cNvSpPr/>
            <p:nvPr/>
          </p:nvSpPr>
          <p:spPr>
            <a:xfrm flipH="false" flipV="false" rot="0">
              <a:off x="0" y="0"/>
              <a:ext cx="9762134" cy="13716000"/>
            </a:xfrm>
            <a:custGeom>
              <a:avLst/>
              <a:gdLst/>
              <a:ahLst/>
              <a:cxnLst/>
              <a:rect r="r" b="b" t="t" l="l"/>
              <a:pathLst>
                <a:path h="13716000" w="9762134">
                  <a:moveTo>
                    <a:pt x="0" y="0"/>
                  </a:moveTo>
                  <a:lnTo>
                    <a:pt x="9762134" y="0"/>
                  </a:lnTo>
                  <a:lnTo>
                    <a:pt x="9762134" y="13716000"/>
                  </a:lnTo>
                  <a:lnTo>
                    <a:pt x="0" y="13716000"/>
                  </a:lnTo>
                  <a:lnTo>
                    <a:pt x="0" y="0"/>
                  </a:lnTo>
                  <a:close/>
                </a:path>
              </a:pathLst>
            </a:custGeom>
            <a:blipFill>
              <a:blip r:embed="rId6"/>
              <a:stretch>
                <a:fillRect l="0" t="-3380" r="0" b="-3380"/>
              </a:stretch>
            </a:blipFill>
            <a:ln w="66675" cap="sq">
              <a:solidFill>
                <a:srgbClr val="AD1B45"/>
              </a:solidFill>
              <a:prstDash val="solid"/>
              <a:miter/>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DAHHDQBG-OA</dc:identifier>
  <dcterms:modified xsi:type="dcterms:W3CDTF">2011-08-01T06:04:30Z</dcterms:modified>
  <cp:revision>1</cp:revision>
  <dc:title>The-Uncoached Athlete: Perfromance Readiness and the Surgical Profession.pptx</dc:title>
</cp:coreProperties>
</file>